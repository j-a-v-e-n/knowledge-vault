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5d252349084471" /><Relationship Type="http://schemas.openxmlformats.org/officeDocument/2006/relationships/extended-properties" Target="/docProps/app.xml" Id="Rb1a58fb6811f41ed" /><Relationship Type="http://schemas.openxmlformats.org/officeDocument/2006/relationships/officeDocument" Target="/ppt/presentation.xml" Id="Rc1b23c7f87c541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1aa2e31fa54c90"/>
  </p:sldMasterIdLst>
  <p:sldIdLst>
    <p:sldId xmlns:r="http://schemas.openxmlformats.org/officeDocument/2006/relationships" id="256" r:id="R1cfa57d20ff64bea"/>
    <p:sldId xmlns:r="http://schemas.openxmlformats.org/officeDocument/2006/relationships" id="257" r:id="R07ec8f66c0864c49"/>
    <p:sldId xmlns:r="http://schemas.openxmlformats.org/officeDocument/2006/relationships" id="258" r:id="Raa31e5c4b2da426c"/>
    <p:sldId xmlns:r="http://schemas.openxmlformats.org/officeDocument/2006/relationships" id="259" r:id="R8a7fee2bd135422c"/>
    <p:sldId xmlns:r="http://schemas.openxmlformats.org/officeDocument/2006/relationships" id="260" r:id="R1bbdc9f566dc4703"/>
    <p:sldId xmlns:r="http://schemas.openxmlformats.org/officeDocument/2006/relationships" id="261" r:id="R2fcb0c166ad142ee"/>
    <p:sldId xmlns:r="http://schemas.openxmlformats.org/officeDocument/2006/relationships" id="262" r:id="R3b0935574e1c40db"/>
    <p:sldId xmlns:r="http://schemas.openxmlformats.org/officeDocument/2006/relationships" id="263" r:id="Rda1ba984614a43fd"/>
    <p:sldId xmlns:r="http://schemas.openxmlformats.org/officeDocument/2006/relationships" id="264" r:id="Rbb51ffef61bc4786"/>
    <p:sldId xmlns:r="http://schemas.openxmlformats.org/officeDocument/2006/relationships" id="265" r:id="Raf1236fd4b2948f8"/>
    <p:sldId xmlns:r="http://schemas.openxmlformats.org/officeDocument/2006/relationships" id="266" r:id="Re88ecb86a4284f0a"/>
    <p:sldId xmlns:r="http://schemas.openxmlformats.org/officeDocument/2006/relationships" id="267" r:id="R409ad7c4fea94b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d3b4e99d234f61" /><Relationship Type="http://schemas.openxmlformats.org/officeDocument/2006/relationships/slideMaster" Target="/ppt/slideMasters/slideMaster1.xml" Id="Rca1aa2e31fa54c90" /><Relationship Type="http://schemas.openxmlformats.org/officeDocument/2006/relationships/presProps" Target="/ppt/presProps.xml" Id="R7cee2f2b84904a93" /><Relationship Type="http://schemas.openxmlformats.org/officeDocument/2006/relationships/tableStyles" Target="/ppt/tableStyles.xml" Id="R142943e82bc746d4" /><Relationship Type="http://schemas.openxmlformats.org/officeDocument/2006/relationships/slide" Target="/ppt/slides/slide1.xml" Id="R1cfa57d20ff64bea" /><Relationship Type="http://schemas.openxmlformats.org/officeDocument/2006/relationships/slide" Target="/ppt/slides/slide2.xml" Id="R07ec8f66c0864c49" /><Relationship Type="http://schemas.openxmlformats.org/officeDocument/2006/relationships/slide" Target="/ppt/slides/slide3.xml" Id="Raa31e5c4b2da426c" /><Relationship Type="http://schemas.openxmlformats.org/officeDocument/2006/relationships/slide" Target="/ppt/slides/slide4.xml" Id="R8a7fee2bd135422c" /><Relationship Type="http://schemas.openxmlformats.org/officeDocument/2006/relationships/slide" Target="/ppt/slides/slide5.xml" Id="R1bbdc9f566dc4703" /><Relationship Type="http://schemas.openxmlformats.org/officeDocument/2006/relationships/slide" Target="/ppt/slides/slide6.xml" Id="R2fcb0c166ad142ee" /><Relationship Type="http://schemas.openxmlformats.org/officeDocument/2006/relationships/slide" Target="/ppt/slides/slide7.xml" Id="R3b0935574e1c40db" /><Relationship Type="http://schemas.openxmlformats.org/officeDocument/2006/relationships/slide" Target="/ppt/slides/slide8.xml" Id="Rda1ba984614a43fd" /><Relationship Type="http://schemas.openxmlformats.org/officeDocument/2006/relationships/slide" Target="/ppt/slides/slide9.xml" Id="Rbb51ffef61bc4786" /><Relationship Type="http://schemas.openxmlformats.org/officeDocument/2006/relationships/slide" Target="/ppt/slides/slide10.xml" Id="Raf1236fd4b2948f8" /><Relationship Type="http://schemas.openxmlformats.org/officeDocument/2006/relationships/slide" Target="/ppt/slides/slide11.xml" Id="Re88ecb86a4284f0a" /><Relationship Type="http://schemas.openxmlformats.org/officeDocument/2006/relationships/slide" Target="/ppt/slides/slide12.xml" Id="R409ad7c4fea94be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106a092ad4a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8f848dd3a04af6" /><Relationship Type="http://schemas.openxmlformats.org/officeDocument/2006/relationships/slideLayout" Target="/ppt/slideLayouts/slideLayout1.xml" Id="Rb3faed0897e044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faed0897e044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63e28a19f431d" /><Relationship Type="http://schemas.openxmlformats.org/officeDocument/2006/relationships/image" Target="/ppt/media/image.png" Id="Rab0773212ee84322" /><Relationship Type="http://schemas.openxmlformats.org/officeDocument/2006/relationships/image" Target="/ppt/media/image2.png" Id="R3d24ea2ca92942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e08bce5e54e9e" /><Relationship Type="http://schemas.openxmlformats.org/officeDocument/2006/relationships/image" Target="/ppt/media/image3.png" Id="Rcb59a8b18d414a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2016181f84f3c" /><Relationship Type="http://schemas.openxmlformats.org/officeDocument/2006/relationships/image" Target="/ppt/media/image4.png" Id="R24fb751a89a64847" /><Relationship Type="http://schemas.openxmlformats.org/officeDocument/2006/relationships/image" Target="/ppt/media/image.jpeg" Id="Reed636a6454144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7dd3ed126423a" /><Relationship Type="http://schemas.openxmlformats.org/officeDocument/2006/relationships/image" Target="/ppt/media/image5.png" Id="R0282392aaa0449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07894184e4ea4" /><Relationship Type="http://schemas.openxmlformats.org/officeDocument/2006/relationships/image" Target="/ppt/media/image6.png" Id="R95c45e5093cc47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3b58488a34a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c8cad3c564e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7fc4a4af546df" /><Relationship Type="http://schemas.openxmlformats.org/officeDocument/2006/relationships/image" Target="/ppt/media/image7.png" Id="R6178a8801d834e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1450cfcd14b77" /><Relationship Type="http://schemas.openxmlformats.org/officeDocument/2006/relationships/image" Target="/ppt/media/image8.png" Id="R6ea78195028f47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dbf6ac5d047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e03fb56c84547" /><Relationship Type="http://schemas.openxmlformats.org/officeDocument/2006/relationships/image" Target="/ppt/media/image9.png" Id="R999a1f8813494e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7a924ce3c48d1" /><Relationship Type="http://schemas.openxmlformats.org/officeDocument/2006/relationships/image" Target="/ppt/media/image2.jpeg" Id="R1aa2f16632f44e2e" /><Relationship Type="http://schemas.openxmlformats.org/officeDocument/2006/relationships/image" Target="/ppt/media/image10.png" Id="R562710f0d61540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773212ee843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4EC53-5555-4399-A579-0FE2DDD6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43865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>
              <a:alpha val="9411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45B96-FDBB-498A-99D5-06D1F75F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WEEK 4 DAY 2 • READING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ABCCA-2CE8-4479-915E-56293F01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371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Celebrating</a:t>
            </a:r>
          </a:p>
          <a:p xmlns:a="http://schemas.openxmlformats.org/drawingml/2006/main">
            <a:pPr algn="l">
              <a:defRPr sz="44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Divergence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552F6-3601-44A0-B10A-0E6B5A24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Piaget and Vygotsky</a:t>
            </a:r>
          </a:p>
          <a:p xmlns:a="http://schemas.openxmlformats.org/drawingml/2006/main">
            <a:pPr algn="l">
              <a:defRPr sz="187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Jerome Bruner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9B44A-DACB-4C7C-8CF8-6572A019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409D1-7F87-4964-9B62-40BFD8FD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ONE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21255-15D8-4C6A-A8B4-11582103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63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How does a mind grow?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7974B-DA64-4C2F-B37F-770F144D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Group 8</a:t>
            </a:r>
          </a:p>
          <a:p xmlns:a="http://schemas.openxmlformats.org/drawingml/2006/main">
            <a:pPr algn="l">
              <a:defRPr sz="12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Javen Cao — PID: A17806950</a:t>
            </a:r>
          </a:p>
          <a:p xmlns:a="http://schemas.openxmlformats.org/drawingml/2006/main">
            <a:pPr algn="l">
              <a:defRPr sz="12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Juqy Chen — PID: A17796879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8264E-9086-47FF-A53D-F62E83DB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81600"/>
            <a:ext cx="1314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4ea2ca92942f8"/>
          <a:stretch xmlns:a="http://schemas.openxmlformats.org/drawingml/2006/main"/>
        </p:blipFill>
        <p:spPr>
          <a:xfrm xmlns:a="http://schemas.openxmlformats.org/drawingml/2006/main">
            <a:off x="10201275" y="5286375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E2572-6C9B-492A-82DB-DC6933FC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153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Quiz: tinyurl.com/cogs100-group8-quiz</a:t>
            </a:r>
          </a:p>
        </p:txBody>
      </p:sp>
    </p:spTree>
    <p:extLst>
      <p:ext uri="{BB962C8B-B14F-4D97-AF65-F5344CB8AC3E}">
        <p14:creationId xmlns:p14="http://schemas.microsoft.com/office/powerpoint/2010/main" val="1854995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FE642-EA15-4B9A-90F6-1A40364C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CAB50-BA5E-4495-8A58-B4A31740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Humans do more than adapt — we make accounts of the world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9a8b18d414a95"/>
          <a:srcRect xmlns:a="http://schemas.openxmlformats.org/drawingml/2006/main" l="2619" t="0" r="2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466850"/>
            <a:ext cx="7505700" cy="4457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0C30A-CCA0-4EB4-969D-12C3B655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86500"/>
                </a:solidFill>
                <a:latin typeface="Helvetica Neue"/>
                <a:ea typeface="Helvetica Neue"/>
                <a:cs typeface="Helvetica Neue"/>
              </a:rPr>
              <a:t>WE ADAPT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59316-2060-45E7-97E0-AB1A72DE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We act</a:t>
            </a:r>
          </a:p>
          <a:p xmlns:a="http://schemas.openxmlformats.org/drawingml/2006/main">
            <a:pPr algn="l">
              <a:defRPr sz="27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in the world.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747A4-5CA0-41D7-A8FA-2175D384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30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43C3F-DB59-41B6-A68A-A968EAEE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WE ALSO INTERPRET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2006E-C412-4205-BA31-5A2844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31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We make theories</a:t>
            </a:r>
          </a:p>
          <a:p xmlns:a="http://schemas.openxmlformats.org/drawingml/2006/main">
            <a:pPr algn="l">
              <a:def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and stories about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4660B-C5A2-4FA6-ACD3-DD6EBE47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Bruner’s question: how does development make this possible?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185A3-9AC8-4756-8A3C-1199E033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67A51-09D3-49FA-9E8F-BEE88B68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Source: Bruner (1997), p. 64. Slide wording is paraphrased.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59AED-E4D1-4E9A-9E5D-94AED1E9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2871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DCA49-7B6A-489E-B274-6264B910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75F5C-58EC-4907-A01F-9E88912F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Piaget and Vygotsky answer the same question differently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8A05C-4666-4E90-B573-6530FB9E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Shared premise: the mind mediates between the external world and individual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1B335-AF2B-42F0-B1E5-F95EC52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51435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b751a89a64847"/>
          <a:srcRect xmlns:a="http://schemas.openxmlformats.org/drawingml/2006/main" l="0" t="1997" r="0" b="1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171700"/>
            <a:ext cx="160020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550A0-B35D-4C86-B631-E6831D64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66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PIAGET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EDEE2-45E5-4D38-8DF7-EA9D69CB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2362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5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Logic-like operations organize knowledge.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6ADDF-3E1C-4361-8CF4-648D96F1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386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Growth means stronger structures of thought.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1EDE3-CDFC-4D9C-855E-A2355433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51435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636a645414473"/>
          <a:srcRect xmlns:a="http://schemas.openxmlformats.org/drawingml/2006/main" l="7079" t="0" r="70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2171700"/>
            <a:ext cx="1600200" cy="2571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5C454-6CB6-443D-AE87-BAB9D2E9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VYGOTSKY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EF39C-DC0E-498C-AA9E-A6A6EDC5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57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Culture and history become tools of mind.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D70B9-BD1C-4806-B9C0-474A4768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386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Growth means mastering culturally embodied symbols.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F4FCF-6941-4889-8CDE-73B249FB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1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The disagreement is productive: it reveals two ways of studying development.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75DC0-13B9-4AD7-95B5-758806C6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CA3F2-BE63-48BF-BB6E-EC5E1FF6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Content: Bruner (1997), pp. 65, 68, 70–72. Photos: Wikimedia Commons, public domain.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3F0C2-5B80-4784-A712-AB792193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1271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6F9D6-15A1-4084-8A14-BC84E7F6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DA4CE-34B0-4A10-BA17-4983FC40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047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For Piaget, the mind organizes experience through logic-like operations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2392aaa0449d9"/>
          <a:srcRect xmlns:a="http://schemas.openxmlformats.org/drawingml/2006/main" l="0" t="15296" r="0" b="15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33500"/>
            <a:ext cx="12192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0C787-1300-4A3F-8F7D-3D4E3BBD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THE MIND MEDIATES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3650C-3F9D-44AC-9EAC-F314A919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It does not simply record the world.</a:t>
            </a:r>
          </a:p>
          <a:p xmlns:a="http://schemas.openxmlformats.org/drawingml/2006/main">
            <a:pPr algn="l">
              <a:defRPr sz="24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It organizes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3CDC5-719C-4206-80B6-17396F6D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D30A3-6C7F-4874-95C7-30754F13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Knowledge is built, then tested in action. Thinking helps shape what the child can know.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999E0-5474-4355-8F7B-C4E1002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2BDD2-34E4-473F-976B-96795836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Source: Bruner (1997), p. 65. Slide wording is paraphrased.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7C65D-9312-414E-91FE-6F31DDD7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3289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F621C-C450-46A8-813B-3A602C50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74F6F-C8A2-4C20-8D75-CD2B2B88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4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Piaget’s growth story: action becomes increasingly organized thought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45e5093cc478d"/>
          <a:srcRect xmlns:a="http://schemas.openxmlformats.org/drawingml/2006/main" l="5147" t="0" r="5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619250"/>
            <a:ext cx="5981700" cy="3752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FB812-E1C0-4C70-AB84-2CB2A90F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18E1E-C330-4EF0-859B-1F5F2644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Act on the world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0D61B-9CBB-40DA-96CD-5C56EAB4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The child starts with concrete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049FA-6A1C-43FD-8DAD-42F84C02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EE9BB-C37B-438B-95E7-373CEE72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F0236-9438-46F6-90CE-79AAB90E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Carry action into thought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75635-6152-4559-BBD9-8BA49C99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69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Thought becomes less tied to the immediate 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8409F-E49F-414D-8C21-FFA2E52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AC4B0-19EA-4752-AD39-E8E266DB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A9BC7-E691-4DBC-A5FE-48DA5CB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Reflect on thought itself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24442-AD98-48B8-B593-B5A31903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Formal operations make thought an object of thought.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A0D98-918C-4B00-B30C-F1BABC3B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11010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06BB9-46C6-40A2-9DF6-D5963C3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8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A86500"/>
                </a:solidFill>
                <a:latin typeface="Helvetica Neue"/>
                <a:ea typeface="Helvetica Neue"/>
                <a:cs typeface="Helvetica Neue"/>
              </a:rPr>
              <a:t>Disequilibration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4EE5B-6707-4091-AAE9-C42754B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388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0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Piaget says growth comes from the pull between fitting experience into an old structure and changing the structure to fit experience.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96F54-F87F-41E4-B10B-51D570D0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F410C-B41B-4882-95A8-B175853D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Source: Bruner (1997), pp. 65–66. Slide wording is paraphrased.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C51C1-5205-4F7F-B949-415EFB21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5688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0DBF3-753A-4362-BE6F-5D768672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DBC21-E5D0-4821-BAF8-9A132CD5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7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Piaget maps a stable direction of growth better than its causes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4C4C0-F4C7-4693-B256-FD10F4DE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143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DBD77-2387-49DD-9F69-BA1CE69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ABUNDANTLY CLEAR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BC378-E7AB-4B89-A2F0-86A03A96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3638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Development follows an invariant course.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26C0F-D891-4D8C-B42E-B8710E79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3638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Piaget is strongest on the direction and systematicity of growth.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51E87-109C-4596-8996-7D0F006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5143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27291-3DC9-4162-92E4-A1EB77A2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86500"/>
                </a:solidFill>
                <a:latin typeface="Helvetica Neue"/>
                <a:ea typeface="Helvetica Neue"/>
                <a:cs typeface="Helvetica Neue"/>
              </a:rPr>
              <a:t>LESS CLEAR OR NEGLECTED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542FA-65E0-4140-A378-CFB69656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What moves development forward — and how other people and culture matter.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36305-E325-49CE-8A61-92F225E3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866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Bruner names intersubjectivity, instruction, negotiation, and cultural interpretation as the missing territory.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86E0A-A376-449B-8D64-C32A7A64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1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Bridge: If development cannot be understood only inside one individual mind, where should we look next?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BF540-3731-48A3-814F-42F42232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CD7E4-CF64-4E0A-AAD1-03826BA3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Source: Bruner (1997), pp. 66–67. Slide wording is paraphrased.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9EC3E-9E36-4745-801F-3DE1912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5327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0E6DD-1A59-4713-91E2-93379367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91D58-7F45-4CB8-918F-5C9568F7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Vygotsky starts with meaning, not a mental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A6BB1-70C0-461E-8F3A-02BC9F37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33718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E387F-6138-4F7B-A6F2-1BE0E40C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447B7-92F2-4BB3-A69B-F0FB15DF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30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814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A process for giving experience meaning.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C3957-A299-482A-B8B9-D95BAD9E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Meaning needs language — and the cultural context in which language is used.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3525E-6213-4CBD-BE0D-DBC51AAA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384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84328-14ED-4C1D-9A11-A0EC84A2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33550"/>
            <a:ext cx="3276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F9CD0-2AE0-4197-A2B6-2D838E4B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DEVELOPMENT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70270-38BD-4B44-82BA-B0F145AF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33650"/>
            <a:ext cx="233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814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Mastery of higher-order symbolic systems.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D7E0F-84EE-4642-9BE2-8F35B887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290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A new system can reorganize earlier ideas — like algebra reorganizing arithmetic.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5EC1A-9C5A-4706-9E28-F7FECB4D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68296-D4D4-45F2-8B3D-26E34B8C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33550"/>
            <a:ext cx="15049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D7269-FBE6-4380-9507-61A2A55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955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EA334-6737-41F2-8CC5-F2D34E5C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86050"/>
            <a:ext cx="123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Culture +</a:t>
            </a:r>
          </a:p>
          <a:p xmlns:a="http://schemas.openxmlformats.org/drawingml/2006/main">
            <a:pPr algn="ctr">
              <a:defRPr sz="15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social</a:t>
            </a:r>
          </a:p>
          <a:p xmlns:a="http://schemas.openxmlformats.org/drawingml/2006/main">
            <a:pPr algn="ctr">
              <a:defRPr sz="15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interaction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D85E1-D984-4CB9-9132-9A57AEC0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1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The central problem: How do these tools get from outside to inside?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43605-5BBF-40A8-A4D9-F15DD3B3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8BC4C-3608-4A85-885F-3C31E102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Source: Bruner (1997), p. 68. Slide wording is paraphrased.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BE018-A0C9-4668-99F7-3F5B1C6E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9893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80859-C20E-4A94-8B72-06B43A18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C0396-3F67-4BA2-9B57-788D08E1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Social interaction is how culture enters thought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8a8801d834e07"/>
          <a:srcRect xmlns:a="http://schemas.openxmlformats.org/drawingml/2006/main" l="0" t="1517" r="0" b="15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19250"/>
            <a:ext cx="6457950" cy="3524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13F8E-47D6-4EEF-9C6A-B9DD0A21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Outside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CEBA0-CAE2-400D-8866-416D200E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22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People act and talk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B5312-3668-4580-9AAB-5309D80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02CAE-21B7-43C1-9A4D-7DADFC32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Between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9AEC8-857B-42A1-B6D7-B5C2A52F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805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Speech carries shared meanings.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55891-2273-4997-B181-86E46AD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CEB10-80C7-47DD-8969-A7BAF836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Inside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59E82-B87E-4E4C-82E5-587E5191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Those meanings become tools for thinking.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54CC2-36C2-43B1-BD46-1455C044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10200"/>
            <a:ext cx="6457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B10E6-1965-4742-A8C3-DE7D13E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562600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408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Internalization is not copying. It is culture becoming a resource within the person’s own thought.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0160A-6C67-450C-B0A4-9328B34D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4434C-9D18-4E54-A1DC-B08B887E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Source: Bruner (1997), p. 68. Slide wording is paraphrased.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095ED-2B6D-4A1E-A819-D95A701A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5703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B3E85-E1AD-47EB-945B-ABCA8C9B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C0408-641F-4D1B-8F5B-EDD06E7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The ZPD shows what guided help makes possible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93CD7-6E90-44D3-A902-19B51420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11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The zone of proximal development is the gap between what you can do alone and what you can do with well-matched help.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78195028f4757"/>
          <a:srcRect xmlns:a="http://schemas.openxmlformats.org/drawingml/2006/main" l="2648" t="0" r="2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828800"/>
            <a:ext cx="6315075" cy="3752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5C9D9-7FDC-4957-AFDC-C75E76D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Already possible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B3A2D-52FE-4A99-A3CE-FD91E041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3676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What the learner can do alone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3B426-695F-47C8-AB81-009DACC7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3752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6A87D-2CDE-4A62-93C0-3F956E40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The ZPD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F8536-630C-4EC9-8426-2FD9890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95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The next step that becomes possible with 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6FE9E-74EB-44CA-8245-59D9BB6F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Hints, sequencing, and shared attention make the help fit the learner.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99128-4182-4737-85C9-8EE3F740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638800"/>
            <a:ext cx="63150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1AB4F-7CB0-414A-97BC-8144397A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734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21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The tutor helps with the next possible step; the learner still does the learning.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05DFA-CBE1-436C-BEAE-605070B1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7DC78-3326-4ADB-8058-1584B45B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Source: Bruner (1997), pp. 68–69. Slide wording is paraphrased.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A552A-CAB7-4A7B-90DC-B2E421E8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89764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61A82-8BDE-4175-8FE8-68225699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C9A4E-3303-4136-8370-DFF9B796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955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Piaget is closer to traditional cognitive science; Vygotsky to situated 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C0C06-6A02-4EBD-8B20-27A671A9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5143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7993B-1FD1-4D58-BF3C-F878B154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PIAGET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2266E-1F3D-476B-A965-630CEAED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676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Traditional cognitive science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3F15D-A16B-4DF9-9278-F3AF50E1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381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• General, logic-like structures</a:t>
            </a:r>
          </a:p>
          <a:p xmlns:a="http://schemas.openxmlformats.org/drawingml/2006/main">
            <a:pPr algn="l">
              <a:def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• Individual operations</a:t>
            </a:r>
          </a:p>
          <a:p xmlns:a="http://schemas.openxmlformats.org/drawingml/2006/main">
            <a:pPr algn="l">
              <a:def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• Explanation, verification, and invariant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2504E-B8C5-4DCA-9582-F02BEDAD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28800"/>
            <a:ext cx="5143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15FC1-54EB-467D-A097-B59E4EAA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VYGOTSKY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EE36D-22A3-4A01-AE76-9C7FDC72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Situated cognitive science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AA1AC-22E5-4CA7-8045-82FDA21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381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• Meaning in language and culture</a:t>
            </a:r>
          </a:p>
          <a:p xmlns:a="http://schemas.openxmlformats.org/drawingml/2006/main">
            <a:pPr algn="l">
              <a:def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• Social interaction and context</a:t>
            </a:r>
          </a:p>
          <a:p xmlns:a="http://schemas.openxmlformats.org/drawingml/2006/main">
            <a:pPr algn="l">
              <a:def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• Interpretation and situated understanding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044D5-E734-425D-9332-FD73DDE9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This is a rough mapping, not a claim that either thinker fits only one box.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3273C-D46E-45A4-9DFD-6264E8E8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52205-D9DA-409A-A3DB-A6BC283D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Source: Bruner (1997), pp. 70–72. The cognitive-science labels are interpretive applications of Bruner’s contrast.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1FC57-23F4-481A-8774-1ABBE934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52037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0A745-0EC6-4120-9FD2-B58DFAD0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55EC6-438F-4434-B12B-F9E8984A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442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Their divergence gives us two useful questions about development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a1f8813494ed5"/>
          <a:srcRect xmlns:a="http://schemas.openxmlformats.org/drawingml/2006/main" l="0" t="15570" r="0" b="155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504950"/>
            <a:ext cx="11010900" cy="426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3DFDA-C42B-49C2-978F-4D534B42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318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260BE-CEDB-49BF-9014-4D573182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PIAGET’S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0019A-3486-4B41-B763-72E4F0CC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Why is development often stable?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9F537-B942-46C1-A825-23BBF5F3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318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DA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2F8B1-7968-484C-A163-23C9824B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44D3A"/>
                </a:solidFill>
                <a:latin typeface="Helvetica Neue"/>
                <a:ea typeface="Helvetica Neue"/>
                <a:cs typeface="Helvetica Neue"/>
              </a:rPr>
              <a:t>VYGOTSKY’S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8AB6F-130B-4978-A01A-A9829F1B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When can collaboration open a new step?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F1367-F1FA-43AE-8AFA-A4F1F22F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1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Bruner’s conclusion: do not force a quick reconciliation — use the tension to ask better questions.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FDAC7-9CDC-4C31-B331-A4B033DB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EF630-8C67-48E7-A98E-4A45B756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Source: Bruner (1997), pp. 70–72. Slide wording is paraphrased.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3B301-0CF6-4052-ADCA-86AF6F11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3739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825E6-307E-48BE-A280-870A23F1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COGS 100 • GROUP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7500C-4A9C-43E9-8ECA-3D64B8FA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85850"/>
            <a:ext cx="733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A growing mind is not explained</a:t>
            </a:r>
          </a:p>
          <a:p xmlns:a="http://schemas.openxmlformats.org/drawingml/2006/main">
            <a:pPr algn="l">
              <a:defRPr sz="35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by logic alone — or culture alone.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2f16632f44e2e"/>
          <a:srcRect xmlns:a="http://schemas.openxmlformats.org/drawingml/2006/main" l="0" t="7171" r="0" b="7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742950"/>
            <a:ext cx="2095500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61967-7BDE-4013-B29C-87CA3B5E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8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86500"/>
                </a:solidFill>
                <a:latin typeface="Helvetica Neue"/>
                <a:ea typeface="Helvetica Neue"/>
                <a:cs typeface="Helvetica Neue"/>
              </a:rPr>
              <a:t>JEROME BRUNER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700F5-1AF8-4840-8CE9-FCE0EDCD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721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A9171-F58A-4609-9113-95E4A4A9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Piaget: thought becomes more organized.</a:t>
            </a:r>
          </a:p>
          <a:p xmlns:a="http://schemas.openxmlformats.org/drawingml/2006/main">
            <a:pPr algn="l">
              <a:defRPr sz="1875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Vygotsky: culture becomes a tool for thought.</a:t>
            </a:r>
          </a:p>
          <a:p xmlns:a="http://schemas.openxmlformats.org/drawingml/2006/main">
            <a:pPr algn="l">
              <a:defRPr sz="1875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Bruner: keep both questions alive.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20AD1-E122-45E2-85BD-73179EDE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32956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5B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710f0d61540a5"/>
          <a:stretch xmlns:a="http://schemas.openxmlformats.org/drawingml/2006/main"/>
        </p:blipFill>
        <p:spPr>
          <a:xfrm xmlns:a="http://schemas.openxmlformats.org/drawingml/2006/main">
            <a:off x="7943850" y="4171950"/>
            <a:ext cx="1562100" cy="1562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5A53B-430C-4DA6-B969-E306E16C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624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Scan for the</a:t>
            </a:r>
          </a:p>
          <a:p xmlns:a="http://schemas.openxmlformats.org/drawingml/2006/main">
            <a:pPr algn="ctr">
              <a:defRPr sz="12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3-question quiz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8C7DD-270A-472F-ABB8-AD2CC221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10233D"/>
                </a:solidFill>
                <a:latin typeface="Helvetica Neue"/>
                <a:ea typeface="Helvetica Neue"/>
                <a:cs typeface="Helvetica Neue"/>
              </a:rPr>
              <a:t>tinyurl.com/cogs100-group8-quiz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B6970-5D5B-4FD9-ACBC-86B156F9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F5FC9"/>
                </a:solidFill>
                <a:latin typeface="Helvetica Neue"/>
                <a:ea typeface="Helvetica Neue"/>
                <a:cs typeface="Helvetica Neue"/>
              </a:rPr>
              <a:t>Thank you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CF9EC-CFC8-4070-A54A-2152BB85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66CCF-B676-4FE9-938E-6C5EECC2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Reading: Bruner (1997). Bruner photo: Wikimedia Commons, public domain.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0A13A-228D-487D-B890-68CE9759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9667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441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2026-07-23T04:14:18.9220000Z</dcterms:created>
  <dcterms:modified xsi:type="dcterms:W3CDTF">2026-07-23T04:14:18.9220000Z</dcterms:modified>
</coreProperties>
</file>