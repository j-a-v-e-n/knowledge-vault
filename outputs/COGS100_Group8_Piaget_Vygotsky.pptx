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0a6cf5ca7354981" /><Relationship Type="http://schemas.openxmlformats.org/officeDocument/2006/relationships/extended-properties" Target="/docProps/app.xml" Id="R53d44cfa14354074" /><Relationship Type="http://schemas.openxmlformats.org/officeDocument/2006/relationships/officeDocument" Target="/ppt/presentation.xml" Id="R79091e8c3e3c4fcc" /></Relationships>
</file>

<file path=ppt/presentation.xml><?xml version="1.0" encoding="utf-8"?>
<p:presentation xmlns:p="http://schemas.openxmlformats.org/presentationml/2006/main">
  <p:sldMasterIdLst>
    <p:sldMasterId xmlns:r="http://schemas.openxmlformats.org/officeDocument/2006/relationships" id="2147483648" r:id="Rc0fe267433454671"/>
  </p:sldMasterIdLst>
  <p:notesMasterIdLst>
    <p:notesMasterId xmlns:r="http://schemas.openxmlformats.org/officeDocument/2006/relationships" r:id="R3ccf3cc74aa2496c"/>
  </p:notesMasterIdLst>
  <p:sldIdLst>
    <p:sldId xmlns:r="http://schemas.openxmlformats.org/officeDocument/2006/relationships" id="256" r:id="Rcea9fd43646f400a"/>
    <p:sldId xmlns:r="http://schemas.openxmlformats.org/officeDocument/2006/relationships" id="257" r:id="Re31c62349b3c4855"/>
    <p:sldId xmlns:r="http://schemas.openxmlformats.org/officeDocument/2006/relationships" id="258" r:id="R6818d680207046f8"/>
    <p:sldId xmlns:r="http://schemas.openxmlformats.org/officeDocument/2006/relationships" id="259" r:id="R9f7cc31f59964d37"/>
    <p:sldId xmlns:r="http://schemas.openxmlformats.org/officeDocument/2006/relationships" id="260" r:id="R0d80d218eb45439b"/>
    <p:sldId xmlns:r="http://schemas.openxmlformats.org/officeDocument/2006/relationships" id="261" r:id="Rc1ac70329b11496b"/>
    <p:sldId xmlns:r="http://schemas.openxmlformats.org/officeDocument/2006/relationships" id="262" r:id="R4c9cbc93798a4ecf"/>
    <p:sldId xmlns:r="http://schemas.openxmlformats.org/officeDocument/2006/relationships" id="263" r:id="R79f6615149e5478b"/>
    <p:sldId xmlns:r="http://schemas.openxmlformats.org/officeDocument/2006/relationships" id="264" r:id="R6bcad1abc9ae4aa7"/>
    <p:sldId xmlns:r="http://schemas.openxmlformats.org/officeDocument/2006/relationships" id="265" r:id="R0c5bae1cefdd4f38"/>
    <p:sldId xmlns:r="http://schemas.openxmlformats.org/officeDocument/2006/relationships" id="266" r:id="R6ec4aaa5563943aa"/>
    <p:sldId xmlns:r="http://schemas.openxmlformats.org/officeDocument/2006/relationships" id="267" r:id="R160839ab08cf4cf9"/>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f88de6d5dcf4f81" /><Relationship Type="http://schemas.openxmlformats.org/officeDocument/2006/relationships/slideMaster" Target="/ppt/slideMasters/slideMaster1.xml" Id="Rc0fe267433454671" /><Relationship Type="http://schemas.openxmlformats.org/officeDocument/2006/relationships/notesMaster" Target="/ppt/notesMasters/notesMaster1.xml" Id="R3ccf3cc74aa2496c" /><Relationship Type="http://schemas.openxmlformats.org/officeDocument/2006/relationships/presProps" Target="/ppt/presProps.xml" Id="Rd61f01fceb34434d" /><Relationship Type="http://schemas.openxmlformats.org/officeDocument/2006/relationships/tableStyles" Target="/ppt/tableStyles.xml" Id="R91cbcf817e6d4226" /><Relationship Type="http://schemas.openxmlformats.org/officeDocument/2006/relationships/slide" Target="/ppt/slides/slide1.xml" Id="Rcea9fd43646f400a" /><Relationship Type="http://schemas.openxmlformats.org/officeDocument/2006/relationships/slide" Target="/ppt/slides/slide2.xml" Id="Re31c62349b3c4855" /><Relationship Type="http://schemas.openxmlformats.org/officeDocument/2006/relationships/slide" Target="/ppt/slides/slide3.xml" Id="R6818d680207046f8" /><Relationship Type="http://schemas.openxmlformats.org/officeDocument/2006/relationships/slide" Target="/ppt/slides/slide4.xml" Id="R9f7cc31f59964d37" /><Relationship Type="http://schemas.openxmlformats.org/officeDocument/2006/relationships/slide" Target="/ppt/slides/slide5.xml" Id="R0d80d218eb45439b" /><Relationship Type="http://schemas.openxmlformats.org/officeDocument/2006/relationships/slide" Target="/ppt/slides/slide6.xml" Id="Rc1ac70329b11496b" /><Relationship Type="http://schemas.openxmlformats.org/officeDocument/2006/relationships/slide" Target="/ppt/slides/slide7.xml" Id="R4c9cbc93798a4ecf" /><Relationship Type="http://schemas.openxmlformats.org/officeDocument/2006/relationships/slide" Target="/ppt/slides/slide8.xml" Id="R79f6615149e5478b" /><Relationship Type="http://schemas.openxmlformats.org/officeDocument/2006/relationships/slide" Target="/ppt/slides/slide9.xml" Id="R6bcad1abc9ae4aa7" /><Relationship Type="http://schemas.openxmlformats.org/officeDocument/2006/relationships/slide" Target="/ppt/slides/slide10.xml" Id="R0c5bae1cefdd4f38" /><Relationship Type="http://schemas.openxmlformats.org/officeDocument/2006/relationships/slide" Target="/ppt/slides/slide11.xml" Id="R6ec4aaa5563943aa" /><Relationship Type="http://schemas.openxmlformats.org/officeDocument/2006/relationships/slide" Target="/ppt/slides/slide12.xml" Id="R160839ab08cf4cf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b9c464dc6184bd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3c864ce0c1c403f" /><Relationship Type="http://schemas.openxmlformats.org/officeDocument/2006/relationships/notesMaster" Target="/ppt/notesMasters/notesMaster1.xml" Id="R9b4d87e524124e3b" /></Relationships>
</file>

<file path=ppt/notesSlides/_rels/notesSlide2.xml.rels>&#65279;<?xml version="1.0" encoding="utf-8"?><Relationships xmlns="http://schemas.openxmlformats.org/package/2006/relationships"><Relationship Type="http://schemas.openxmlformats.org/officeDocument/2006/relationships/slide" Target="/ppt/slides/slide2.xml" Id="R4e20fd090a2d4924" /><Relationship Type="http://schemas.openxmlformats.org/officeDocument/2006/relationships/notesMaster" Target="/ppt/notesMasters/notesMaster1.xml" Id="Rf281e9fbf79041de" /></Relationships>
</file>

<file path=ppt/notesSlides/_rels/notesSlide3.xml.rels>&#65279;<?xml version="1.0" encoding="utf-8"?><Relationships xmlns="http://schemas.openxmlformats.org/package/2006/relationships"><Relationship Type="http://schemas.openxmlformats.org/officeDocument/2006/relationships/slide" Target="/ppt/slides/slide3.xml" Id="R1ac6b61abd684540" /><Relationship Type="http://schemas.openxmlformats.org/officeDocument/2006/relationships/notesMaster" Target="/ppt/notesMasters/notesMaster1.xml" Id="R8ffafcd7710341d2" /></Relationships>
</file>

<file path=ppt/notesSlides/_rels/notesSlide4.xml.rels>&#65279;<?xml version="1.0" encoding="utf-8"?><Relationships xmlns="http://schemas.openxmlformats.org/package/2006/relationships"><Relationship Type="http://schemas.openxmlformats.org/officeDocument/2006/relationships/slide" Target="/ppt/slides/slide4.xml" Id="Re223cc1d80cc4dae" /><Relationship Type="http://schemas.openxmlformats.org/officeDocument/2006/relationships/notesMaster" Target="/ppt/notesMasters/notesMaster1.xml" Id="Rfa4e851db6f94b23" /></Relationships>
</file>

<file path=ppt/notesSlides/_rels/notesSlide5.xml.rels>&#65279;<?xml version="1.0" encoding="utf-8"?><Relationships xmlns="http://schemas.openxmlformats.org/package/2006/relationships"><Relationship Type="http://schemas.openxmlformats.org/officeDocument/2006/relationships/slide" Target="/ppt/slides/slide5.xml" Id="Rfe86080df3ba49b7" /><Relationship Type="http://schemas.openxmlformats.org/officeDocument/2006/relationships/notesMaster" Target="/ppt/notesMasters/notesMaster1.xml" Id="R80b4101297414104" /></Relationships>
</file>

<file path=ppt/notesSlides/_rels/notesSlide6.xml.rels>&#65279;<?xml version="1.0" encoding="utf-8"?><Relationships xmlns="http://schemas.openxmlformats.org/package/2006/relationships"><Relationship Type="http://schemas.openxmlformats.org/officeDocument/2006/relationships/slide" Target="/ppt/slides/slide6.xml" Id="R7470e1ca01984984" /><Relationship Type="http://schemas.openxmlformats.org/officeDocument/2006/relationships/notesMaster" Target="/ppt/notesMasters/notesMaster1.xml" Id="R4ee88f614b5848e9" /></Relationships>
</file>

<file path=ppt/notesSlides/_rels/notesSlide7.xml.rels>&#65279;<?xml version="1.0" encoding="utf-8"?><Relationships xmlns="http://schemas.openxmlformats.org/package/2006/relationships"><Relationship Type="http://schemas.openxmlformats.org/officeDocument/2006/relationships/slide" Target="/ppt/slides/slide7.xml" Id="R7c147dd6d2f647a0" /><Relationship Type="http://schemas.openxmlformats.org/officeDocument/2006/relationships/notesMaster" Target="/ppt/notesMasters/notesMaster1.xml" Id="Re066c3e5373d4ba0" /></Relationships>
</file>

<file path=ppt/notesSlides/_rels/notesSlide8.xml.rels>&#65279;<?xml version="1.0" encoding="utf-8"?><Relationships xmlns="http://schemas.openxmlformats.org/package/2006/relationships"><Relationship Type="http://schemas.openxmlformats.org/officeDocument/2006/relationships/slide" Target="/ppt/slides/slide8.xml" Id="R786949ec5ad44760" /><Relationship Type="http://schemas.openxmlformats.org/officeDocument/2006/relationships/notesMaster" Target="/ppt/notesMasters/notesMaster1.xml" Id="Rbc979e6c76f34624" /></Relationships>
</file>

<file path=ppt/notesSlides/_rels/notesSlide9.xml.rels>&#65279;<?xml version="1.0" encoding="utf-8"?><Relationships xmlns="http://schemas.openxmlformats.org/package/2006/relationships"><Relationship Type="http://schemas.openxmlformats.org/officeDocument/2006/relationships/slide" Target="/ppt/slides/slide9.xml" Id="Rff2e8c4332824e7f" /><Relationship Type="http://schemas.openxmlformats.org/officeDocument/2006/relationships/notesMaster" Target="/ppt/notesMasters/notesMaster1.xml" Id="R50ef9bd3f01448a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8441d041b22499f" /><Relationship Type="http://schemas.openxmlformats.org/officeDocument/2006/relationships/notesMaster" Target="/ppt/notesMasters/notesMaster1.xml" Id="R5242384a066a435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4a00f72120c447b" /><Relationship Type="http://schemas.openxmlformats.org/officeDocument/2006/relationships/notesMaster" Target="/ppt/notesMasters/notesMaster1.xml" Id="R0d10bdf4086b43a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42be10179774055" /><Relationship Type="http://schemas.openxmlformats.org/officeDocument/2006/relationships/notesMaster" Target="/ppt/notesMasters/notesMaster1.xml" Id="R6ddf1daec84f4c0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30 seconds</a:t>
            </a:r>
          </a:p>
          <a:p xmlns:a="http://schemas.openxmlformats.org/drawingml/2006/main">
            <a:r>
              <a:t/>
            </a:r>
          </a:p>
          <a:p xmlns:a="http://schemas.openxmlformats.org/drawingml/2006/main">
            <a:r>
              <a:t>Hi everyone, I’m Javen Cao. We’re Group 8, and today we’re talking about Bruner’s paper on Piaget and Vygotsky. We’ll use one simple question: how does a mind grow? Piaget and Vygotsky both care about that question, but they answer it in very different ways.</a:t>
            </a:r>
          </a:p>
          <a:p xmlns:a="http://schemas.openxmlformats.org/drawingml/2006/main">
            <a:r>
              <a:t/>
            </a:r>
          </a:p>
          <a:p xmlns:a="http://schemas.openxmlformats.org/drawingml/2006/main">
            <a:r>
              <a:t>The quiz link is on this slide. Every answer shows up in our presentation.</a:t>
            </a:r>
          </a:p>
          <a:p xmlns:a="http://schemas.openxmlformats.org/drawingml/2006/main">
            <a:r>
              <a:t/>
            </a:r>
          </a:p>
          <a:p xmlns:a="http://schemas.openxmlformats.org/drawingml/2006/main">
            <a:r>
              <a:t>Before we compare the two theories, let’s start with Bruner’s question: what is special about human thinking?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1 minute 30 seconds</a:t>
            </a:r>
          </a:p>
          <a:p xmlns:a="http://schemas.openxmlformats.org/drawingml/2006/main">
            <a:r>
              <a:t/>
            </a:r>
          </a:p>
          <a:p xmlns:a="http://schemas.openxmlformats.org/drawingml/2006/main">
            <a:r>
              <a:t>Bruner starts with a simple point. Lots of living things adapt to the world around them. Humans do too. But humans also do something extra: we make theories and stories about the world. We make stories about other people. We even make stories about ourselves.</a:t>
            </a:r>
          </a:p>
          <a:p xmlns:a="http://schemas.openxmlformats.org/drawingml/2006/main">
            <a:r>
              <a:t/>
            </a:r>
          </a:p>
          <a:p xmlns:a="http://schemas.openxmlformats.org/drawingml/2006/main">
            <a:r>
              <a:t>That matters because stories and theories help us explain things, argue with each other, and work together. Sometimes they even give people things to fight about.</a:t>
            </a:r>
          </a:p>
          <a:p xmlns:a="http://schemas.openxmlformats.org/drawingml/2006/main">
            <a:r>
              <a:t/>
            </a:r>
          </a:p>
          <a:p xmlns:a="http://schemas.openxmlformats.org/drawingml/2006/main">
            <a:r>
              <a:t>So the big development question is this: how does a child grow into someone who can build and share these kinds of accounts? Piaget gives one answer. Vygotsky gives another.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1 minute 20 seconds</a:t>
            </a:r>
          </a:p>
          <a:p xmlns:a="http://schemas.openxmlformats.org/drawingml/2006/main">
            <a:r>
              <a:t/>
            </a:r>
          </a:p>
          <a:p xmlns:a="http://schemas.openxmlformats.org/drawingml/2006/main">
            <a:r>
              <a:t>Both thinkers agree on one starting point. We do not just take in the world like a camera. The mind sits between what happens out there and what we come to know.</a:t>
            </a:r>
          </a:p>
          <a:p xmlns:a="http://schemas.openxmlformats.org/drawingml/2006/main">
            <a:r>
              <a:t/>
            </a:r>
          </a:p>
          <a:p xmlns:a="http://schemas.openxmlformats.org/drawingml/2006/main">
            <a:r>
              <a:t>Piaget’s big insight is logic-like operations. He thinks the child slowly builds better ways to organize experience. Vygotsky’s big insight is different. He thinks human culture and history give us tools for thinking, especially language.</a:t>
            </a:r>
          </a:p>
          <a:p xmlns:a="http://schemas.openxmlformats.org/drawingml/2006/main">
            <a:r>
              <a:t/>
            </a:r>
          </a:p>
          <a:p xmlns:a="http://schemas.openxmlformats.org/drawingml/2006/main">
            <a:r>
              <a:t>So this is not only a disagreement about teaching. It is a disagreement about what should be at the center of a theory of mind. Let’s start with Piaget.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2 minutes</a:t>
            </a:r>
          </a:p>
          <a:p xmlns:a="http://schemas.openxmlformats.org/drawingml/2006/main">
            <a:r>
              <a:t/>
            </a:r>
          </a:p>
          <a:p xmlns:a="http://schemas.openxmlformats.org/drawingml/2006/main">
            <a:r>
              <a:t>Piaget says the mind uses organized operations to make sense of experience. He does not mean that the mind is literally a calculator. He means that thinking has a structure.</a:t>
            </a:r>
          </a:p>
          <a:p xmlns:a="http://schemas.openxmlformats.org/drawingml/2006/main">
            <a:r>
              <a:t/>
            </a:r>
          </a:p>
          <a:p xmlns:a="http://schemas.openxmlformats.org/drawingml/2006/main">
            <a:r>
              <a:t>For Piaget, knowledge is made, not simply found. A child acts in the world, organizes what happened, and then tests that understanding through more action. If the understanding works, it becomes part of a stronger way of thinking.</a:t>
            </a:r>
          </a:p>
          <a:p xmlns:a="http://schemas.openxmlformats.org/drawingml/2006/main">
            <a:r>
              <a:t/>
            </a:r>
          </a:p>
          <a:p xmlns:a="http://schemas.openxmlformats.org/drawingml/2006/main">
            <a:r>
              <a:t>That is why the word “mediate” matters here. The world does not turn straight into knowledge. The child’s way of thinking helps shape what the child can know.</a:t>
            </a:r>
          </a:p>
          <a:p xmlns:a="http://schemas.openxmlformats.org/drawingml/2006/main">
            <a:r>
              <a:t/>
            </a:r>
          </a:p>
          <a:p xmlns:a="http://schemas.openxmlformats.org/drawingml/2006/main">
            <a:r>
              <a:t>Those operations begin in action. Over time, they become more internal, less stuck to one immediate point of view, and more open to reflection. That leads to Piaget’s story about growth.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2 minutes</a:t>
            </a:r>
          </a:p>
          <a:p xmlns:a="http://schemas.openxmlformats.org/drawingml/2006/main">
            <a:r>
              <a:t/>
            </a:r>
          </a:p>
          <a:p xmlns:a="http://schemas.openxmlformats.org/drawingml/2006/main">
            <a:r>
              <a:t>Here is Piaget’s basic sequence. First, a child does things: touching, moving, sorting, and trying things out. Later, the child can carry some of those actions in thought. Then thought becomes less tied to what is right in front of the child. Eventually, the person can think about thought itself.</a:t>
            </a:r>
          </a:p>
          <a:p xmlns:a="http://schemas.openxmlformats.org/drawingml/2006/main">
            <a:r>
              <a:t/>
            </a:r>
          </a:p>
          <a:p xmlns:a="http://schemas.openxmlformats.org/drawingml/2006/main">
            <a:r>
              <a:t>Piaget calls the pressure behind this growth disequilibration. Imagine you meet something that does not fit what you already think. You can try to fit it into your old idea. That is assimilation. Or you can change the old idea. That is accommodation.</a:t>
            </a:r>
          </a:p>
          <a:p xmlns:a="http://schemas.openxmlformats.org/drawingml/2006/main">
            <a:r>
              <a:t/>
            </a:r>
          </a:p>
          <a:p xmlns:a="http://schemas.openxmlformats.org/drawingml/2006/main">
            <a:r>
              <a:t>Piaget says the tension between those two moves pushes thinking forward. Bruner’s criticism is that the basic idea is clear, but the exact mechanism is still not fully explained.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2 minutes 20 seconds, then personal takeaway</a:t>
            </a:r>
          </a:p>
          <a:p xmlns:a="http://schemas.openxmlformats.org/drawingml/2006/main">
            <a:r>
              <a:t/>
            </a:r>
          </a:p>
          <a:p xmlns:a="http://schemas.openxmlformats.org/drawingml/2006/main">
            <a:r>
              <a:t>Bruner gives Piaget a lot of credit. Piaget showed that development is not just a random pile of habits. It has a direction and a pattern. Bruner says one thing is very clear in Piaget’s theory: development follows an invariant course.</a:t>
            </a:r>
          </a:p>
          <a:p xmlns:a="http://schemas.openxmlformats.org/drawingml/2006/main">
            <a:r>
              <a:t/>
            </a:r>
          </a:p>
          <a:p xmlns:a="http://schemas.openxmlformats.org/drawingml/2006/main">
            <a:r>
              <a:t>But another part is less clear. What actually moves a child from one stage to the next? Bruner thinks Piaget tells us more about where growth goes than about what causes it.</a:t>
            </a:r>
          </a:p>
          <a:p xmlns:a="http://schemas.openxmlformats.org/drawingml/2006/main">
            <a:r>
              <a:t/>
            </a:r>
          </a:p>
          <a:p xmlns:a="http://schemas.openxmlformats.org/drawingml/2006/main">
            <a:r>
              <a:t>Bruner also thinks Piaget leaves out too much about other people. How do people understand each other well enough to teach, negotiate, and build a shared world? In Piaget’s account, culture often looks more like a challenge to the individual than a resource the individual can use.</a:t>
            </a:r>
          </a:p>
          <a:p xmlns:a="http://schemas.openxmlformats.org/drawingml/2006/main">
            <a:r>
              <a:t/>
            </a:r>
          </a:p>
          <a:p xmlns:a="http://schemas.openxmlformats.org/drawingml/2006/main">
            <a:r>
              <a:t>One thing I learned from this section is that a theory can be great at showing the direction of change and still leave the engine of change unclear.</a:t>
            </a:r>
          </a:p>
          <a:p xmlns:a="http://schemas.openxmlformats.org/drawingml/2006/main">
            <a:r>
              <a:t/>
            </a:r>
          </a:p>
          <a:p xmlns:a="http://schemas.openxmlformats.org/drawingml/2006/main">
            <a:r>
              <a:t>That gap brings us to Vygotsky.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1 minute 40 seconds</a:t>
            </a:r>
          </a:p>
          <a:p xmlns:a="http://schemas.openxmlformats.org/drawingml/2006/main">
            <a:r>
              <a:t/>
            </a:r>
          </a:p>
          <a:p xmlns:a="http://schemas.openxmlformats.org/drawingml/2006/main">
            <a:r>
              <a:t>Hi, I’m Juqy Chen. Vygotsky also thinks the mind stands between the world and our experience. But he does not start with logic. He starts with meaning.</a:t>
            </a:r>
          </a:p>
          <a:p xmlns:a="http://schemas.openxmlformats.org/drawingml/2006/main">
            <a:r>
              <a:t/>
            </a:r>
          </a:p>
          <a:p xmlns:a="http://schemas.openxmlformats.org/drawingml/2006/main">
            <a:r>
              <a:t>For Vygotsky, meaning depends on language and on the culture where that language is used. So mental growth means learning the symbolic tools that a culture already has. Think about how algebra can reorganize arithmetic. It gives you a new way to handle earlier ideas.</a:t>
            </a:r>
          </a:p>
          <a:p xmlns:a="http://schemas.openxmlformats.org/drawingml/2006/main">
            <a:r>
              <a:t/>
            </a:r>
          </a:p>
          <a:p xmlns:a="http://schemas.openxmlformats.org/drawingml/2006/main">
            <a:r>
              <a:t>This growth does not come from inside one child alone. It depends on cultural tools and on ongoing contact with other people. That leads to Vygotsky’s key question: how do tools that start outside us become tools inside our own thinking?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2 minutes 10 seconds</a:t>
            </a:r>
          </a:p>
          <a:p xmlns:a="http://schemas.openxmlformats.org/drawingml/2006/main">
            <a:r>
              <a:t/>
            </a:r>
          </a:p>
          <a:p xmlns:a="http://schemas.openxmlformats.org/drawingml/2006/main">
            <a:r>
              <a:t>For Vygotsky, mental life starts out social. People act together. They talk. They solve problems together. And speech carries shared meanings from the culture around them.</a:t>
            </a:r>
          </a:p>
          <a:p xmlns:a="http://schemas.openxmlformats.org/drawingml/2006/main">
            <a:r>
              <a:t/>
            </a:r>
          </a:p>
          <a:p xmlns:a="http://schemas.openxmlformats.org/drawingml/2006/main">
            <a:r>
              <a:t>Internalization is the name for what happens next. Meanings that first show up between people become resources inside one person’s thinking.</a:t>
            </a:r>
          </a:p>
          <a:p xmlns:a="http://schemas.openxmlformats.org/drawingml/2006/main">
            <a:r>
              <a:t/>
            </a:r>
          </a:p>
          <a:p xmlns:a="http://schemas.openxmlformats.org/drawingml/2006/main">
            <a:r>
              <a:t>This is not just copying someone else. Once a person has a new tool for thinking, that tool can change how older ideas fit together. It can also help the person go beyond the immediate situation.</a:t>
            </a:r>
          </a:p>
          <a:p xmlns:a="http://schemas.openxmlformats.org/drawingml/2006/main">
            <a:r>
              <a:t/>
            </a:r>
          </a:p>
          <a:p xmlns:a="http://schemas.openxmlformats.org/drawingml/2006/main">
            <a:r>
              <a:t>Bruner points out that Vygotsky does not fully explain the mechanism of internalization either. But the main idea is clear: social life and cultural tools are not just outside influences. They can become part of the way a person thinks.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2 minutes 10 seconds</a:t>
            </a:r>
          </a:p>
          <a:p xmlns:a="http://schemas.openxmlformats.org/drawingml/2006/main">
            <a:r>
              <a:t/>
            </a:r>
          </a:p>
          <a:p xmlns:a="http://schemas.openxmlformats.org/drawingml/2006/main">
            <a:r>
              <a:t>The zone of proximal development, or ZPD, makes Vygotsky’s social view very concrete. It is the gap between what a learner can do alone and what that learner can do with useful help from someone else.</a:t>
            </a:r>
          </a:p>
          <a:p xmlns:a="http://schemas.openxmlformats.org/drawingml/2006/main">
            <a:r>
              <a:t/>
            </a:r>
          </a:p>
          <a:p xmlns:a="http://schemas.openxmlformats.org/drawingml/2006/main">
            <a:r>
              <a:t>The point is not that any help works. Good help has to match the learner’s next possible step. A tutor might point out the key part of a problem, block distractions, break the task into steps, or help the learner talk through the problem.</a:t>
            </a:r>
          </a:p>
          <a:p xmlns:a="http://schemas.openxmlformats.org/drawingml/2006/main">
            <a:r>
              <a:t/>
            </a:r>
          </a:p>
          <a:p xmlns:a="http://schemas.openxmlformats.org/drawingml/2006/main">
            <a:r>
              <a:t>The learner is still doing the learning. The tutor is not simply giving away the answer. The tutor notices what the learner can almost do and gives just enough support to make that next step possible.</a:t>
            </a:r>
          </a:p>
          <a:p xmlns:a="http://schemas.openxmlformats.org/drawingml/2006/main">
            <a:r>
              <a:t/>
            </a:r>
          </a:p>
          <a:p xmlns:a="http://schemas.openxmlformats.org/drawingml/2006/main">
            <a:r>
              <a:t>For Bruner, this also raises a bigger question: humans teach each other in a systematic way. What makes teaching and being taught possible in the first place?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2 minutes</a:t>
            </a:r>
          </a:p>
          <a:p xmlns:a="http://schemas.openxmlformats.org/drawingml/2006/main">
            <a:r>
              <a:t/>
            </a:r>
          </a:p>
          <a:p xmlns:a="http://schemas.openxmlformats.org/drawingml/2006/main">
            <a:r>
              <a:t>Our learning outcome asks us to connect these ideas to cognitive science. This is a useful rough comparison, not a claim that either thinker fits perfectly into one modern label.</a:t>
            </a:r>
          </a:p>
          <a:p xmlns:a="http://schemas.openxmlformats.org/drawingml/2006/main">
            <a:r>
              <a:t/>
            </a:r>
          </a:p>
          <a:p xmlns:a="http://schemas.openxmlformats.org/drawingml/2006/main">
            <a:r>
              <a:t>Piaget sounds closer to traditional cognitive science. He looks for general, logic-like structures inside an individual mind. He wants explanations that can be checked and tested.</a:t>
            </a:r>
          </a:p>
          <a:p xmlns:a="http://schemas.openxmlformats.org/drawingml/2006/main">
            <a:r>
              <a:t/>
            </a:r>
          </a:p>
          <a:p xmlns:a="http://schemas.openxmlformats.org/drawingml/2006/main">
            <a:r>
              <a:t>Vygotsky sounds closer to situated cognitive science. He puts language, culture, history, and a particular interaction right in the middle of the story. He is more interested in how people make meaning in context.</a:t>
            </a:r>
          </a:p>
          <a:p xmlns:a="http://schemas.openxmlformats.org/drawingml/2006/main">
            <a:r>
              <a:t/>
            </a:r>
          </a:p>
          <a:p xmlns:a="http://schemas.openxmlformats.org/drawingml/2006/main">
            <a:r>
              <a:t>But we should not turn this into a cartoon. Piaget did not say culture never matters. And Vygotsky did not say development has no movement from concrete ideas to more abstract ones. The real difference is where each theory puts the center of explanation.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1 minute 45 seconds</a:t>
            </a:r>
          </a:p>
          <a:p xmlns:a="http://schemas.openxmlformats.org/drawingml/2006/main">
            <a:r>
              <a:t/>
            </a:r>
          </a:p>
          <a:p xmlns:a="http://schemas.openxmlformats.org/drawingml/2006/main">
            <a:r>
              <a:t>Bruner does not think the answer is to blend Piaget and Vygotsky into one easy theory. He thinks a good theory of development has to explain two very different things.</a:t>
            </a:r>
          </a:p>
          <a:p xmlns:a="http://schemas.openxmlformats.org/drawingml/2006/main">
            <a:r>
              <a:t/>
            </a:r>
          </a:p>
          <a:p xmlns:a="http://schemas.openxmlformats.org/drawingml/2006/main">
            <a:r>
              <a:t>First, why is development often stable? Why can good teaching fail to make an immediate difference? Why is it hard to transfer learning from one setting to another? Piaget helps us look for those regularities and limits.</a:t>
            </a:r>
          </a:p>
          <a:p xmlns:a="http://schemas.openxmlformats.org/drawingml/2006/main">
            <a:r>
              <a:t/>
            </a:r>
          </a:p>
          <a:p xmlns:a="http://schemas.openxmlformats.org/drawingml/2006/main">
            <a:r>
              <a:t>Second, why can development sometimes move quickly? Why can the right kind of collaboration open up a new possibility? Vygotsky helps us look for those levers of change: scaffolding, joint activity, and cultural opportunity.</a:t>
            </a:r>
          </a:p>
          <a:p xmlns:a="http://schemas.openxmlformats.org/drawingml/2006/main">
            <a:r>
              <a:t/>
            </a:r>
          </a:p>
          <a:p xmlns:a="http://schemas.openxmlformats.org/drawingml/2006/main">
            <a:r>
              <a:t>That is why Bruner thinks their disagreement is useful. Each theory pushes the other to answer questions it might otherwise ignore.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1 minute, then personal takeaway</a:t>
            </a:r>
          </a:p>
          <a:p xmlns:a="http://schemas.openxmlformats.org/drawingml/2006/main">
            <a:r>
              <a:t/>
            </a:r>
          </a:p>
          <a:p xmlns:a="http://schemas.openxmlformats.org/drawingml/2006/main">
            <a:r>
              <a:t>To close, Piaget helps us see how thinking can become more organized and systematic. Vygotsky helps us see how language, culture, and other people become part of thinking.</a:t>
            </a:r>
          </a:p>
          <a:p xmlns:a="http://schemas.openxmlformats.org/drawingml/2006/main">
            <a:r>
              <a:t/>
            </a:r>
          </a:p>
          <a:p xmlns:a="http://schemas.openxmlformats.org/drawingml/2006/main">
            <a:r>
              <a:t>Bruner’s main point is not that one thinker wins. Their difference is valuable because it stops us from explaining development with only logic or only culture.</a:t>
            </a:r>
          </a:p>
          <a:p xmlns:a="http://schemas.openxmlformats.org/drawingml/2006/main">
            <a:r>
              <a:t/>
            </a:r>
          </a:p>
          <a:p xmlns:a="http://schemas.openxmlformats.org/drawingml/2006/main">
            <a:r>
              <a:t>One thing I learned is that even private thought can have a social history. Tools like language first live between people, and then they can become tools inside one person’s mind.</a:t>
            </a:r>
          </a:p>
          <a:p xmlns:a="http://schemas.openxmlformats.org/drawingml/2006/main">
            <a:r>
              <a:t/>
            </a:r>
          </a:p>
          <a:p xmlns:a="http://schemas.openxmlformats.org/drawingml/2006/main">
            <a:r>
              <a:t>Thank you. Please remember to take the quiz using the link on the first or final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e57f91399f347a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9ceaf4fdf854664" /><Relationship Type="http://schemas.openxmlformats.org/officeDocument/2006/relationships/slideLayout" Target="/ppt/slideLayouts/slideLayout1.xml" Id="R7aa42033213e43b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aa42033213e43b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db1d32b93694648" /><Relationship Type="http://schemas.openxmlformats.org/officeDocument/2006/relationships/image" Target="/ppt/media/image.png" Id="R195de0af30c648a3" /><Relationship Type="http://schemas.openxmlformats.org/officeDocument/2006/relationships/notesSlide" Target="/ppt/notesSlides/notesSlide1.xml" Id="R8e1009623764498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9ad6ab95ccc4903" /><Relationship Type="http://schemas.openxmlformats.org/officeDocument/2006/relationships/notesSlide" Target="/ppt/notesSlides/notesSlide2.xml" Id="R59dadb1e7c084e9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601e122ca6b4a8d" /><Relationship Type="http://schemas.openxmlformats.org/officeDocument/2006/relationships/notesSlide" Target="/ppt/notesSlides/notesSlide3.xml" Id="R12b45886bb9747a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f5426ef624a495e" /><Relationship Type="http://schemas.openxmlformats.org/officeDocument/2006/relationships/notesSlide" Target="/ppt/notesSlides/notesSlide4.xml" Id="Rec649e0454c745a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6eb95700d87497b" /><Relationship Type="http://schemas.openxmlformats.org/officeDocument/2006/relationships/image" Target="/ppt/media/image2.png" Id="R536b07bcc5cd4852" /><Relationship Type="http://schemas.openxmlformats.org/officeDocument/2006/relationships/notesSlide" Target="/ppt/notesSlides/notesSlide5.xml" Id="R5099c4f965d54b8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0e36191d364474d" /><Relationship Type="http://schemas.openxmlformats.org/officeDocument/2006/relationships/notesSlide" Target="/ppt/notesSlides/notesSlide6.xml" Id="R0525fc26942e43f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82e7b0c1b994632" /><Relationship Type="http://schemas.openxmlformats.org/officeDocument/2006/relationships/notesSlide" Target="/ppt/notesSlides/notesSlide7.xml" Id="R612b1155cf5940b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8dbadb0fe5e4568" /><Relationship Type="http://schemas.openxmlformats.org/officeDocument/2006/relationships/image" Target="/ppt/media/image3.png" Id="R7ab38d7f55fc48ff" /><Relationship Type="http://schemas.openxmlformats.org/officeDocument/2006/relationships/notesSlide" Target="/ppt/notesSlides/notesSlide8.xml" Id="Rda6f283d56df401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6951094c3434e20" /><Relationship Type="http://schemas.openxmlformats.org/officeDocument/2006/relationships/image" Target="/ppt/media/image4.png" Id="Raf5eac7852f24d52" /><Relationship Type="http://schemas.openxmlformats.org/officeDocument/2006/relationships/notesSlide" Target="/ppt/notesSlides/notesSlide9.xml" Id="R5971fc992883494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ccfa039a8864e81" /><Relationship Type="http://schemas.openxmlformats.org/officeDocument/2006/relationships/notesSlide" Target="/ppt/notesSlides/notesSlide10.xml" Id="R4fa638a18210492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f510596bbbf49ad" /><Relationship Type="http://schemas.openxmlformats.org/officeDocument/2006/relationships/notesSlide" Target="/ppt/notesSlides/notesSlide11.xml" Id="Recc298f75f85451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e5e7f2643fd4540" /><Relationship Type="http://schemas.openxmlformats.org/officeDocument/2006/relationships/notesSlide" Target="/ppt/notesSlides/notesSlide12.xml" Id="Rf3dff5e57fcd4d18" /></Relationships>
</file>

<file path=ppt/slides/slide1.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195de0af30c648a3"/>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0842BDC-0CA7-4182-AB2C-85E779021958}"/>
              </a:ext>
            </a:extLst>
          </p:cNvPr>
          <p:cNvSpPr>
            <a:spLocks xmlns:a="http://schemas.openxmlformats.org/drawingml/2006/main" noGrp="1"/>
          </p:cNvSpPr>
          <p:nvPr/>
        </p:nvSpPr>
        <p:spPr>
          <a:xfrm xmlns:a="http://schemas.openxmlformats.org/drawingml/2006/main">
            <a:off x="400050" y="400050"/>
            <a:ext cx="4438650" cy="6057900"/>
          </a:xfrm>
          <a:prstGeom xmlns:a="http://schemas.openxmlformats.org/drawingml/2006/main" prst="rect">
            <a:avLst/>
          </a:prstGeom>
          <a:solidFill xmlns:a="http://schemas.openxmlformats.org/drawingml/2006/main">
            <a:srgbClr val="FFF9EE">
              <a:alpha val="94118"/>
            </a:srgbClr>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E82372F-3F00-4162-9004-B5D5206B4E36}"/>
              </a:ext>
            </a:extLst>
          </p:cNvPr>
          <p:cNvSpPr>
            <a:spLocks xmlns:a="http://schemas.openxmlformats.org/drawingml/2006/main" noGrp="1"/>
          </p:cNvSpPr>
          <p:nvPr/>
        </p:nvSpPr>
        <p:spPr>
          <a:xfrm xmlns:a="http://schemas.openxmlformats.org/drawingml/2006/main">
            <a:off x="723900" y="78105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1F5FC9"/>
                </a:solidFill>
                <a:latin typeface="Helvetica Neue"/>
                <a:ea typeface="Helvetica Neue"/>
                <a:cs typeface="Helvetica Neue"/>
              </a:defRPr>
            </a:pPr>
            <a:r>
              <a:rPr sz="1125" b="1" i="0">
                <a:solidFill>
                  <a:srgbClr val="1F5FC9"/>
                </a:solidFill>
                <a:latin typeface="Helvetica Neue"/>
                <a:ea typeface="Helvetica Neue"/>
                <a:cs typeface="Helvetica Neue"/>
              </a:rPr>
              <a:t>COGS 100 • WEEK 4 DAY 2 • READING 1</a:t>
            </a:r>
          </a:p>
        </p:txBody>
      </p:sp>
      <p:sp>
        <p:nvSpPr>
          <p:cNvPr id="4" name="">
            <a:extLst xmlns:a="http://schemas.openxmlformats.org/drawingml/2006/main">
              <a:ext uri="{FF2B5EF4-FFF2-40B4-BE49-F238E27FC236}">
                <a16:creationId xmlns:a16="http://schemas.microsoft.com/office/drawing/2014/main" id="{AB4FFDF4-35B9-450F-B4DF-FCCC5C9A4026}"/>
              </a:ext>
            </a:extLst>
          </p:cNvPr>
          <p:cNvSpPr>
            <a:spLocks xmlns:a="http://schemas.openxmlformats.org/drawingml/2006/main" noGrp="1"/>
          </p:cNvSpPr>
          <p:nvPr/>
        </p:nvSpPr>
        <p:spPr>
          <a:xfrm xmlns:a="http://schemas.openxmlformats.org/drawingml/2006/main">
            <a:off x="723900" y="1381125"/>
            <a:ext cx="371475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4425" b="1" i="0">
                <a:solidFill>
                  <a:srgbClr val="10233D"/>
                </a:solidFill>
                <a:latin typeface="Helvetica Neue"/>
                <a:ea typeface="Helvetica Neue"/>
                <a:cs typeface="Helvetica Neue"/>
              </a:defRPr>
            </a:pPr>
            <a:r>
              <a:rPr sz="4425" b="1" i="0">
                <a:solidFill>
                  <a:srgbClr val="10233D"/>
                </a:solidFill>
                <a:latin typeface="Helvetica Neue"/>
                <a:ea typeface="Helvetica Neue"/>
                <a:cs typeface="Helvetica Neue"/>
              </a:rPr>
              <a:t>Celebrating</a:t>
            </a:r>
          </a:p>
          <a:p xmlns:a="http://schemas.openxmlformats.org/drawingml/2006/main">
            <a:pPr algn="l">
              <a:defRPr sz="4425" b="1" i="0">
                <a:solidFill>
                  <a:srgbClr val="10233D"/>
                </a:solidFill>
                <a:latin typeface="Helvetica Neue"/>
                <a:ea typeface="Helvetica Neue"/>
                <a:cs typeface="Helvetica Neue"/>
              </a:defRPr>
            </a:pPr>
            <a:r>
              <a:rPr sz="4425" b="1" i="0">
                <a:solidFill>
                  <a:srgbClr val="10233D"/>
                </a:solidFill>
                <a:latin typeface="Helvetica Neue"/>
                <a:ea typeface="Helvetica Neue"/>
                <a:cs typeface="Helvetica Neue"/>
              </a:rPr>
              <a:t>Divergence</a:t>
            </a:r>
          </a:p>
        </p:txBody>
      </p:sp>
      <p:sp>
        <p:nvSpPr>
          <p:cNvPr id="5" name="">
            <a:extLst xmlns:a="http://schemas.openxmlformats.org/drawingml/2006/main">
              <a:ext uri="{FF2B5EF4-FFF2-40B4-BE49-F238E27FC236}">
                <a16:creationId xmlns:a16="http://schemas.microsoft.com/office/drawing/2014/main" id="{52C08020-E57A-4188-917B-B1B958DF8490}"/>
              </a:ext>
            </a:extLst>
          </p:cNvPr>
          <p:cNvSpPr>
            <a:spLocks xmlns:a="http://schemas.openxmlformats.org/drawingml/2006/main" noGrp="1"/>
          </p:cNvSpPr>
          <p:nvPr/>
        </p:nvSpPr>
        <p:spPr>
          <a:xfrm xmlns:a="http://schemas.openxmlformats.org/drawingml/2006/main">
            <a:off x="723900" y="3143250"/>
            <a:ext cx="3238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75" b="0" i="0">
                <a:solidFill>
                  <a:srgbClr val="596678"/>
                </a:solidFill>
                <a:latin typeface="Helvetica Neue"/>
                <a:ea typeface="Helvetica Neue"/>
                <a:cs typeface="Helvetica Neue"/>
              </a:defRPr>
            </a:pPr>
            <a:r>
              <a:rPr sz="1875" b="0" i="0">
                <a:solidFill>
                  <a:srgbClr val="596678"/>
                </a:solidFill>
                <a:latin typeface="Helvetica Neue"/>
                <a:ea typeface="Helvetica Neue"/>
                <a:cs typeface="Helvetica Neue"/>
              </a:rPr>
              <a:t>Piaget and Vygotsky</a:t>
            </a:r>
          </a:p>
          <a:p xmlns:a="http://schemas.openxmlformats.org/drawingml/2006/main">
            <a:pPr algn="l">
              <a:defRPr sz="1875" b="0" i="0">
                <a:solidFill>
                  <a:srgbClr val="596678"/>
                </a:solidFill>
                <a:latin typeface="Helvetica Neue"/>
                <a:ea typeface="Helvetica Neue"/>
                <a:cs typeface="Helvetica Neue"/>
              </a:defRPr>
            </a:pPr>
            <a:r>
              <a:rPr sz="1875" b="0" i="0">
                <a:solidFill>
                  <a:srgbClr val="596678"/>
                </a:solidFill>
                <a:latin typeface="Helvetica Neue"/>
                <a:ea typeface="Helvetica Neue"/>
                <a:cs typeface="Helvetica Neue"/>
              </a:rPr>
              <a:t>Jerome Bruner</a:t>
            </a:r>
          </a:p>
        </p:txBody>
      </p:sp>
      <p:sp>
        <p:nvSpPr>
          <p:cNvPr id="6" name="">
            <a:extLst xmlns:a="http://schemas.openxmlformats.org/drawingml/2006/main">
              <a:ext uri="{FF2B5EF4-FFF2-40B4-BE49-F238E27FC236}">
                <a16:creationId xmlns:a16="http://schemas.microsoft.com/office/drawing/2014/main" id="{3B186860-FEB8-4C1B-B089-B8C95A5F48CC}"/>
              </a:ext>
            </a:extLst>
          </p:cNvPr>
          <p:cNvSpPr>
            <a:spLocks xmlns:a="http://schemas.openxmlformats.org/drawingml/2006/main" noGrp="1"/>
          </p:cNvSpPr>
          <p:nvPr/>
        </p:nvSpPr>
        <p:spPr>
          <a:xfrm xmlns:a="http://schemas.openxmlformats.org/drawingml/2006/main">
            <a:off x="723900" y="4229100"/>
            <a:ext cx="1524000" cy="28575"/>
          </a:xfrm>
          <a:prstGeom xmlns:a="http://schemas.openxmlformats.org/drawingml/2006/main" prst="rect">
            <a:avLst/>
          </a:prstGeom>
          <a:solidFill xmlns:a="http://schemas.openxmlformats.org/drawingml/2006/main">
            <a:srgbClr val="B44D3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66542A62-54BA-4068-B79F-499F566BAD19}"/>
              </a:ext>
            </a:extLst>
          </p:cNvPr>
          <p:cNvSpPr>
            <a:spLocks xmlns:a="http://schemas.openxmlformats.org/drawingml/2006/main" noGrp="1"/>
          </p:cNvSpPr>
          <p:nvPr/>
        </p:nvSpPr>
        <p:spPr>
          <a:xfrm xmlns:a="http://schemas.openxmlformats.org/drawingml/2006/main">
            <a:off x="723900" y="455295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B44D3A"/>
                </a:solidFill>
                <a:latin typeface="Helvetica Neue"/>
                <a:ea typeface="Helvetica Neue"/>
                <a:cs typeface="Helvetica Neue"/>
              </a:defRPr>
            </a:pPr>
            <a:r>
              <a:rPr sz="1050" b="1" i="0">
                <a:solidFill>
                  <a:srgbClr val="B44D3A"/>
                </a:solidFill>
                <a:latin typeface="Helvetica Neue"/>
                <a:ea typeface="Helvetica Neue"/>
                <a:cs typeface="Helvetica Neue"/>
              </a:rPr>
              <a:t>ONE QUESTION</a:t>
            </a:r>
          </a:p>
        </p:txBody>
      </p:sp>
      <p:sp>
        <p:nvSpPr>
          <p:cNvPr id="8" name="">
            <a:extLst xmlns:a="http://schemas.openxmlformats.org/drawingml/2006/main">
              <a:ext uri="{FF2B5EF4-FFF2-40B4-BE49-F238E27FC236}">
                <a16:creationId xmlns:a16="http://schemas.microsoft.com/office/drawing/2014/main" id="{4F991ED6-1AB2-496C-A30B-FCD80F2AA784}"/>
              </a:ext>
            </a:extLst>
          </p:cNvPr>
          <p:cNvSpPr>
            <a:spLocks xmlns:a="http://schemas.openxmlformats.org/drawingml/2006/main" noGrp="1"/>
          </p:cNvSpPr>
          <p:nvPr/>
        </p:nvSpPr>
        <p:spPr>
          <a:xfrm xmlns:a="http://schemas.openxmlformats.org/drawingml/2006/main">
            <a:off x="723900" y="4876800"/>
            <a:ext cx="3333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063"/>
          </a:bodyPr>
          <a:lstStyle xmlns:a="http://schemas.openxmlformats.org/drawingml/2006/main"/>
          <a:p xmlns:a="http://schemas.openxmlformats.org/drawingml/2006/main">
            <a:pPr algn="l">
              <a:defRPr sz="2325" b="1" i="0">
                <a:solidFill>
                  <a:srgbClr val="10233D"/>
                </a:solidFill>
                <a:latin typeface="Helvetica Neue"/>
                <a:ea typeface="Helvetica Neue"/>
                <a:cs typeface="Helvetica Neue"/>
              </a:defRPr>
            </a:pPr>
            <a:r>
              <a:rPr sz="2325" b="1" i="0">
                <a:solidFill>
                  <a:srgbClr val="10233D"/>
                </a:solidFill>
                <a:latin typeface="Helvetica Neue"/>
                <a:ea typeface="Helvetica Neue"/>
                <a:cs typeface="Helvetica Neue"/>
              </a:rPr>
              <a:t>How does a mind grow?</a:t>
            </a:r>
          </a:p>
        </p:txBody>
      </p:sp>
      <p:sp>
        <p:nvSpPr>
          <p:cNvPr id="9" name="">
            <a:extLst xmlns:a="http://schemas.openxmlformats.org/drawingml/2006/main">
              <a:ext uri="{FF2B5EF4-FFF2-40B4-BE49-F238E27FC236}">
                <a16:creationId xmlns:a16="http://schemas.microsoft.com/office/drawing/2014/main" id="{852211DA-2930-4930-8177-65881CB27C59}"/>
              </a:ext>
            </a:extLst>
          </p:cNvPr>
          <p:cNvSpPr>
            <a:spLocks xmlns:a="http://schemas.openxmlformats.org/drawingml/2006/main" noGrp="1"/>
          </p:cNvSpPr>
          <p:nvPr/>
        </p:nvSpPr>
        <p:spPr>
          <a:xfrm xmlns:a="http://schemas.openxmlformats.org/drawingml/2006/main">
            <a:off x="723900" y="5591175"/>
            <a:ext cx="3238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00" b="0" i="0">
                <a:solidFill>
                  <a:srgbClr val="10233D"/>
                </a:solidFill>
                <a:latin typeface="Helvetica Neue"/>
                <a:ea typeface="Helvetica Neue"/>
                <a:cs typeface="Helvetica Neue"/>
              </a:defRPr>
            </a:pPr>
            <a:r>
              <a:rPr sz="1200" b="0" i="0">
                <a:solidFill>
                  <a:srgbClr val="10233D"/>
                </a:solidFill>
                <a:latin typeface="Helvetica Neue"/>
                <a:ea typeface="Helvetica Neue"/>
                <a:cs typeface="Helvetica Neue"/>
              </a:rPr>
              <a:t>Group 8</a:t>
            </a:r>
          </a:p>
          <a:p xmlns:a="http://schemas.openxmlformats.org/drawingml/2006/main">
            <a:pPr algn="l">
              <a:defRPr sz="1200" b="0" i="0">
                <a:solidFill>
                  <a:srgbClr val="10233D"/>
                </a:solidFill>
                <a:latin typeface="Helvetica Neue"/>
                <a:ea typeface="Helvetica Neue"/>
                <a:cs typeface="Helvetica Neue"/>
              </a:defRPr>
            </a:pPr>
            <a:r>
              <a:rPr sz="1200" b="0" i="0">
                <a:solidFill>
                  <a:srgbClr val="10233D"/>
                </a:solidFill>
                <a:latin typeface="Helvetica Neue"/>
                <a:ea typeface="Helvetica Neue"/>
                <a:cs typeface="Helvetica Neue"/>
              </a:rPr>
              <a:t>Javen Cao — PID: [confirm]</a:t>
            </a:r>
          </a:p>
          <a:p xmlns:a="http://schemas.openxmlformats.org/drawingml/2006/main">
            <a:pPr algn="l">
              <a:defRPr sz="1200" b="0" i="0">
                <a:solidFill>
                  <a:srgbClr val="10233D"/>
                </a:solidFill>
                <a:latin typeface="Helvetica Neue"/>
                <a:ea typeface="Helvetica Neue"/>
                <a:cs typeface="Helvetica Neue"/>
              </a:defRPr>
            </a:pPr>
            <a:r>
              <a:rPr sz="1200" b="0" i="0">
                <a:solidFill>
                  <a:srgbClr val="10233D"/>
                </a:solidFill>
                <a:latin typeface="Helvetica Neue"/>
                <a:ea typeface="Helvetica Neue"/>
                <a:cs typeface="Helvetica Neue"/>
              </a:rPr>
              <a:t>Juqy Chen — PID: [confirm]</a:t>
            </a:r>
          </a:p>
        </p:txBody>
      </p:sp>
      <p:sp>
        <p:nvSpPr>
          <p:cNvPr id="10" name="">
            <a:extLst xmlns:a="http://schemas.openxmlformats.org/drawingml/2006/main">
              <a:ext uri="{FF2B5EF4-FFF2-40B4-BE49-F238E27FC236}">
                <a16:creationId xmlns:a16="http://schemas.microsoft.com/office/drawing/2014/main" id="{D2D424C9-457C-4BED-A636-00E86EC7E0AD}"/>
              </a:ext>
            </a:extLst>
          </p:cNvPr>
          <p:cNvSpPr>
            <a:spLocks xmlns:a="http://schemas.openxmlformats.org/drawingml/2006/main" noGrp="1"/>
          </p:cNvSpPr>
          <p:nvPr/>
        </p:nvSpPr>
        <p:spPr>
          <a:xfrm xmlns:a="http://schemas.openxmlformats.org/drawingml/2006/main">
            <a:off x="5238750" y="6153150"/>
            <a:ext cx="542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75" b="1" i="0">
                <a:solidFill>
                  <a:srgbClr val="10233D"/>
                </a:solidFill>
                <a:latin typeface="Helvetica Neue"/>
                <a:ea typeface="Helvetica Neue"/>
                <a:cs typeface="Helvetica Neue"/>
              </a:defRPr>
            </a:pPr>
            <a:r>
              <a:rPr sz="1275" b="1" i="0">
                <a:solidFill>
                  <a:srgbClr val="10233D"/>
                </a:solidFill>
                <a:latin typeface="Helvetica Neue"/>
                <a:ea typeface="Helvetica Neue"/>
                <a:cs typeface="Helvetica Neue"/>
              </a:rPr>
              <a:t>Quiz: tinyurl.com/cogs100-group8-quiz</a:t>
            </a:r>
          </a:p>
        </p:txBody>
      </p:sp>
    </p:spTree>
    <p:extLst>
      <p:ext uri="{BB962C8B-B14F-4D97-AF65-F5344CB8AC3E}">
        <p14:creationId xmlns:p14="http://schemas.microsoft.com/office/powerpoint/2010/main" val="726297555"/>
      </p:ext>
    </p:extLst>
  </p:cSld>
</p:sld>
</file>

<file path=ppt/slides/slide2.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86E0A86-1A84-4D56-B4A6-5172896D1DA6}"/>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926B4035-99A4-4E01-A7B9-3B85B007720E}"/>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958"/>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Humans do more than adapt — we make accounts of the world</a:t>
            </a:r>
          </a:p>
        </p:txBody>
      </p:sp>
      <p:sp>
        <p:nvSpPr>
          <p:cNvPr id="3" name="">
            <a:extLst xmlns:a="http://schemas.openxmlformats.org/drawingml/2006/main">
              <a:ext uri="{FF2B5EF4-FFF2-40B4-BE49-F238E27FC236}">
                <a16:creationId xmlns:a16="http://schemas.microsoft.com/office/drawing/2014/main" id="{ECDD8B6D-4769-47C4-BEC0-E58DB3A5854E}"/>
              </a:ext>
            </a:extLst>
          </p:cNvPr>
          <p:cNvSpPr>
            <a:spLocks xmlns:a="http://schemas.openxmlformats.org/drawingml/2006/main" noGrp="1"/>
          </p:cNvSpPr>
          <p:nvPr/>
        </p:nvSpPr>
        <p:spPr>
          <a:xfrm xmlns:a="http://schemas.openxmlformats.org/drawingml/2006/main">
            <a:off x="590550" y="1676400"/>
            <a:ext cx="4953000" cy="3143250"/>
          </a:xfrm>
          <a:prstGeom xmlns:a="http://schemas.openxmlformats.org/drawingml/2006/main" prst="rect">
            <a:avLst/>
          </a:prstGeom>
          <a:solidFill xmlns:a="http://schemas.openxmlformats.org/drawingml/2006/main">
            <a:srgbClr val="F9E5B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319ED25-C37E-4608-8D89-05E5DAA2A7F4}"/>
              </a:ext>
            </a:extLst>
          </p:cNvPr>
          <p:cNvSpPr>
            <a:spLocks xmlns:a="http://schemas.openxmlformats.org/drawingml/2006/main" noGrp="1"/>
          </p:cNvSpPr>
          <p:nvPr/>
        </p:nvSpPr>
        <p:spPr>
          <a:xfrm xmlns:a="http://schemas.openxmlformats.org/drawingml/2006/main">
            <a:off x="952500" y="203835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A86500"/>
                </a:solidFill>
                <a:latin typeface="Helvetica Neue"/>
                <a:ea typeface="Helvetica Neue"/>
                <a:cs typeface="Helvetica Neue"/>
              </a:defRPr>
            </a:pPr>
            <a:r>
              <a:rPr sz="1125" b="1" i="0">
                <a:solidFill>
                  <a:srgbClr val="A86500"/>
                </a:solidFill>
                <a:latin typeface="Helvetica Neue"/>
                <a:ea typeface="Helvetica Neue"/>
                <a:cs typeface="Helvetica Neue"/>
              </a:rPr>
              <a:t>WE ADAPT</a:t>
            </a:r>
          </a:p>
        </p:txBody>
      </p:sp>
      <p:sp>
        <p:nvSpPr>
          <p:cNvPr id="5" name="">
            <a:extLst xmlns:a="http://schemas.openxmlformats.org/drawingml/2006/main">
              <a:ext uri="{FF2B5EF4-FFF2-40B4-BE49-F238E27FC236}">
                <a16:creationId xmlns:a16="http://schemas.microsoft.com/office/drawing/2014/main" id="{1D16A6C1-F08B-4E25-B0E3-A79D07AB53D8}"/>
              </a:ext>
            </a:extLst>
          </p:cNvPr>
          <p:cNvSpPr>
            <a:spLocks xmlns:a="http://schemas.openxmlformats.org/drawingml/2006/main" noGrp="1"/>
          </p:cNvSpPr>
          <p:nvPr/>
        </p:nvSpPr>
        <p:spPr>
          <a:xfrm xmlns:a="http://schemas.openxmlformats.org/drawingml/2006/main">
            <a:off x="952500" y="2476500"/>
            <a:ext cx="33909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550" b="1" i="0">
                <a:solidFill>
                  <a:srgbClr val="10233D"/>
                </a:solidFill>
                <a:latin typeface="Helvetica Neue"/>
                <a:ea typeface="Helvetica Neue"/>
                <a:cs typeface="Helvetica Neue"/>
              </a:defRPr>
            </a:pPr>
            <a:r>
              <a:rPr sz="2550" b="1" i="0">
                <a:solidFill>
                  <a:srgbClr val="10233D"/>
                </a:solidFill>
                <a:latin typeface="Helvetica Neue"/>
                <a:ea typeface="Helvetica Neue"/>
                <a:cs typeface="Helvetica Neue"/>
              </a:rPr>
              <a:t>We act in natural</a:t>
            </a:r>
          </a:p>
          <a:p xmlns:a="http://schemas.openxmlformats.org/drawingml/2006/main">
            <a:pPr algn="l">
              <a:defRPr sz="2550" b="1" i="0">
                <a:solidFill>
                  <a:srgbClr val="10233D"/>
                </a:solidFill>
                <a:latin typeface="Helvetica Neue"/>
                <a:ea typeface="Helvetica Neue"/>
                <a:cs typeface="Helvetica Neue"/>
              </a:defRPr>
            </a:pPr>
            <a:r>
              <a:rPr sz="2550" b="1" i="0">
                <a:solidFill>
                  <a:srgbClr val="10233D"/>
                </a:solidFill>
                <a:latin typeface="Helvetica Neue"/>
                <a:ea typeface="Helvetica Neue"/>
                <a:cs typeface="Helvetica Neue"/>
              </a:rPr>
              <a:t>and social worlds.</a:t>
            </a:r>
          </a:p>
        </p:txBody>
      </p:sp>
      <p:sp>
        <p:nvSpPr>
          <p:cNvPr id="6" name="">
            <a:extLst xmlns:a="http://schemas.openxmlformats.org/drawingml/2006/main">
              <a:ext uri="{FF2B5EF4-FFF2-40B4-BE49-F238E27FC236}">
                <a16:creationId xmlns:a16="http://schemas.microsoft.com/office/drawing/2014/main" id="{4EB697FC-D909-4307-9DED-B7003AB4AB87}"/>
              </a:ext>
            </a:extLst>
          </p:cNvPr>
          <p:cNvSpPr>
            <a:spLocks xmlns:a="http://schemas.openxmlformats.org/drawingml/2006/main" noGrp="1"/>
          </p:cNvSpPr>
          <p:nvPr/>
        </p:nvSpPr>
        <p:spPr>
          <a:xfrm xmlns:a="http://schemas.openxmlformats.org/drawingml/2006/main">
            <a:off x="952500" y="3829050"/>
            <a:ext cx="342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i="0">
                <a:solidFill>
                  <a:srgbClr val="596678"/>
                </a:solidFill>
                <a:latin typeface="Helvetica Neue"/>
                <a:ea typeface="Helvetica Neue"/>
                <a:cs typeface="Helvetica Neue"/>
              </a:defRPr>
            </a:pPr>
            <a:r>
              <a:rPr sz="1500" b="0" i="0">
                <a:solidFill>
                  <a:srgbClr val="596678"/>
                </a:solidFill>
                <a:latin typeface="Helvetica Neue"/>
                <a:ea typeface="Helvetica Neue"/>
                <a:cs typeface="Helvetica Neue"/>
              </a:rPr>
              <a:t>Action helps us fit our behavior to the world around us.</a:t>
            </a:r>
          </a:p>
        </p:txBody>
      </p:sp>
      <p:sp>
        <p:nvSpPr>
          <p:cNvPr id="7" name="">
            <a:extLst xmlns:a="http://schemas.openxmlformats.org/drawingml/2006/main">
              <a:ext uri="{FF2B5EF4-FFF2-40B4-BE49-F238E27FC236}">
                <a16:creationId xmlns:a16="http://schemas.microsoft.com/office/drawing/2014/main" id="{D9AFAB41-76F2-4733-907E-5EF65C105206}"/>
              </a:ext>
            </a:extLst>
          </p:cNvPr>
          <p:cNvSpPr>
            <a:spLocks xmlns:a="http://schemas.openxmlformats.org/drawingml/2006/main" noGrp="1"/>
          </p:cNvSpPr>
          <p:nvPr/>
        </p:nvSpPr>
        <p:spPr>
          <a:xfrm xmlns:a="http://schemas.openxmlformats.org/drawingml/2006/main">
            <a:off x="6000750" y="1676400"/>
            <a:ext cx="5600700" cy="3143250"/>
          </a:xfrm>
          <a:prstGeom xmlns:a="http://schemas.openxmlformats.org/drawingml/2006/main" prst="rect">
            <a:avLst/>
          </a:prstGeom>
          <a:solidFill xmlns:a="http://schemas.openxmlformats.org/drawingml/2006/main">
            <a:srgbClr val="E4EE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32DAF67-9AEB-4180-9DE4-D5E2B7DF6080}"/>
              </a:ext>
            </a:extLst>
          </p:cNvPr>
          <p:cNvSpPr>
            <a:spLocks xmlns:a="http://schemas.openxmlformats.org/drawingml/2006/main" noGrp="1"/>
          </p:cNvSpPr>
          <p:nvPr/>
        </p:nvSpPr>
        <p:spPr>
          <a:xfrm xmlns:a="http://schemas.openxmlformats.org/drawingml/2006/main">
            <a:off x="6381750" y="2038350"/>
            <a:ext cx="2762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1F5FC9"/>
                </a:solidFill>
                <a:latin typeface="Helvetica Neue"/>
                <a:ea typeface="Helvetica Neue"/>
                <a:cs typeface="Helvetica Neue"/>
              </a:defRPr>
            </a:pPr>
            <a:r>
              <a:rPr sz="1125" b="1" i="0">
                <a:solidFill>
                  <a:srgbClr val="1F5FC9"/>
                </a:solidFill>
                <a:latin typeface="Helvetica Neue"/>
                <a:ea typeface="Helvetica Neue"/>
                <a:cs typeface="Helvetica Neue"/>
              </a:rPr>
              <a:t>WE ALSO INTERPRET</a:t>
            </a:r>
          </a:p>
        </p:txBody>
      </p:sp>
      <p:sp>
        <p:nvSpPr>
          <p:cNvPr id="9" name="">
            <a:extLst xmlns:a="http://schemas.openxmlformats.org/drawingml/2006/main">
              <a:ext uri="{FF2B5EF4-FFF2-40B4-BE49-F238E27FC236}">
                <a16:creationId xmlns:a16="http://schemas.microsoft.com/office/drawing/2014/main" id="{AA69F0B7-1B01-4118-92D3-A09EA48507C2}"/>
              </a:ext>
            </a:extLst>
          </p:cNvPr>
          <p:cNvSpPr>
            <a:spLocks xmlns:a="http://schemas.openxmlformats.org/drawingml/2006/main" noGrp="1"/>
          </p:cNvSpPr>
          <p:nvPr/>
        </p:nvSpPr>
        <p:spPr>
          <a:xfrm xmlns:a="http://schemas.openxmlformats.org/drawingml/2006/main">
            <a:off x="6381750" y="2476500"/>
            <a:ext cx="38862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550" b="1" i="0">
                <a:solidFill>
                  <a:srgbClr val="10233D"/>
                </a:solidFill>
                <a:latin typeface="Helvetica Neue"/>
                <a:ea typeface="Helvetica Neue"/>
                <a:cs typeface="Helvetica Neue"/>
              </a:defRPr>
            </a:pPr>
            <a:r>
              <a:rPr sz="2550" b="1" i="0">
                <a:solidFill>
                  <a:srgbClr val="10233D"/>
                </a:solidFill>
                <a:latin typeface="Helvetica Neue"/>
                <a:ea typeface="Helvetica Neue"/>
                <a:cs typeface="Helvetica Neue"/>
              </a:rPr>
              <a:t>We build theories</a:t>
            </a:r>
          </a:p>
          <a:p xmlns:a="http://schemas.openxmlformats.org/drawingml/2006/main">
            <a:pPr algn="l">
              <a:defRPr sz="2550" b="1" i="0">
                <a:solidFill>
                  <a:srgbClr val="10233D"/>
                </a:solidFill>
                <a:latin typeface="Helvetica Neue"/>
                <a:ea typeface="Helvetica Neue"/>
                <a:cs typeface="Helvetica Neue"/>
              </a:defRPr>
            </a:pPr>
            <a:r>
              <a:rPr sz="2550" b="1" i="0">
                <a:solidFill>
                  <a:srgbClr val="10233D"/>
                </a:solidFill>
                <a:latin typeface="Helvetica Neue"/>
                <a:ea typeface="Helvetica Neue"/>
                <a:cs typeface="Helvetica Neue"/>
              </a:rPr>
              <a:t>and stories.</a:t>
            </a:r>
          </a:p>
        </p:txBody>
      </p:sp>
      <p:sp>
        <p:nvSpPr>
          <p:cNvPr id="10" name="">
            <a:extLst xmlns:a="http://schemas.openxmlformats.org/drawingml/2006/main">
              <a:ext uri="{FF2B5EF4-FFF2-40B4-BE49-F238E27FC236}">
                <a16:creationId xmlns:a16="http://schemas.microsoft.com/office/drawing/2014/main" id="{64F5148E-143E-4238-9026-6ACF2023A448}"/>
              </a:ext>
            </a:extLst>
          </p:cNvPr>
          <p:cNvSpPr>
            <a:spLocks xmlns:a="http://schemas.openxmlformats.org/drawingml/2006/main" noGrp="1"/>
          </p:cNvSpPr>
          <p:nvPr/>
        </p:nvSpPr>
        <p:spPr>
          <a:xfrm xmlns:a="http://schemas.openxmlformats.org/drawingml/2006/main">
            <a:off x="6381750" y="3829050"/>
            <a:ext cx="4095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i="0">
                <a:solidFill>
                  <a:srgbClr val="596678"/>
                </a:solidFill>
                <a:latin typeface="Helvetica Neue"/>
                <a:ea typeface="Helvetica Neue"/>
                <a:cs typeface="Helvetica Neue"/>
              </a:defRPr>
            </a:pPr>
            <a:r>
              <a:rPr sz="1500" b="0" i="0">
                <a:solidFill>
                  <a:srgbClr val="596678"/>
                </a:solidFill>
                <a:latin typeface="Helvetica Neue"/>
                <a:ea typeface="Helvetica Neue"/>
                <a:cs typeface="Helvetica Neue"/>
              </a:rPr>
              <a:t>These help us understand and explain both the world and our own actions.</a:t>
            </a:r>
          </a:p>
        </p:txBody>
      </p:sp>
      <p:sp>
        <p:nvSpPr>
          <p:cNvPr id="11" name="">
            <a:extLst xmlns:a="http://schemas.openxmlformats.org/drawingml/2006/main">
              <a:ext uri="{FF2B5EF4-FFF2-40B4-BE49-F238E27FC236}">
                <a16:creationId xmlns:a16="http://schemas.microsoft.com/office/drawing/2014/main" id="{32868B3C-87E9-4145-9EAD-F71D32E36EBB}"/>
              </a:ext>
            </a:extLst>
          </p:cNvPr>
          <p:cNvSpPr>
            <a:spLocks xmlns:a="http://schemas.openxmlformats.org/drawingml/2006/main" noGrp="1"/>
          </p:cNvSpPr>
          <p:nvPr/>
        </p:nvSpPr>
        <p:spPr>
          <a:xfrm xmlns:a="http://schemas.openxmlformats.org/drawingml/2006/main">
            <a:off x="590550" y="5381625"/>
            <a:ext cx="904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i="1">
                <a:solidFill>
                  <a:srgbClr val="10233D"/>
                </a:solidFill>
                <a:latin typeface="Helvetica Neue"/>
                <a:ea typeface="Helvetica Neue"/>
                <a:cs typeface="Helvetica Neue"/>
              </a:defRPr>
            </a:pPr>
            <a:r>
              <a:rPr sz="1650" b="0" i="1">
                <a:solidFill>
                  <a:srgbClr val="10233D"/>
                </a:solidFill>
                <a:latin typeface="Helvetica Neue"/>
                <a:ea typeface="Helvetica Neue"/>
                <a:cs typeface="Helvetica Neue"/>
              </a:rPr>
              <a:t>Bruner’s paper asks how development makes this second capacity possible.</a:t>
            </a:r>
          </a:p>
        </p:txBody>
      </p:sp>
      <p:sp>
        <p:nvSpPr>
          <p:cNvPr id="12" name="">
            <a:extLst xmlns:a="http://schemas.openxmlformats.org/drawingml/2006/main">
              <a:ext uri="{FF2B5EF4-FFF2-40B4-BE49-F238E27FC236}">
                <a16:creationId xmlns:a16="http://schemas.microsoft.com/office/drawing/2014/main" id="{0F106E1D-6ACF-42BC-B91D-A6A006DCECCF}"/>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B37A6169-289E-456D-9554-7B49B425D7AA}"/>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 64. Slide wording is paraphrased.</a:t>
            </a:r>
          </a:p>
        </p:txBody>
      </p:sp>
      <p:sp>
        <p:nvSpPr>
          <p:cNvPr id="14" name="">
            <a:extLst xmlns:a="http://schemas.openxmlformats.org/drawingml/2006/main">
              <a:ext uri="{FF2B5EF4-FFF2-40B4-BE49-F238E27FC236}">
                <a16:creationId xmlns:a16="http://schemas.microsoft.com/office/drawing/2014/main" id="{1352C2C7-67E9-40F0-B3AF-1C724E58E3FA}"/>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02</a:t>
            </a:r>
          </a:p>
        </p:txBody>
      </p:sp>
    </p:spTree>
    <p:extLst>
      <p:ext uri="{BB962C8B-B14F-4D97-AF65-F5344CB8AC3E}">
        <p14:creationId xmlns:p14="http://schemas.microsoft.com/office/powerpoint/2010/main" val="1219638296"/>
      </p:ext>
    </p:extLst>
  </p:cSld>
</p:sld>
</file>

<file path=ppt/slides/slide3.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12F6F83-94A5-4865-8A14-18A415033383}"/>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1D5F9C4F-6B18-49FB-9C7D-F921D46902D4}"/>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Piaget and Vygotsky answer the same question differently</a:t>
            </a:r>
          </a:p>
        </p:txBody>
      </p:sp>
      <p:sp>
        <p:nvSpPr>
          <p:cNvPr id="3" name="">
            <a:extLst xmlns:a="http://schemas.openxmlformats.org/drawingml/2006/main">
              <a:ext uri="{FF2B5EF4-FFF2-40B4-BE49-F238E27FC236}">
                <a16:creationId xmlns:a16="http://schemas.microsoft.com/office/drawing/2014/main" id="{F3880E42-E4F4-437E-80CC-C6A7C085CF9C}"/>
              </a:ext>
            </a:extLst>
          </p:cNvPr>
          <p:cNvSpPr>
            <a:spLocks xmlns:a="http://schemas.openxmlformats.org/drawingml/2006/main" noGrp="1"/>
          </p:cNvSpPr>
          <p:nvPr/>
        </p:nvSpPr>
        <p:spPr>
          <a:xfrm xmlns:a="http://schemas.openxmlformats.org/drawingml/2006/main">
            <a:off x="590550" y="1352550"/>
            <a:ext cx="1047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i="0">
                <a:solidFill>
                  <a:srgbClr val="596678"/>
                </a:solidFill>
                <a:latin typeface="Helvetica Neue"/>
                <a:ea typeface="Helvetica Neue"/>
                <a:cs typeface="Helvetica Neue"/>
              </a:defRPr>
            </a:pPr>
            <a:r>
              <a:rPr sz="1650" b="0" i="0">
                <a:solidFill>
                  <a:srgbClr val="596678"/>
                </a:solidFill>
                <a:latin typeface="Helvetica Neue"/>
                <a:ea typeface="Helvetica Neue"/>
                <a:cs typeface="Helvetica Neue"/>
              </a:rPr>
              <a:t>Shared premise: the mind mediates between the external world and individual experience.</a:t>
            </a:r>
          </a:p>
        </p:txBody>
      </p:sp>
      <p:sp>
        <p:nvSpPr>
          <p:cNvPr id="4" name="">
            <a:extLst xmlns:a="http://schemas.openxmlformats.org/drawingml/2006/main">
              <a:ext uri="{FF2B5EF4-FFF2-40B4-BE49-F238E27FC236}">
                <a16:creationId xmlns:a16="http://schemas.microsoft.com/office/drawing/2014/main" id="{C96BCC8B-7938-4739-8DD2-2F7F92C83666}"/>
              </a:ext>
            </a:extLst>
          </p:cNvPr>
          <p:cNvSpPr>
            <a:spLocks xmlns:a="http://schemas.openxmlformats.org/drawingml/2006/main" noGrp="1"/>
          </p:cNvSpPr>
          <p:nvPr/>
        </p:nvSpPr>
        <p:spPr>
          <a:xfrm xmlns:a="http://schemas.openxmlformats.org/drawingml/2006/main">
            <a:off x="590550" y="2152650"/>
            <a:ext cx="5048250" cy="2724150"/>
          </a:xfrm>
          <a:prstGeom xmlns:a="http://schemas.openxmlformats.org/drawingml/2006/main" prst="rect">
            <a:avLst/>
          </a:prstGeom>
          <a:solidFill xmlns:a="http://schemas.openxmlformats.org/drawingml/2006/main">
            <a:srgbClr val="E4EEFF"/>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8022EA95-B5E9-4C83-A1D2-FEB7BB78B5AF}"/>
              </a:ext>
            </a:extLst>
          </p:cNvPr>
          <p:cNvSpPr>
            <a:spLocks xmlns:a="http://schemas.openxmlformats.org/drawingml/2006/main" noGrp="1"/>
          </p:cNvSpPr>
          <p:nvPr/>
        </p:nvSpPr>
        <p:spPr>
          <a:xfrm xmlns:a="http://schemas.openxmlformats.org/drawingml/2006/main">
            <a:off x="971550" y="253365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1F5FC9"/>
                </a:solidFill>
                <a:latin typeface="Helvetica Neue"/>
                <a:ea typeface="Helvetica Neue"/>
                <a:cs typeface="Helvetica Neue"/>
              </a:defRPr>
            </a:pPr>
            <a:r>
              <a:rPr sz="1125" b="1" i="0">
                <a:solidFill>
                  <a:srgbClr val="1F5FC9"/>
                </a:solidFill>
                <a:latin typeface="Helvetica Neue"/>
                <a:ea typeface="Helvetica Neue"/>
                <a:cs typeface="Helvetica Neue"/>
              </a:rPr>
              <a:t>PIAGET</a:t>
            </a:r>
          </a:p>
        </p:txBody>
      </p:sp>
      <p:sp>
        <p:nvSpPr>
          <p:cNvPr id="6" name="">
            <a:extLst xmlns:a="http://schemas.openxmlformats.org/drawingml/2006/main">
              <a:ext uri="{FF2B5EF4-FFF2-40B4-BE49-F238E27FC236}">
                <a16:creationId xmlns:a16="http://schemas.microsoft.com/office/drawing/2014/main" id="{E4D64EC4-A78A-4EC6-80D9-255988E13F6C}"/>
              </a:ext>
            </a:extLst>
          </p:cNvPr>
          <p:cNvSpPr>
            <a:spLocks xmlns:a="http://schemas.openxmlformats.org/drawingml/2006/main" noGrp="1"/>
          </p:cNvSpPr>
          <p:nvPr/>
        </p:nvSpPr>
        <p:spPr>
          <a:xfrm xmlns:a="http://schemas.openxmlformats.org/drawingml/2006/main">
            <a:off x="971550" y="2971800"/>
            <a:ext cx="3429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8642"/>
          </a:bodyPr>
          <a:lstStyle xmlns:a="http://schemas.openxmlformats.org/drawingml/2006/main"/>
          <a:p xmlns:a="http://schemas.openxmlformats.org/drawingml/2006/main">
            <a:pPr algn="l">
              <a:defRPr sz="2250" b="1" i="0">
                <a:solidFill>
                  <a:srgbClr val="10233D"/>
                </a:solidFill>
                <a:latin typeface="Helvetica Neue"/>
                <a:ea typeface="Helvetica Neue"/>
                <a:cs typeface="Helvetica Neue"/>
              </a:defRPr>
            </a:pPr>
            <a:r>
              <a:rPr sz="2250" b="1" i="0">
                <a:solidFill>
                  <a:srgbClr val="10233D"/>
                </a:solidFill>
                <a:latin typeface="Helvetica Neue"/>
                <a:ea typeface="Helvetica Neue"/>
                <a:cs typeface="Helvetica Neue"/>
              </a:rPr>
              <a:t>His key insight: logic-like operations organize knowledge.</a:t>
            </a:r>
          </a:p>
        </p:txBody>
      </p:sp>
      <p:sp>
        <p:nvSpPr>
          <p:cNvPr id="7" name="">
            <a:extLst xmlns:a="http://schemas.openxmlformats.org/drawingml/2006/main">
              <a:ext uri="{FF2B5EF4-FFF2-40B4-BE49-F238E27FC236}">
                <a16:creationId xmlns:a16="http://schemas.microsoft.com/office/drawing/2014/main" id="{3E60071F-43A4-49A2-AAD7-7F1A571300C1}"/>
              </a:ext>
            </a:extLst>
          </p:cNvPr>
          <p:cNvSpPr>
            <a:spLocks xmlns:a="http://schemas.openxmlformats.org/drawingml/2006/main" noGrp="1"/>
          </p:cNvSpPr>
          <p:nvPr/>
        </p:nvSpPr>
        <p:spPr>
          <a:xfrm xmlns:a="http://schemas.openxmlformats.org/drawingml/2006/main">
            <a:off x="971550" y="4095750"/>
            <a:ext cx="35433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i="0">
                <a:solidFill>
                  <a:srgbClr val="596678"/>
                </a:solidFill>
                <a:latin typeface="Helvetica Neue"/>
                <a:ea typeface="Helvetica Neue"/>
                <a:cs typeface="Helvetica Neue"/>
              </a:defRPr>
            </a:pPr>
            <a:r>
              <a:rPr sz="1500" b="0" i="0">
                <a:solidFill>
                  <a:srgbClr val="596678"/>
                </a:solidFill>
                <a:latin typeface="Helvetica Neue"/>
                <a:ea typeface="Helvetica Neue"/>
                <a:cs typeface="Helvetica Neue"/>
              </a:rPr>
              <a:t>Development is the growth of more powerful structures of thought.</a:t>
            </a:r>
          </a:p>
        </p:txBody>
      </p:sp>
      <p:sp>
        <p:nvSpPr>
          <p:cNvPr id="8" name="">
            <a:extLst xmlns:a="http://schemas.openxmlformats.org/drawingml/2006/main">
              <a:ext uri="{FF2B5EF4-FFF2-40B4-BE49-F238E27FC236}">
                <a16:creationId xmlns:a16="http://schemas.microsoft.com/office/drawing/2014/main" id="{1F550B08-B6D1-4082-81DE-73F628C0CBB5}"/>
              </a:ext>
            </a:extLst>
          </p:cNvPr>
          <p:cNvSpPr>
            <a:spLocks xmlns:a="http://schemas.openxmlformats.org/drawingml/2006/main" noGrp="1"/>
          </p:cNvSpPr>
          <p:nvPr/>
        </p:nvSpPr>
        <p:spPr>
          <a:xfrm xmlns:a="http://schemas.openxmlformats.org/drawingml/2006/main">
            <a:off x="6553200" y="2152650"/>
            <a:ext cx="5048250" cy="2724150"/>
          </a:xfrm>
          <a:prstGeom xmlns:a="http://schemas.openxmlformats.org/drawingml/2006/main" prst="rect">
            <a:avLst/>
          </a:prstGeom>
          <a:solidFill xmlns:a="http://schemas.openxmlformats.org/drawingml/2006/main">
            <a:srgbClr val="F9E2D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C1DB32E3-5222-436F-8641-9628047D35F3}"/>
              </a:ext>
            </a:extLst>
          </p:cNvPr>
          <p:cNvSpPr>
            <a:spLocks xmlns:a="http://schemas.openxmlformats.org/drawingml/2006/main" noGrp="1"/>
          </p:cNvSpPr>
          <p:nvPr/>
        </p:nvSpPr>
        <p:spPr>
          <a:xfrm xmlns:a="http://schemas.openxmlformats.org/drawingml/2006/main">
            <a:off x="6934200" y="253365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B44D3A"/>
                </a:solidFill>
                <a:latin typeface="Helvetica Neue"/>
                <a:ea typeface="Helvetica Neue"/>
                <a:cs typeface="Helvetica Neue"/>
              </a:defRPr>
            </a:pPr>
            <a:r>
              <a:rPr sz="1125" b="1" i="0">
                <a:solidFill>
                  <a:srgbClr val="B44D3A"/>
                </a:solidFill>
                <a:latin typeface="Helvetica Neue"/>
                <a:ea typeface="Helvetica Neue"/>
                <a:cs typeface="Helvetica Neue"/>
              </a:rPr>
              <a:t>VYGOTSKY</a:t>
            </a:r>
          </a:p>
        </p:txBody>
      </p:sp>
      <p:sp>
        <p:nvSpPr>
          <p:cNvPr id="10" name="">
            <a:extLst xmlns:a="http://schemas.openxmlformats.org/drawingml/2006/main">
              <a:ext uri="{FF2B5EF4-FFF2-40B4-BE49-F238E27FC236}">
                <a16:creationId xmlns:a16="http://schemas.microsoft.com/office/drawing/2014/main" id="{F38D15C1-7E2D-470A-A36E-CFEC904CDBFC}"/>
              </a:ext>
            </a:extLst>
          </p:cNvPr>
          <p:cNvSpPr>
            <a:spLocks xmlns:a="http://schemas.openxmlformats.org/drawingml/2006/main" noGrp="1"/>
          </p:cNvSpPr>
          <p:nvPr/>
        </p:nvSpPr>
        <p:spPr>
          <a:xfrm xmlns:a="http://schemas.openxmlformats.org/drawingml/2006/main">
            <a:off x="6934200" y="2971800"/>
            <a:ext cx="3524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868"/>
          </a:bodyPr>
          <a:lstStyle xmlns:a="http://schemas.openxmlformats.org/drawingml/2006/main"/>
          <a:p xmlns:a="http://schemas.openxmlformats.org/drawingml/2006/main">
            <a:pPr algn="l">
              <a:defRPr sz="2250" b="1" i="0">
                <a:solidFill>
                  <a:srgbClr val="10233D"/>
                </a:solidFill>
                <a:latin typeface="Helvetica Neue"/>
                <a:ea typeface="Helvetica Neue"/>
                <a:cs typeface="Helvetica Neue"/>
              </a:defRPr>
            </a:pPr>
            <a:r>
              <a:rPr sz="2250" b="1" i="0">
                <a:solidFill>
                  <a:srgbClr val="10233D"/>
                </a:solidFill>
                <a:latin typeface="Helvetica Neue"/>
                <a:ea typeface="Helvetica Neue"/>
                <a:cs typeface="Helvetica Neue"/>
              </a:rPr>
              <a:t>His key insight: culture and history become tools of mind.</a:t>
            </a:r>
          </a:p>
        </p:txBody>
      </p:sp>
      <p:sp>
        <p:nvSpPr>
          <p:cNvPr id="11" name="">
            <a:extLst xmlns:a="http://schemas.openxmlformats.org/drawingml/2006/main">
              <a:ext uri="{FF2B5EF4-FFF2-40B4-BE49-F238E27FC236}">
                <a16:creationId xmlns:a16="http://schemas.microsoft.com/office/drawing/2014/main" id="{0382908C-215F-404F-9C12-05E9D36E2488}"/>
              </a:ext>
            </a:extLst>
          </p:cNvPr>
          <p:cNvSpPr>
            <a:spLocks xmlns:a="http://schemas.openxmlformats.org/drawingml/2006/main" noGrp="1"/>
          </p:cNvSpPr>
          <p:nvPr/>
        </p:nvSpPr>
        <p:spPr>
          <a:xfrm xmlns:a="http://schemas.openxmlformats.org/drawingml/2006/main">
            <a:off x="6934200" y="4095750"/>
            <a:ext cx="3714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i="0">
                <a:solidFill>
                  <a:srgbClr val="596678"/>
                </a:solidFill>
                <a:latin typeface="Helvetica Neue"/>
                <a:ea typeface="Helvetica Neue"/>
                <a:cs typeface="Helvetica Neue"/>
              </a:defRPr>
            </a:pPr>
            <a:r>
              <a:rPr sz="1500" b="0" i="0">
                <a:solidFill>
                  <a:srgbClr val="596678"/>
                </a:solidFill>
                <a:latin typeface="Helvetica Neue"/>
                <a:ea typeface="Helvetica Neue"/>
                <a:cs typeface="Helvetica Neue"/>
              </a:rPr>
              <a:t>Development is the mastery of culturally embodied symbolic systems.</a:t>
            </a:r>
          </a:p>
        </p:txBody>
      </p:sp>
      <p:sp>
        <p:nvSpPr>
          <p:cNvPr id="12" name="">
            <a:extLst xmlns:a="http://schemas.openxmlformats.org/drawingml/2006/main">
              <a:ext uri="{FF2B5EF4-FFF2-40B4-BE49-F238E27FC236}">
                <a16:creationId xmlns:a16="http://schemas.microsoft.com/office/drawing/2014/main" id="{1ABDC7F3-F0F0-4BEC-82FF-6BB09FE00F74}"/>
              </a:ext>
            </a:extLst>
          </p:cNvPr>
          <p:cNvSpPr>
            <a:spLocks xmlns:a="http://schemas.openxmlformats.org/drawingml/2006/main" noGrp="1"/>
          </p:cNvSpPr>
          <p:nvPr/>
        </p:nvSpPr>
        <p:spPr>
          <a:xfrm xmlns:a="http://schemas.openxmlformats.org/drawingml/2006/main">
            <a:off x="590550" y="5372100"/>
            <a:ext cx="1066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i="1">
                <a:solidFill>
                  <a:srgbClr val="10233D"/>
                </a:solidFill>
                <a:latin typeface="Helvetica Neue"/>
                <a:ea typeface="Helvetica Neue"/>
                <a:cs typeface="Helvetica Neue"/>
              </a:defRPr>
            </a:pPr>
            <a:r>
              <a:rPr sz="1650" b="0" i="1">
                <a:solidFill>
                  <a:srgbClr val="10233D"/>
                </a:solidFill>
                <a:latin typeface="Helvetica Neue"/>
                <a:ea typeface="Helvetica Neue"/>
                <a:cs typeface="Helvetica Neue"/>
              </a:rPr>
              <a:t>The disagreement is productive: it reveals two ways of studying development.</a:t>
            </a:r>
          </a:p>
        </p:txBody>
      </p:sp>
      <p:sp>
        <p:nvSpPr>
          <p:cNvPr id="13" name="">
            <a:extLst xmlns:a="http://schemas.openxmlformats.org/drawingml/2006/main">
              <a:ext uri="{FF2B5EF4-FFF2-40B4-BE49-F238E27FC236}">
                <a16:creationId xmlns:a16="http://schemas.microsoft.com/office/drawing/2014/main" id="{5A4AF6C4-48CC-4B95-8483-D4B5EE5FD4BF}"/>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6816013-8231-4D97-9EF4-8828616E0393}"/>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pp. 65, 68, 70–72. Slide wording is paraphrased.</a:t>
            </a:r>
          </a:p>
        </p:txBody>
      </p:sp>
      <p:sp>
        <p:nvSpPr>
          <p:cNvPr id="15" name="">
            <a:extLst xmlns:a="http://schemas.openxmlformats.org/drawingml/2006/main">
              <a:ext uri="{FF2B5EF4-FFF2-40B4-BE49-F238E27FC236}">
                <a16:creationId xmlns:a16="http://schemas.microsoft.com/office/drawing/2014/main" id="{051A09C4-2F85-43D0-8CD6-BF8F69754588}"/>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03</a:t>
            </a:r>
          </a:p>
        </p:txBody>
      </p:sp>
    </p:spTree>
    <p:extLst>
      <p:ext uri="{BB962C8B-B14F-4D97-AF65-F5344CB8AC3E}">
        <p14:creationId xmlns:p14="http://schemas.microsoft.com/office/powerpoint/2010/main" val="1465719155"/>
      </p:ext>
    </p:extLst>
  </p:cSld>
</p:sld>
</file>

<file path=ppt/slides/slide4.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C930583D-444E-4BAF-853F-DF5E4725E2B2}"/>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F8D1DA91-D766-40DE-BBB2-C93DB5EFFA40}"/>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047"/>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For Piaget, the mind organizes experience through logic-like operations</a:t>
            </a:r>
          </a:p>
        </p:txBody>
      </p:sp>
      <p:sp>
        <p:nvSpPr>
          <p:cNvPr id="3" name="">
            <a:extLst xmlns:a="http://schemas.openxmlformats.org/drawingml/2006/main">
              <a:ext uri="{FF2B5EF4-FFF2-40B4-BE49-F238E27FC236}">
                <a16:creationId xmlns:a16="http://schemas.microsoft.com/office/drawing/2014/main" id="{EE3A39F7-6F56-44AE-A4A3-0A95D62469CD}"/>
              </a:ext>
            </a:extLst>
          </p:cNvPr>
          <p:cNvSpPr>
            <a:spLocks xmlns:a="http://schemas.openxmlformats.org/drawingml/2006/main" noGrp="1"/>
          </p:cNvSpPr>
          <p:nvPr/>
        </p:nvSpPr>
        <p:spPr>
          <a:xfrm xmlns:a="http://schemas.openxmlformats.org/drawingml/2006/main">
            <a:off x="590550" y="1809750"/>
            <a:ext cx="2609850" cy="1619250"/>
          </a:xfrm>
          <a:prstGeom xmlns:a="http://schemas.openxmlformats.org/drawingml/2006/main" prst="rect">
            <a:avLst/>
          </a:prstGeom>
          <a:solidFill xmlns:a="http://schemas.openxmlformats.org/drawingml/2006/main">
            <a:srgbClr val="F2E8D9"/>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EC31A5D-11A0-406E-B3C2-950863AFFB6B}"/>
              </a:ext>
            </a:extLst>
          </p:cNvPr>
          <p:cNvSpPr>
            <a:spLocks xmlns:a="http://schemas.openxmlformats.org/drawingml/2006/main" noGrp="1"/>
          </p:cNvSpPr>
          <p:nvPr/>
        </p:nvSpPr>
        <p:spPr>
          <a:xfrm xmlns:a="http://schemas.openxmlformats.org/drawingml/2006/main">
            <a:off x="876300" y="215265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125" b="1" i="0">
                <a:solidFill>
                  <a:srgbClr val="596678"/>
                </a:solidFill>
                <a:latin typeface="Helvetica Neue"/>
                <a:ea typeface="Helvetica Neue"/>
                <a:cs typeface="Helvetica Neue"/>
              </a:defRPr>
            </a:pPr>
            <a:r>
              <a:rPr sz="1125" b="1" i="0">
                <a:solidFill>
                  <a:srgbClr val="596678"/>
                </a:solidFill>
                <a:latin typeface="Helvetica Neue"/>
                <a:ea typeface="Helvetica Neue"/>
                <a:cs typeface="Helvetica Neue"/>
              </a:rPr>
              <a:t>WORLD + ACTION</a:t>
            </a:r>
          </a:p>
        </p:txBody>
      </p:sp>
      <p:sp>
        <p:nvSpPr>
          <p:cNvPr id="5" name="">
            <a:extLst xmlns:a="http://schemas.openxmlformats.org/drawingml/2006/main">
              <a:ext uri="{FF2B5EF4-FFF2-40B4-BE49-F238E27FC236}">
                <a16:creationId xmlns:a16="http://schemas.microsoft.com/office/drawing/2014/main" id="{03367722-B820-4007-9A11-BA617CCE13B4}"/>
              </a:ext>
            </a:extLst>
          </p:cNvPr>
          <p:cNvSpPr>
            <a:spLocks xmlns:a="http://schemas.openxmlformats.org/drawingml/2006/main" noGrp="1"/>
          </p:cNvSpPr>
          <p:nvPr/>
        </p:nvSpPr>
        <p:spPr>
          <a:xfrm xmlns:a="http://schemas.openxmlformats.org/drawingml/2006/main">
            <a:off x="857250" y="2571750"/>
            <a:ext cx="2095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2025" b="1" i="0">
                <a:solidFill>
                  <a:srgbClr val="10233D"/>
                </a:solidFill>
                <a:latin typeface="Helvetica Neue"/>
                <a:ea typeface="Helvetica Neue"/>
                <a:cs typeface="Helvetica Neue"/>
              </a:defRPr>
            </a:pPr>
            <a:r>
              <a:rPr sz="2025" b="1" i="0">
                <a:solidFill>
                  <a:srgbClr val="10233D"/>
                </a:solidFill>
                <a:latin typeface="Helvetica Neue"/>
                <a:ea typeface="Helvetica Neue"/>
                <a:cs typeface="Helvetica Neue"/>
              </a:rPr>
              <a:t>What happens</a:t>
            </a:r>
          </a:p>
          <a:p xmlns:a="http://schemas.openxmlformats.org/drawingml/2006/main">
            <a:pPr algn="ctr">
              <a:defRPr sz="2025" b="1" i="0">
                <a:solidFill>
                  <a:srgbClr val="10233D"/>
                </a:solidFill>
                <a:latin typeface="Helvetica Neue"/>
                <a:ea typeface="Helvetica Neue"/>
                <a:cs typeface="Helvetica Neue"/>
              </a:defRPr>
            </a:pPr>
            <a:r>
              <a:rPr sz="2025" b="1" i="0">
                <a:solidFill>
                  <a:srgbClr val="10233D"/>
                </a:solidFill>
                <a:latin typeface="Helvetica Neue"/>
                <a:ea typeface="Helvetica Neue"/>
                <a:cs typeface="Helvetica Neue"/>
              </a:rPr>
              <a:t>out there</a:t>
            </a:r>
          </a:p>
        </p:txBody>
      </p:sp>
      <p:sp>
        <p:nvSpPr>
          <p:cNvPr id="6" name="">
            <a:extLst xmlns:a="http://schemas.openxmlformats.org/drawingml/2006/main">
              <a:ext uri="{FF2B5EF4-FFF2-40B4-BE49-F238E27FC236}">
                <a16:creationId xmlns:a16="http://schemas.microsoft.com/office/drawing/2014/main" id="{D9A93F63-9BEE-415D-AB97-31E778457411}"/>
              </a:ext>
            </a:extLst>
          </p:cNvPr>
          <p:cNvSpPr>
            <a:spLocks xmlns:a="http://schemas.openxmlformats.org/drawingml/2006/main" noGrp="1"/>
          </p:cNvSpPr>
          <p:nvPr/>
        </p:nvSpPr>
        <p:spPr>
          <a:xfrm xmlns:a="http://schemas.openxmlformats.org/drawingml/2006/main">
            <a:off x="3409950" y="2276475"/>
            <a:ext cx="7429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3900" b="1" i="0">
                <a:solidFill>
                  <a:srgbClr val="1F5FC9"/>
                </a:solidFill>
                <a:latin typeface="Helvetica Neue"/>
                <a:ea typeface="Helvetica Neue"/>
                <a:cs typeface="Helvetica Neue"/>
              </a:defRPr>
            </a:pPr>
            <a:r>
              <a:rPr sz="3900" b="1" i="0">
                <a:solidFill>
                  <a:srgbClr val="1F5FC9"/>
                </a:solidFill>
                <a:latin typeface="Helvetica Neue"/>
                <a:ea typeface="Helvetica Neue"/>
                <a:cs typeface="Helvetica Neue"/>
              </a:rPr>
              <a:t>→</a:t>
            </a:r>
          </a:p>
        </p:txBody>
      </p:sp>
      <p:sp>
        <p:nvSpPr>
          <p:cNvPr id="7" name="">
            <a:extLst xmlns:a="http://schemas.openxmlformats.org/drawingml/2006/main">
              <a:ext uri="{FF2B5EF4-FFF2-40B4-BE49-F238E27FC236}">
                <a16:creationId xmlns:a16="http://schemas.microsoft.com/office/drawing/2014/main" id="{90D3FC3D-CAD6-4C3F-8D89-56A23F300A6F}"/>
              </a:ext>
            </a:extLst>
          </p:cNvPr>
          <p:cNvSpPr>
            <a:spLocks xmlns:a="http://schemas.openxmlformats.org/drawingml/2006/main" noGrp="1"/>
          </p:cNvSpPr>
          <p:nvPr/>
        </p:nvSpPr>
        <p:spPr>
          <a:xfrm xmlns:a="http://schemas.openxmlformats.org/drawingml/2006/main">
            <a:off x="4457700" y="1809750"/>
            <a:ext cx="3257550" cy="1619250"/>
          </a:xfrm>
          <a:prstGeom xmlns:a="http://schemas.openxmlformats.org/drawingml/2006/main" prst="rect">
            <a:avLst/>
          </a:prstGeom>
          <a:solidFill xmlns:a="http://schemas.openxmlformats.org/drawingml/2006/main">
            <a:srgbClr val="E4EE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3AA42D3-736F-4B65-8418-F574BFED6E7D}"/>
              </a:ext>
            </a:extLst>
          </p:cNvPr>
          <p:cNvSpPr>
            <a:spLocks xmlns:a="http://schemas.openxmlformats.org/drawingml/2006/main" noGrp="1"/>
          </p:cNvSpPr>
          <p:nvPr/>
        </p:nvSpPr>
        <p:spPr>
          <a:xfrm xmlns:a="http://schemas.openxmlformats.org/drawingml/2006/main">
            <a:off x="4800600" y="2152650"/>
            <a:ext cx="2571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125" b="1" i="0">
                <a:solidFill>
                  <a:srgbClr val="1F5FC9"/>
                </a:solidFill>
                <a:latin typeface="Helvetica Neue"/>
                <a:ea typeface="Helvetica Neue"/>
                <a:cs typeface="Helvetica Neue"/>
              </a:defRPr>
            </a:pPr>
            <a:r>
              <a:rPr sz="1125" b="1" i="0">
                <a:solidFill>
                  <a:srgbClr val="1F5FC9"/>
                </a:solidFill>
                <a:latin typeface="Helvetica Neue"/>
                <a:ea typeface="Helvetica Neue"/>
                <a:cs typeface="Helvetica Neue"/>
              </a:rPr>
              <a:t>MENTAL OPERATIONS</a:t>
            </a:r>
          </a:p>
        </p:txBody>
      </p:sp>
      <p:sp>
        <p:nvSpPr>
          <p:cNvPr id="9" name="">
            <a:extLst xmlns:a="http://schemas.openxmlformats.org/drawingml/2006/main">
              <a:ext uri="{FF2B5EF4-FFF2-40B4-BE49-F238E27FC236}">
                <a16:creationId xmlns:a16="http://schemas.microsoft.com/office/drawing/2014/main" id="{F4443F4E-B4EE-4B76-8DF3-F544FD2D7456}"/>
              </a:ext>
            </a:extLst>
          </p:cNvPr>
          <p:cNvSpPr>
            <a:spLocks xmlns:a="http://schemas.openxmlformats.org/drawingml/2006/main" noGrp="1"/>
          </p:cNvSpPr>
          <p:nvPr/>
        </p:nvSpPr>
        <p:spPr>
          <a:xfrm xmlns:a="http://schemas.openxmlformats.org/drawingml/2006/main">
            <a:off x="4791075" y="2571750"/>
            <a:ext cx="259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2025" b="1" i="0">
                <a:solidFill>
                  <a:srgbClr val="10233D"/>
                </a:solidFill>
                <a:latin typeface="Helvetica Neue"/>
                <a:ea typeface="Helvetica Neue"/>
                <a:cs typeface="Helvetica Neue"/>
              </a:defRPr>
            </a:pPr>
            <a:r>
              <a:rPr sz="2025" b="1" i="0">
                <a:solidFill>
                  <a:srgbClr val="10233D"/>
                </a:solidFill>
                <a:latin typeface="Helvetica Neue"/>
                <a:ea typeface="Helvetica Neue"/>
                <a:cs typeface="Helvetica Neue"/>
              </a:rPr>
              <a:t>A structured</a:t>
            </a:r>
          </a:p>
          <a:p xmlns:a="http://schemas.openxmlformats.org/drawingml/2006/main">
            <a:pPr algn="ctr">
              <a:defRPr sz="2025" b="1" i="0">
                <a:solidFill>
                  <a:srgbClr val="10233D"/>
                </a:solidFill>
                <a:latin typeface="Helvetica Neue"/>
                <a:ea typeface="Helvetica Neue"/>
                <a:cs typeface="Helvetica Neue"/>
              </a:defRPr>
            </a:pPr>
            <a:r>
              <a:rPr sz="2025" b="1" i="0">
                <a:solidFill>
                  <a:srgbClr val="10233D"/>
                </a:solidFill>
                <a:latin typeface="Helvetica Neue"/>
                <a:ea typeface="Helvetica Neue"/>
                <a:cs typeface="Helvetica Neue"/>
              </a:rPr>
              <a:t>mental calculus</a:t>
            </a:r>
          </a:p>
        </p:txBody>
      </p:sp>
      <p:sp>
        <p:nvSpPr>
          <p:cNvPr id="10" name="">
            <a:extLst xmlns:a="http://schemas.openxmlformats.org/drawingml/2006/main">
              <a:ext uri="{FF2B5EF4-FFF2-40B4-BE49-F238E27FC236}">
                <a16:creationId xmlns:a16="http://schemas.microsoft.com/office/drawing/2014/main" id="{60A36CF9-B255-4B6D-AB59-2BF0FDBB0391}"/>
              </a:ext>
            </a:extLst>
          </p:cNvPr>
          <p:cNvSpPr>
            <a:spLocks xmlns:a="http://schemas.openxmlformats.org/drawingml/2006/main" noGrp="1"/>
          </p:cNvSpPr>
          <p:nvPr/>
        </p:nvSpPr>
        <p:spPr>
          <a:xfrm xmlns:a="http://schemas.openxmlformats.org/drawingml/2006/main">
            <a:off x="8153400" y="2276475"/>
            <a:ext cx="7429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3900" b="1" i="0">
                <a:solidFill>
                  <a:srgbClr val="1F5FC9"/>
                </a:solidFill>
                <a:latin typeface="Helvetica Neue"/>
                <a:ea typeface="Helvetica Neue"/>
                <a:cs typeface="Helvetica Neue"/>
              </a:defRPr>
            </a:pPr>
            <a:r>
              <a:rPr sz="3900" b="1" i="0">
                <a:solidFill>
                  <a:srgbClr val="1F5FC9"/>
                </a:solidFill>
                <a:latin typeface="Helvetica Neue"/>
                <a:ea typeface="Helvetica Neue"/>
                <a:cs typeface="Helvetica Neue"/>
              </a:rPr>
              <a:t>→</a:t>
            </a:r>
          </a:p>
        </p:txBody>
      </p:sp>
      <p:sp>
        <p:nvSpPr>
          <p:cNvPr id="11" name="">
            <a:extLst xmlns:a="http://schemas.openxmlformats.org/drawingml/2006/main">
              <a:ext uri="{FF2B5EF4-FFF2-40B4-BE49-F238E27FC236}">
                <a16:creationId xmlns:a16="http://schemas.microsoft.com/office/drawing/2014/main" id="{A8AE5E5A-8769-4E03-866A-AE543EDC5DF7}"/>
              </a:ext>
            </a:extLst>
          </p:cNvPr>
          <p:cNvSpPr>
            <a:spLocks xmlns:a="http://schemas.openxmlformats.org/drawingml/2006/main" noGrp="1"/>
          </p:cNvSpPr>
          <p:nvPr/>
        </p:nvSpPr>
        <p:spPr>
          <a:xfrm xmlns:a="http://schemas.openxmlformats.org/drawingml/2006/main">
            <a:off x="9201150" y="1809750"/>
            <a:ext cx="2400300" cy="1619250"/>
          </a:xfrm>
          <a:prstGeom xmlns:a="http://schemas.openxmlformats.org/drawingml/2006/main" prst="rect">
            <a:avLst/>
          </a:prstGeom>
          <a:solidFill xmlns:a="http://schemas.openxmlformats.org/drawingml/2006/main">
            <a:srgbClr val="F2E8D9"/>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8B56DE9-025A-4341-911C-BD9B21DB2282}"/>
              </a:ext>
            </a:extLst>
          </p:cNvPr>
          <p:cNvSpPr>
            <a:spLocks xmlns:a="http://schemas.openxmlformats.org/drawingml/2006/main" noGrp="1"/>
          </p:cNvSpPr>
          <p:nvPr/>
        </p:nvSpPr>
        <p:spPr>
          <a:xfrm xmlns:a="http://schemas.openxmlformats.org/drawingml/2006/main">
            <a:off x="9467850" y="21526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125" b="1" i="0">
                <a:solidFill>
                  <a:srgbClr val="596678"/>
                </a:solidFill>
                <a:latin typeface="Helvetica Neue"/>
                <a:ea typeface="Helvetica Neue"/>
                <a:cs typeface="Helvetica Neue"/>
              </a:defRPr>
            </a:pPr>
            <a:r>
              <a:rPr sz="1125" b="1" i="0">
                <a:solidFill>
                  <a:srgbClr val="596678"/>
                </a:solidFill>
                <a:latin typeface="Helvetica Neue"/>
                <a:ea typeface="Helvetica Neue"/>
                <a:cs typeface="Helvetica Neue"/>
              </a:rPr>
              <a:t>KNOWLEDGE</a:t>
            </a:r>
          </a:p>
        </p:txBody>
      </p:sp>
      <p:sp>
        <p:nvSpPr>
          <p:cNvPr id="13" name="">
            <a:extLst xmlns:a="http://schemas.openxmlformats.org/drawingml/2006/main">
              <a:ext uri="{FF2B5EF4-FFF2-40B4-BE49-F238E27FC236}">
                <a16:creationId xmlns:a16="http://schemas.microsoft.com/office/drawing/2014/main" id="{1FFCB62D-67FC-4C13-AE01-27AA39D1F4FF}"/>
              </a:ext>
            </a:extLst>
          </p:cNvPr>
          <p:cNvSpPr>
            <a:spLocks xmlns:a="http://schemas.openxmlformats.org/drawingml/2006/main" noGrp="1"/>
          </p:cNvSpPr>
          <p:nvPr/>
        </p:nvSpPr>
        <p:spPr>
          <a:xfrm xmlns:a="http://schemas.openxmlformats.org/drawingml/2006/main">
            <a:off x="9429750" y="2571750"/>
            <a:ext cx="1952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2025" b="1" i="0">
                <a:solidFill>
                  <a:srgbClr val="10233D"/>
                </a:solidFill>
                <a:latin typeface="Helvetica Neue"/>
                <a:ea typeface="Helvetica Neue"/>
                <a:cs typeface="Helvetica Neue"/>
              </a:defRPr>
            </a:pPr>
            <a:r>
              <a:rPr sz="2025" b="1" i="0">
                <a:solidFill>
                  <a:srgbClr val="10233D"/>
                </a:solidFill>
                <a:latin typeface="Helvetica Neue"/>
                <a:ea typeface="Helvetica Neue"/>
                <a:cs typeface="Helvetica Neue"/>
              </a:rPr>
              <a:t>A constructed</a:t>
            </a:r>
          </a:p>
          <a:p xmlns:a="http://schemas.openxmlformats.org/drawingml/2006/main">
            <a:pPr algn="ctr">
              <a:defRPr sz="2025" b="1" i="0">
                <a:solidFill>
                  <a:srgbClr val="10233D"/>
                </a:solidFill>
                <a:latin typeface="Helvetica Neue"/>
                <a:ea typeface="Helvetica Neue"/>
                <a:cs typeface="Helvetica Neue"/>
              </a:defRPr>
            </a:pPr>
            <a:r>
              <a:rPr sz="2025" b="1" i="0">
                <a:solidFill>
                  <a:srgbClr val="10233D"/>
                </a:solidFill>
                <a:latin typeface="Helvetica Neue"/>
                <a:ea typeface="Helvetica Neue"/>
                <a:cs typeface="Helvetica Neue"/>
              </a:rPr>
              <a:t>account</a:t>
            </a:r>
          </a:p>
        </p:txBody>
      </p:sp>
      <p:sp>
        <p:nvSpPr>
          <p:cNvPr id="14" name="">
            <a:extLst xmlns:a="http://schemas.openxmlformats.org/drawingml/2006/main">
              <a:ext uri="{FF2B5EF4-FFF2-40B4-BE49-F238E27FC236}">
                <a16:creationId xmlns:a16="http://schemas.microsoft.com/office/drawing/2014/main" id="{162A2778-5420-40C4-88ED-031690D4A0B2}"/>
              </a:ext>
            </a:extLst>
          </p:cNvPr>
          <p:cNvSpPr>
            <a:spLocks xmlns:a="http://schemas.openxmlformats.org/drawingml/2006/main" noGrp="1"/>
          </p:cNvSpPr>
          <p:nvPr/>
        </p:nvSpPr>
        <p:spPr>
          <a:xfrm xmlns:a="http://schemas.openxmlformats.org/drawingml/2006/main">
            <a:off x="590550" y="4152900"/>
            <a:ext cx="11010900" cy="1219200"/>
          </a:xfrm>
          <a:prstGeom xmlns:a="http://schemas.openxmlformats.org/drawingml/2006/main" prst="rect">
            <a:avLst/>
          </a:prstGeom>
          <a:solidFill xmlns:a="http://schemas.openxmlformats.org/drawingml/2006/main">
            <a:srgbClr val="FFF9EE"/>
          </a:solidFill>
          <a:ln xmlns:a="http://schemas.openxmlformats.org/drawingml/2006/main" w="9525">
            <a:solidFill>
              <a:srgbClr val="D7CCBA"/>
            </a:solidFill>
            <a:prstDash val="solid"/>
          </a:ln>
        </p:spPr>
      </p:sp>
      <p:sp>
        <p:nvSpPr>
          <p:cNvPr id="15" name="">
            <a:extLst xmlns:a="http://schemas.openxmlformats.org/drawingml/2006/main">
              <a:ext uri="{FF2B5EF4-FFF2-40B4-BE49-F238E27FC236}">
                <a16:creationId xmlns:a16="http://schemas.microsoft.com/office/drawing/2014/main" id="{2EB7E94F-BE3D-43D3-B298-D7C93752FBCD}"/>
              </a:ext>
            </a:extLst>
          </p:cNvPr>
          <p:cNvSpPr>
            <a:spLocks xmlns:a="http://schemas.openxmlformats.org/drawingml/2006/main" noGrp="1"/>
          </p:cNvSpPr>
          <p:nvPr/>
        </p:nvSpPr>
        <p:spPr>
          <a:xfrm xmlns:a="http://schemas.openxmlformats.org/drawingml/2006/main">
            <a:off x="895350" y="44005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i="0">
                <a:solidFill>
                  <a:srgbClr val="1F5FC9"/>
                </a:solidFill>
                <a:latin typeface="Helvetica Neue"/>
                <a:ea typeface="Helvetica Neue"/>
                <a:cs typeface="Helvetica Neue"/>
              </a:defRPr>
            </a:pPr>
            <a:r>
              <a:rPr sz="1350" b="1" i="0">
                <a:solidFill>
                  <a:srgbClr val="1F5FC9"/>
                </a:solidFill>
                <a:latin typeface="Helvetica Neue"/>
                <a:ea typeface="Helvetica Neue"/>
                <a:cs typeface="Helvetica Neue"/>
              </a:rPr>
              <a:t>Two consequences</a:t>
            </a:r>
          </a:p>
        </p:txBody>
      </p:sp>
      <p:sp>
        <p:nvSpPr>
          <p:cNvPr id="16" name="">
            <a:extLst xmlns:a="http://schemas.openxmlformats.org/drawingml/2006/main">
              <a:ext uri="{FF2B5EF4-FFF2-40B4-BE49-F238E27FC236}">
                <a16:creationId xmlns:a16="http://schemas.microsoft.com/office/drawing/2014/main" id="{C46896E1-930C-4B5F-93BC-FE49C65BACEF}"/>
              </a:ext>
            </a:extLst>
          </p:cNvPr>
          <p:cNvSpPr>
            <a:spLocks xmlns:a="http://schemas.openxmlformats.org/drawingml/2006/main" noGrp="1"/>
          </p:cNvSpPr>
          <p:nvPr/>
        </p:nvSpPr>
        <p:spPr>
          <a:xfrm xmlns:a="http://schemas.openxmlformats.org/drawingml/2006/main">
            <a:off x="3257550" y="4324350"/>
            <a:ext cx="7620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357"/>
          </a:bodyPr>
          <a:lstStyle xmlns:a="http://schemas.openxmlformats.org/drawingml/2006/main"/>
          <a:p xmlns:a="http://schemas.openxmlformats.org/drawingml/2006/main">
            <a:pPr algn="l">
              <a:defRPr sz="1650" b="0" i="0">
                <a:solidFill>
                  <a:srgbClr val="10233D"/>
                </a:solidFill>
                <a:latin typeface="Helvetica Neue"/>
                <a:ea typeface="Helvetica Neue"/>
                <a:cs typeface="Helvetica Neue"/>
              </a:defRPr>
            </a:pPr>
            <a:r>
              <a:rPr sz="1650" b="0" i="0">
                <a:solidFill>
                  <a:srgbClr val="10233D"/>
                </a:solidFill>
                <a:latin typeface="Helvetica Neue"/>
                <a:ea typeface="Helvetica Neue"/>
                <a:cs typeface="Helvetica Neue"/>
              </a:rPr>
              <a:t>1. Knowledge is built, then tested in action.</a:t>
            </a:r>
          </a:p>
          <a:p xmlns:a="http://schemas.openxmlformats.org/drawingml/2006/main">
            <a:pPr algn="l">
              <a:defRPr sz="1650" b="0" i="0">
                <a:solidFill>
                  <a:srgbClr val="10233D"/>
                </a:solidFill>
                <a:latin typeface="Helvetica Neue"/>
                <a:ea typeface="Helvetica Neue"/>
                <a:cs typeface="Helvetica Neue"/>
              </a:defRPr>
            </a:pPr>
            <a:r>
              <a:rPr sz="1650" b="0" i="0">
                <a:solidFill>
                  <a:srgbClr val="10233D"/>
                </a:solidFill>
                <a:latin typeface="Helvetica Neue"/>
                <a:ea typeface="Helvetica Neue"/>
                <a:cs typeface="Helvetica Neue"/>
              </a:rPr>
              <a:t>2. The child does not directly “find” the world; thought helps constitute what is known.</a:t>
            </a:r>
          </a:p>
        </p:txBody>
      </p:sp>
      <p:sp>
        <p:nvSpPr>
          <p:cNvPr id="17" name="">
            <a:extLst xmlns:a="http://schemas.openxmlformats.org/drawingml/2006/main">
              <a:ext uri="{FF2B5EF4-FFF2-40B4-BE49-F238E27FC236}">
                <a16:creationId xmlns:a16="http://schemas.microsoft.com/office/drawing/2014/main" id="{7B5EB892-4528-4328-B96E-95E2CA56193D}"/>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D950F36-850F-4C1B-83FD-DE76E2A0BAC3}"/>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 65. Slide wording is paraphrased.</a:t>
            </a:r>
          </a:p>
        </p:txBody>
      </p:sp>
      <p:sp>
        <p:nvSpPr>
          <p:cNvPr id="19" name="">
            <a:extLst xmlns:a="http://schemas.openxmlformats.org/drawingml/2006/main">
              <a:ext uri="{FF2B5EF4-FFF2-40B4-BE49-F238E27FC236}">
                <a16:creationId xmlns:a16="http://schemas.microsoft.com/office/drawing/2014/main" id="{D8ED7C64-C544-4C4D-BE0C-8EC496E362D4}"/>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04</a:t>
            </a:r>
          </a:p>
        </p:txBody>
      </p:sp>
    </p:spTree>
    <p:extLst>
      <p:ext uri="{BB962C8B-B14F-4D97-AF65-F5344CB8AC3E}">
        <p14:creationId xmlns:p14="http://schemas.microsoft.com/office/powerpoint/2010/main" val="917425551"/>
      </p:ext>
    </p:extLst>
  </p:cSld>
</p:sld>
</file>

<file path=ppt/slides/slide5.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5026580B-BD12-487F-9317-A466B782A459}"/>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BB36111F-68F5-47FC-89D4-7A6A21472A96}"/>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504"/>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Piaget’s growth story: action becomes increasingly organized thought</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536b07bcc5cd4852"/>
          <a:srcRect xmlns:a="http://schemas.openxmlformats.org/drawingml/2006/main" l="5147" t="0" r="5147" b="0"/>
          <a:stretch xmlns:a="http://schemas.openxmlformats.org/drawingml/2006/main">
            <a:fillRect l="0" t="0" r="0" b="0"/>
          </a:stretch>
        </p:blipFill>
        <p:spPr>
          <a:xfrm xmlns:a="http://schemas.openxmlformats.org/drawingml/2006/main">
            <a:off x="5619750" y="1619250"/>
            <a:ext cx="5981700" cy="37528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CBDB1D1-9611-4553-9804-F39E845A7F39}"/>
              </a:ext>
            </a:extLst>
          </p:cNvPr>
          <p:cNvSpPr>
            <a:spLocks xmlns:a="http://schemas.openxmlformats.org/drawingml/2006/main" noGrp="1"/>
          </p:cNvSpPr>
          <p:nvPr/>
        </p:nvSpPr>
        <p:spPr>
          <a:xfrm xmlns:a="http://schemas.openxmlformats.org/drawingml/2006/main">
            <a:off x="742950" y="1790700"/>
            <a:ext cx="609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1" i="0">
                <a:solidFill>
                  <a:srgbClr val="1F5FC9"/>
                </a:solidFill>
                <a:latin typeface="Helvetica Neue"/>
                <a:ea typeface="Helvetica Neue"/>
                <a:cs typeface="Helvetica Neue"/>
              </a:defRPr>
            </a:pPr>
            <a:r>
              <a:rPr sz="1650" b="1" i="0">
                <a:solidFill>
                  <a:srgbClr val="1F5FC9"/>
                </a:solidFill>
                <a:latin typeface="Helvetica Neue"/>
                <a:ea typeface="Helvetica Neue"/>
                <a:cs typeface="Helvetica Neue"/>
              </a:rPr>
              <a:t>01</a:t>
            </a:r>
          </a:p>
        </p:txBody>
      </p:sp>
      <p:sp>
        <p:nvSpPr>
          <p:cNvPr id="5" name="">
            <a:extLst xmlns:a="http://schemas.openxmlformats.org/drawingml/2006/main">
              <a:ext uri="{FF2B5EF4-FFF2-40B4-BE49-F238E27FC236}">
                <a16:creationId xmlns:a16="http://schemas.microsoft.com/office/drawing/2014/main" id="{349686B0-BB14-46E7-909B-9CD8FFAABC35}"/>
              </a:ext>
            </a:extLst>
          </p:cNvPr>
          <p:cNvSpPr>
            <a:spLocks xmlns:a="http://schemas.openxmlformats.org/drawingml/2006/main" noGrp="1"/>
          </p:cNvSpPr>
          <p:nvPr/>
        </p:nvSpPr>
        <p:spPr>
          <a:xfrm xmlns:a="http://schemas.openxmlformats.org/drawingml/2006/main">
            <a:off x="1524000" y="1771650"/>
            <a:ext cx="2952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defRPr sz="2025" b="1" i="0">
                <a:solidFill>
                  <a:srgbClr val="10233D"/>
                </a:solidFill>
                <a:latin typeface="Helvetica Neue"/>
                <a:ea typeface="Helvetica Neue"/>
                <a:cs typeface="Helvetica Neue"/>
              </a:defRPr>
            </a:pPr>
            <a:r>
              <a:rPr sz="2025" b="1" i="0">
                <a:solidFill>
                  <a:srgbClr val="10233D"/>
                </a:solidFill>
                <a:latin typeface="Helvetica Neue"/>
                <a:ea typeface="Helvetica Neue"/>
                <a:cs typeface="Helvetica Neue"/>
              </a:rPr>
              <a:t>Act on the world</a:t>
            </a:r>
          </a:p>
        </p:txBody>
      </p:sp>
      <p:sp>
        <p:nvSpPr>
          <p:cNvPr id="6" name="">
            <a:extLst xmlns:a="http://schemas.openxmlformats.org/drawingml/2006/main">
              <a:ext uri="{FF2B5EF4-FFF2-40B4-BE49-F238E27FC236}">
                <a16:creationId xmlns:a16="http://schemas.microsoft.com/office/drawing/2014/main" id="{CFD1628F-4171-4FCA-B4E1-C3FC4C48610A}"/>
              </a:ext>
            </a:extLst>
          </p:cNvPr>
          <p:cNvSpPr>
            <a:spLocks xmlns:a="http://schemas.openxmlformats.org/drawingml/2006/main" noGrp="1"/>
          </p:cNvSpPr>
          <p:nvPr/>
        </p:nvSpPr>
        <p:spPr>
          <a:xfrm xmlns:a="http://schemas.openxmlformats.org/drawingml/2006/main">
            <a:off x="1524000" y="2152650"/>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0" i="0">
                <a:solidFill>
                  <a:srgbClr val="596678"/>
                </a:solidFill>
                <a:latin typeface="Helvetica Neue"/>
                <a:ea typeface="Helvetica Neue"/>
                <a:cs typeface="Helvetica Neue"/>
              </a:defRPr>
            </a:pPr>
            <a:r>
              <a:rPr sz="1350" b="0" i="0">
                <a:solidFill>
                  <a:srgbClr val="596678"/>
                </a:solidFill>
                <a:latin typeface="Helvetica Neue"/>
                <a:ea typeface="Helvetica Neue"/>
                <a:cs typeface="Helvetica Neue"/>
              </a:rPr>
              <a:t>The child starts with concrete action.</a:t>
            </a:r>
          </a:p>
        </p:txBody>
      </p:sp>
      <p:sp>
        <p:nvSpPr>
          <p:cNvPr id="7" name="">
            <a:extLst xmlns:a="http://schemas.openxmlformats.org/drawingml/2006/main">
              <a:ext uri="{FF2B5EF4-FFF2-40B4-BE49-F238E27FC236}">
                <a16:creationId xmlns:a16="http://schemas.microsoft.com/office/drawing/2014/main" id="{83633088-B144-420F-9D7B-7E2063F427FA}"/>
              </a:ext>
            </a:extLst>
          </p:cNvPr>
          <p:cNvSpPr>
            <a:spLocks xmlns:a="http://schemas.openxmlformats.org/drawingml/2006/main" noGrp="1"/>
          </p:cNvSpPr>
          <p:nvPr/>
        </p:nvSpPr>
        <p:spPr>
          <a:xfrm xmlns:a="http://schemas.openxmlformats.org/drawingml/2006/main">
            <a:off x="1524000" y="2628900"/>
            <a:ext cx="306705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D45DC7E-C839-4F7D-8BB3-EFFFFFABEBB3}"/>
              </a:ext>
            </a:extLst>
          </p:cNvPr>
          <p:cNvSpPr>
            <a:spLocks xmlns:a="http://schemas.openxmlformats.org/drawingml/2006/main" noGrp="1"/>
          </p:cNvSpPr>
          <p:nvPr/>
        </p:nvSpPr>
        <p:spPr>
          <a:xfrm xmlns:a="http://schemas.openxmlformats.org/drawingml/2006/main">
            <a:off x="742950" y="2876550"/>
            <a:ext cx="609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1" i="0">
                <a:solidFill>
                  <a:srgbClr val="1F5FC9"/>
                </a:solidFill>
                <a:latin typeface="Helvetica Neue"/>
                <a:ea typeface="Helvetica Neue"/>
                <a:cs typeface="Helvetica Neue"/>
              </a:defRPr>
            </a:pPr>
            <a:r>
              <a:rPr sz="1650" b="1" i="0">
                <a:solidFill>
                  <a:srgbClr val="1F5FC9"/>
                </a:solidFill>
                <a:latin typeface="Helvetica Neue"/>
                <a:ea typeface="Helvetica Neue"/>
                <a:cs typeface="Helvetica Neue"/>
              </a:rPr>
              <a:t>02</a:t>
            </a:r>
          </a:p>
        </p:txBody>
      </p:sp>
      <p:sp>
        <p:nvSpPr>
          <p:cNvPr id="9" name="">
            <a:extLst xmlns:a="http://schemas.openxmlformats.org/drawingml/2006/main">
              <a:ext uri="{FF2B5EF4-FFF2-40B4-BE49-F238E27FC236}">
                <a16:creationId xmlns:a16="http://schemas.microsoft.com/office/drawing/2014/main" id="{B77F5D5C-9DAE-46D7-B07B-0B5E40AFEFC2}"/>
              </a:ext>
            </a:extLst>
          </p:cNvPr>
          <p:cNvSpPr>
            <a:spLocks xmlns:a="http://schemas.openxmlformats.org/drawingml/2006/main" noGrp="1"/>
          </p:cNvSpPr>
          <p:nvPr/>
        </p:nvSpPr>
        <p:spPr>
          <a:xfrm xmlns:a="http://schemas.openxmlformats.org/drawingml/2006/main">
            <a:off x="1524000" y="2857500"/>
            <a:ext cx="3333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defRPr sz="2025" b="1" i="0">
                <a:solidFill>
                  <a:srgbClr val="10233D"/>
                </a:solidFill>
                <a:latin typeface="Helvetica Neue"/>
                <a:ea typeface="Helvetica Neue"/>
                <a:cs typeface="Helvetica Neue"/>
              </a:defRPr>
            </a:pPr>
            <a:r>
              <a:rPr sz="2025" b="1" i="0">
                <a:solidFill>
                  <a:srgbClr val="10233D"/>
                </a:solidFill>
                <a:latin typeface="Helvetica Neue"/>
                <a:ea typeface="Helvetica Neue"/>
                <a:cs typeface="Helvetica Neue"/>
              </a:rPr>
              <a:t>Carry action into thought</a:t>
            </a:r>
          </a:p>
        </p:txBody>
      </p:sp>
      <p:sp>
        <p:nvSpPr>
          <p:cNvPr id="10" name="">
            <a:extLst xmlns:a="http://schemas.openxmlformats.org/drawingml/2006/main">
              <a:ext uri="{FF2B5EF4-FFF2-40B4-BE49-F238E27FC236}">
                <a16:creationId xmlns:a16="http://schemas.microsoft.com/office/drawing/2014/main" id="{59CD2D26-3E24-4BAC-9B6F-9D47B104FA46}"/>
              </a:ext>
            </a:extLst>
          </p:cNvPr>
          <p:cNvSpPr>
            <a:spLocks xmlns:a="http://schemas.openxmlformats.org/drawingml/2006/main" noGrp="1"/>
          </p:cNvSpPr>
          <p:nvPr/>
        </p:nvSpPr>
        <p:spPr>
          <a:xfrm xmlns:a="http://schemas.openxmlformats.org/drawingml/2006/main">
            <a:off x="1524000" y="3238500"/>
            <a:ext cx="3476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469"/>
          </a:bodyPr>
          <a:lstStyle xmlns:a="http://schemas.openxmlformats.org/drawingml/2006/main"/>
          <a:p xmlns:a="http://schemas.openxmlformats.org/drawingml/2006/main">
            <a:pPr algn="l">
              <a:defRPr sz="1350" b="0" i="0">
                <a:solidFill>
                  <a:srgbClr val="596678"/>
                </a:solidFill>
                <a:latin typeface="Helvetica Neue"/>
                <a:ea typeface="Helvetica Neue"/>
                <a:cs typeface="Helvetica Neue"/>
              </a:defRPr>
            </a:pPr>
            <a:r>
              <a:rPr sz="1350" b="0" i="0">
                <a:solidFill>
                  <a:srgbClr val="596678"/>
                </a:solidFill>
                <a:latin typeface="Helvetica Neue"/>
                <a:ea typeface="Helvetica Neue"/>
                <a:cs typeface="Helvetica Neue"/>
              </a:rPr>
              <a:t>Thought becomes less tied to the immediate view.</a:t>
            </a:r>
          </a:p>
        </p:txBody>
      </p:sp>
      <p:sp>
        <p:nvSpPr>
          <p:cNvPr id="11" name="">
            <a:extLst xmlns:a="http://schemas.openxmlformats.org/drawingml/2006/main">
              <a:ext uri="{FF2B5EF4-FFF2-40B4-BE49-F238E27FC236}">
                <a16:creationId xmlns:a16="http://schemas.microsoft.com/office/drawing/2014/main" id="{497CF416-F14D-4A79-A1BA-C3DD8DE6D069}"/>
              </a:ext>
            </a:extLst>
          </p:cNvPr>
          <p:cNvSpPr>
            <a:spLocks xmlns:a="http://schemas.openxmlformats.org/drawingml/2006/main" noGrp="1"/>
          </p:cNvSpPr>
          <p:nvPr/>
        </p:nvSpPr>
        <p:spPr>
          <a:xfrm xmlns:a="http://schemas.openxmlformats.org/drawingml/2006/main">
            <a:off x="1524000" y="3714750"/>
            <a:ext cx="306705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77262FC-7B7C-4676-8D4A-D73FA827C8EB}"/>
              </a:ext>
            </a:extLst>
          </p:cNvPr>
          <p:cNvSpPr>
            <a:spLocks xmlns:a="http://schemas.openxmlformats.org/drawingml/2006/main" noGrp="1"/>
          </p:cNvSpPr>
          <p:nvPr/>
        </p:nvSpPr>
        <p:spPr>
          <a:xfrm xmlns:a="http://schemas.openxmlformats.org/drawingml/2006/main">
            <a:off x="742950" y="3962400"/>
            <a:ext cx="609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1" i="0">
                <a:solidFill>
                  <a:srgbClr val="1F5FC9"/>
                </a:solidFill>
                <a:latin typeface="Helvetica Neue"/>
                <a:ea typeface="Helvetica Neue"/>
                <a:cs typeface="Helvetica Neue"/>
              </a:defRPr>
            </a:pPr>
            <a:r>
              <a:rPr sz="1650" b="1" i="0">
                <a:solidFill>
                  <a:srgbClr val="1F5FC9"/>
                </a:solidFill>
                <a:latin typeface="Helvetica Neue"/>
                <a:ea typeface="Helvetica Neue"/>
                <a:cs typeface="Helvetica Neue"/>
              </a:rPr>
              <a:t>03</a:t>
            </a:r>
          </a:p>
        </p:txBody>
      </p:sp>
      <p:sp>
        <p:nvSpPr>
          <p:cNvPr id="13" name="">
            <a:extLst xmlns:a="http://schemas.openxmlformats.org/drawingml/2006/main">
              <a:ext uri="{FF2B5EF4-FFF2-40B4-BE49-F238E27FC236}">
                <a16:creationId xmlns:a16="http://schemas.microsoft.com/office/drawing/2014/main" id="{6FC3AA4A-A322-44A2-B328-FF0DC7A9721D}"/>
              </a:ext>
            </a:extLst>
          </p:cNvPr>
          <p:cNvSpPr>
            <a:spLocks xmlns:a="http://schemas.openxmlformats.org/drawingml/2006/main" noGrp="1"/>
          </p:cNvSpPr>
          <p:nvPr/>
        </p:nvSpPr>
        <p:spPr>
          <a:xfrm xmlns:a="http://schemas.openxmlformats.org/drawingml/2006/main">
            <a:off x="1524000" y="3943350"/>
            <a:ext cx="3333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defRPr sz="2025" b="1" i="0">
                <a:solidFill>
                  <a:srgbClr val="10233D"/>
                </a:solidFill>
                <a:latin typeface="Helvetica Neue"/>
                <a:ea typeface="Helvetica Neue"/>
                <a:cs typeface="Helvetica Neue"/>
              </a:defRPr>
            </a:pPr>
            <a:r>
              <a:rPr sz="2025" b="1" i="0">
                <a:solidFill>
                  <a:srgbClr val="10233D"/>
                </a:solidFill>
                <a:latin typeface="Helvetica Neue"/>
                <a:ea typeface="Helvetica Neue"/>
                <a:cs typeface="Helvetica Neue"/>
              </a:rPr>
              <a:t>Reflect on thought itself</a:t>
            </a:r>
          </a:p>
        </p:txBody>
      </p:sp>
      <p:sp>
        <p:nvSpPr>
          <p:cNvPr id="14" name="">
            <a:extLst xmlns:a="http://schemas.openxmlformats.org/drawingml/2006/main">
              <a:ext uri="{FF2B5EF4-FFF2-40B4-BE49-F238E27FC236}">
                <a16:creationId xmlns:a16="http://schemas.microsoft.com/office/drawing/2014/main" id="{AD12795A-3914-4124-8146-D4BEEABBF428}"/>
              </a:ext>
            </a:extLst>
          </p:cNvPr>
          <p:cNvSpPr>
            <a:spLocks xmlns:a="http://schemas.openxmlformats.org/drawingml/2006/main" noGrp="1"/>
          </p:cNvSpPr>
          <p:nvPr/>
        </p:nvSpPr>
        <p:spPr>
          <a:xfrm xmlns:a="http://schemas.openxmlformats.org/drawingml/2006/main">
            <a:off x="1524000" y="4324350"/>
            <a:ext cx="3524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0" i="0">
                <a:solidFill>
                  <a:srgbClr val="596678"/>
                </a:solidFill>
                <a:latin typeface="Helvetica Neue"/>
                <a:ea typeface="Helvetica Neue"/>
                <a:cs typeface="Helvetica Neue"/>
              </a:defRPr>
            </a:pPr>
            <a:r>
              <a:rPr sz="1350" b="0" i="0">
                <a:solidFill>
                  <a:srgbClr val="596678"/>
                </a:solidFill>
                <a:latin typeface="Helvetica Neue"/>
                <a:ea typeface="Helvetica Neue"/>
                <a:cs typeface="Helvetica Neue"/>
              </a:rPr>
              <a:t>Formal operations make thought an object of thought.</a:t>
            </a:r>
          </a:p>
        </p:txBody>
      </p:sp>
      <p:sp>
        <p:nvSpPr>
          <p:cNvPr id="15" name="">
            <a:extLst xmlns:a="http://schemas.openxmlformats.org/drawingml/2006/main">
              <a:ext uri="{FF2B5EF4-FFF2-40B4-BE49-F238E27FC236}">
                <a16:creationId xmlns:a16="http://schemas.microsoft.com/office/drawing/2014/main" id="{31F876AF-3A3E-45F1-92D9-0E6062FCBCA1}"/>
              </a:ext>
            </a:extLst>
          </p:cNvPr>
          <p:cNvSpPr>
            <a:spLocks xmlns:a="http://schemas.openxmlformats.org/drawingml/2006/main" noGrp="1"/>
          </p:cNvSpPr>
          <p:nvPr/>
        </p:nvSpPr>
        <p:spPr>
          <a:xfrm xmlns:a="http://schemas.openxmlformats.org/drawingml/2006/main">
            <a:off x="590550" y="5486400"/>
            <a:ext cx="11010900" cy="552450"/>
          </a:xfrm>
          <a:prstGeom xmlns:a="http://schemas.openxmlformats.org/drawingml/2006/main" prst="rect">
            <a:avLst/>
          </a:prstGeom>
          <a:solidFill xmlns:a="http://schemas.openxmlformats.org/drawingml/2006/main">
            <a:srgbClr val="F9E5B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EC7ABCC9-FAA2-4766-90CA-6C404709A253}"/>
              </a:ext>
            </a:extLst>
          </p:cNvPr>
          <p:cNvSpPr>
            <a:spLocks xmlns:a="http://schemas.openxmlformats.org/drawingml/2006/main" noGrp="1"/>
          </p:cNvSpPr>
          <p:nvPr/>
        </p:nvSpPr>
        <p:spPr>
          <a:xfrm xmlns:a="http://schemas.openxmlformats.org/drawingml/2006/main">
            <a:off x="857250" y="56388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i="0">
                <a:solidFill>
                  <a:srgbClr val="A86500"/>
                </a:solidFill>
                <a:latin typeface="Helvetica Neue"/>
                <a:ea typeface="Helvetica Neue"/>
                <a:cs typeface="Helvetica Neue"/>
              </a:defRPr>
            </a:pPr>
            <a:r>
              <a:rPr sz="1500" b="1" i="0">
                <a:solidFill>
                  <a:srgbClr val="A86500"/>
                </a:solidFill>
                <a:latin typeface="Helvetica Neue"/>
                <a:ea typeface="Helvetica Neue"/>
                <a:cs typeface="Helvetica Neue"/>
              </a:rPr>
              <a:t>Disequilibration</a:t>
            </a:r>
          </a:p>
        </p:txBody>
      </p:sp>
      <p:sp>
        <p:nvSpPr>
          <p:cNvPr id="17" name="">
            <a:extLst xmlns:a="http://schemas.openxmlformats.org/drawingml/2006/main">
              <a:ext uri="{FF2B5EF4-FFF2-40B4-BE49-F238E27FC236}">
                <a16:creationId xmlns:a16="http://schemas.microsoft.com/office/drawing/2014/main" id="{C804E21C-2E57-41A1-9923-7AED9CF0368E}"/>
              </a:ext>
            </a:extLst>
          </p:cNvPr>
          <p:cNvSpPr>
            <a:spLocks xmlns:a="http://schemas.openxmlformats.org/drawingml/2006/main" noGrp="1"/>
          </p:cNvSpPr>
          <p:nvPr/>
        </p:nvSpPr>
        <p:spPr>
          <a:xfrm xmlns:a="http://schemas.openxmlformats.org/drawingml/2006/main">
            <a:off x="2952750" y="5638800"/>
            <a:ext cx="781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1909"/>
          </a:bodyPr>
          <a:lstStyle xmlns:a="http://schemas.openxmlformats.org/drawingml/2006/main"/>
          <a:p xmlns:a="http://schemas.openxmlformats.org/drawingml/2006/main">
            <a:pPr algn="l">
              <a:defRPr sz="1275" b="0" i="0">
                <a:solidFill>
                  <a:srgbClr val="10233D"/>
                </a:solidFill>
                <a:latin typeface="Helvetica Neue"/>
                <a:ea typeface="Helvetica Neue"/>
                <a:cs typeface="Helvetica Neue"/>
              </a:defRPr>
            </a:pPr>
            <a:r>
              <a:rPr sz="1275" b="0" i="0">
                <a:solidFill>
                  <a:srgbClr val="10233D"/>
                </a:solidFill>
                <a:latin typeface="Helvetica Neue"/>
                <a:ea typeface="Helvetica Neue"/>
                <a:cs typeface="Helvetica Neue"/>
              </a:rPr>
              <a:t>Piaget says growth comes from the pull between fitting experience into an old structure and changing the structure to fit experience.</a:t>
            </a:r>
          </a:p>
        </p:txBody>
      </p:sp>
      <p:sp>
        <p:nvSpPr>
          <p:cNvPr id="18" name="">
            <a:extLst xmlns:a="http://schemas.openxmlformats.org/drawingml/2006/main">
              <a:ext uri="{FF2B5EF4-FFF2-40B4-BE49-F238E27FC236}">
                <a16:creationId xmlns:a16="http://schemas.microsoft.com/office/drawing/2014/main" id="{0663CD06-03FD-4156-98CC-1358A64CD175}"/>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8241D14-FA49-48CC-AADF-9AB39EEEE631}"/>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pp. 65–66. Slide wording is paraphrased.</a:t>
            </a:r>
          </a:p>
        </p:txBody>
      </p:sp>
      <p:sp>
        <p:nvSpPr>
          <p:cNvPr id="20" name="">
            <a:extLst xmlns:a="http://schemas.openxmlformats.org/drawingml/2006/main">
              <a:ext uri="{FF2B5EF4-FFF2-40B4-BE49-F238E27FC236}">
                <a16:creationId xmlns:a16="http://schemas.microsoft.com/office/drawing/2014/main" id="{1BD27211-89C0-4805-9020-B37B60C26B9F}"/>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05</a:t>
            </a:r>
          </a:p>
        </p:txBody>
      </p:sp>
    </p:spTree>
    <p:extLst>
      <p:ext uri="{BB962C8B-B14F-4D97-AF65-F5344CB8AC3E}">
        <p14:creationId xmlns:p14="http://schemas.microsoft.com/office/powerpoint/2010/main" val="1477481204"/>
      </p:ext>
    </p:extLst>
  </p:cSld>
</p:sld>
</file>

<file path=ppt/slides/slide6.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ED5275C-E83E-4100-A7F1-AC2B025755CD}"/>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AC1709B9-B46B-4FFF-8EFA-4BCB433590C7}"/>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370"/>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Piaget maps a stable direction of growth better than its causes</a:t>
            </a:r>
          </a:p>
        </p:txBody>
      </p:sp>
      <p:sp>
        <p:nvSpPr>
          <p:cNvPr id="3" name="">
            <a:extLst xmlns:a="http://schemas.openxmlformats.org/drawingml/2006/main">
              <a:ext uri="{FF2B5EF4-FFF2-40B4-BE49-F238E27FC236}">
                <a16:creationId xmlns:a16="http://schemas.microsoft.com/office/drawing/2014/main" id="{DFC987C3-E688-45BB-9B5C-7BD05880CC6D}"/>
              </a:ext>
            </a:extLst>
          </p:cNvPr>
          <p:cNvSpPr>
            <a:spLocks xmlns:a="http://schemas.openxmlformats.org/drawingml/2006/main" noGrp="1"/>
          </p:cNvSpPr>
          <p:nvPr/>
        </p:nvSpPr>
        <p:spPr>
          <a:xfrm xmlns:a="http://schemas.openxmlformats.org/drawingml/2006/main">
            <a:off x="590550" y="1809750"/>
            <a:ext cx="5143500" cy="2952750"/>
          </a:xfrm>
          <a:prstGeom xmlns:a="http://schemas.openxmlformats.org/drawingml/2006/main" prst="rect">
            <a:avLst/>
          </a:prstGeom>
          <a:solidFill xmlns:a="http://schemas.openxmlformats.org/drawingml/2006/main">
            <a:srgbClr val="E4EEF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E7A9CB6-7BAC-40DD-91EF-54708CF69CCB}"/>
              </a:ext>
            </a:extLst>
          </p:cNvPr>
          <p:cNvSpPr>
            <a:spLocks xmlns:a="http://schemas.openxmlformats.org/drawingml/2006/main" noGrp="1"/>
          </p:cNvSpPr>
          <p:nvPr/>
        </p:nvSpPr>
        <p:spPr>
          <a:xfrm xmlns:a="http://schemas.openxmlformats.org/drawingml/2006/main">
            <a:off x="990600" y="21907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1F5FC9"/>
                </a:solidFill>
                <a:latin typeface="Helvetica Neue"/>
                <a:ea typeface="Helvetica Neue"/>
                <a:cs typeface="Helvetica Neue"/>
              </a:defRPr>
            </a:pPr>
            <a:r>
              <a:rPr sz="1125" b="1" i="0">
                <a:solidFill>
                  <a:srgbClr val="1F5FC9"/>
                </a:solidFill>
                <a:latin typeface="Helvetica Neue"/>
                <a:ea typeface="Helvetica Neue"/>
                <a:cs typeface="Helvetica Neue"/>
              </a:rPr>
              <a:t>ABUNDANTLY CLEAR</a:t>
            </a:r>
          </a:p>
        </p:txBody>
      </p:sp>
      <p:sp>
        <p:nvSpPr>
          <p:cNvPr id="5" name="">
            <a:extLst xmlns:a="http://schemas.openxmlformats.org/drawingml/2006/main">
              <a:ext uri="{FF2B5EF4-FFF2-40B4-BE49-F238E27FC236}">
                <a16:creationId xmlns:a16="http://schemas.microsoft.com/office/drawing/2014/main" id="{398DBACE-FCE7-41D0-87E6-76AFB664DF76}"/>
              </a:ext>
            </a:extLst>
          </p:cNvPr>
          <p:cNvSpPr>
            <a:spLocks xmlns:a="http://schemas.openxmlformats.org/drawingml/2006/main" noGrp="1"/>
          </p:cNvSpPr>
          <p:nvPr/>
        </p:nvSpPr>
        <p:spPr>
          <a:xfrm xmlns:a="http://schemas.openxmlformats.org/drawingml/2006/main">
            <a:off x="990600" y="2647950"/>
            <a:ext cx="36385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550" b="1" i="0">
                <a:solidFill>
                  <a:srgbClr val="10233D"/>
                </a:solidFill>
                <a:latin typeface="Helvetica Neue"/>
                <a:ea typeface="Helvetica Neue"/>
                <a:cs typeface="Helvetica Neue"/>
              </a:defRPr>
            </a:pPr>
            <a:r>
              <a:rPr sz="2550" b="1" i="0">
                <a:solidFill>
                  <a:srgbClr val="10233D"/>
                </a:solidFill>
                <a:latin typeface="Helvetica Neue"/>
                <a:ea typeface="Helvetica Neue"/>
                <a:cs typeface="Helvetica Neue"/>
              </a:rPr>
              <a:t>Development follows an invariant course.</a:t>
            </a:r>
          </a:p>
        </p:txBody>
      </p:sp>
      <p:sp>
        <p:nvSpPr>
          <p:cNvPr id="6" name="">
            <a:extLst xmlns:a="http://schemas.openxmlformats.org/drawingml/2006/main">
              <a:ext uri="{FF2B5EF4-FFF2-40B4-BE49-F238E27FC236}">
                <a16:creationId xmlns:a16="http://schemas.microsoft.com/office/drawing/2014/main" id="{5B46B875-4EAD-432E-B189-9E2E7F0CFA97}"/>
              </a:ext>
            </a:extLst>
          </p:cNvPr>
          <p:cNvSpPr>
            <a:spLocks xmlns:a="http://schemas.openxmlformats.org/drawingml/2006/main" noGrp="1"/>
          </p:cNvSpPr>
          <p:nvPr/>
        </p:nvSpPr>
        <p:spPr>
          <a:xfrm xmlns:a="http://schemas.openxmlformats.org/drawingml/2006/main">
            <a:off x="990600" y="3848100"/>
            <a:ext cx="36385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i="0">
                <a:solidFill>
                  <a:srgbClr val="596678"/>
                </a:solidFill>
                <a:latin typeface="Helvetica Neue"/>
                <a:ea typeface="Helvetica Neue"/>
                <a:cs typeface="Helvetica Neue"/>
              </a:defRPr>
            </a:pPr>
            <a:r>
              <a:rPr sz="1500" b="0" i="0">
                <a:solidFill>
                  <a:srgbClr val="596678"/>
                </a:solidFill>
                <a:latin typeface="Helvetica Neue"/>
                <a:ea typeface="Helvetica Neue"/>
                <a:cs typeface="Helvetica Neue"/>
              </a:rPr>
              <a:t>Piaget is strongest on the direction and systematicity of growth.</a:t>
            </a:r>
          </a:p>
        </p:txBody>
      </p:sp>
      <p:sp>
        <p:nvSpPr>
          <p:cNvPr id="7" name="">
            <a:extLst xmlns:a="http://schemas.openxmlformats.org/drawingml/2006/main">
              <a:ext uri="{FF2B5EF4-FFF2-40B4-BE49-F238E27FC236}">
                <a16:creationId xmlns:a16="http://schemas.microsoft.com/office/drawing/2014/main" id="{5C46206C-386F-428E-BBD8-BE98C6AD87B4}"/>
              </a:ext>
            </a:extLst>
          </p:cNvPr>
          <p:cNvSpPr>
            <a:spLocks xmlns:a="http://schemas.openxmlformats.org/drawingml/2006/main" noGrp="1"/>
          </p:cNvSpPr>
          <p:nvPr/>
        </p:nvSpPr>
        <p:spPr>
          <a:xfrm xmlns:a="http://schemas.openxmlformats.org/drawingml/2006/main">
            <a:off x="6457950" y="1809750"/>
            <a:ext cx="5143500" cy="2952750"/>
          </a:xfrm>
          <a:prstGeom xmlns:a="http://schemas.openxmlformats.org/drawingml/2006/main" prst="rect">
            <a:avLst/>
          </a:prstGeom>
          <a:solidFill xmlns:a="http://schemas.openxmlformats.org/drawingml/2006/main">
            <a:srgbClr val="F9E5B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C39E0A4-5256-4889-B40B-E570893EDD84}"/>
              </a:ext>
            </a:extLst>
          </p:cNvPr>
          <p:cNvSpPr>
            <a:spLocks xmlns:a="http://schemas.openxmlformats.org/drawingml/2006/main" noGrp="1"/>
          </p:cNvSpPr>
          <p:nvPr/>
        </p:nvSpPr>
        <p:spPr>
          <a:xfrm xmlns:a="http://schemas.openxmlformats.org/drawingml/2006/main">
            <a:off x="6858000" y="219075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A86500"/>
                </a:solidFill>
                <a:latin typeface="Helvetica Neue"/>
                <a:ea typeface="Helvetica Neue"/>
                <a:cs typeface="Helvetica Neue"/>
              </a:defRPr>
            </a:pPr>
            <a:r>
              <a:rPr sz="1125" b="1" i="0">
                <a:solidFill>
                  <a:srgbClr val="A86500"/>
                </a:solidFill>
                <a:latin typeface="Helvetica Neue"/>
                <a:ea typeface="Helvetica Neue"/>
                <a:cs typeface="Helvetica Neue"/>
              </a:rPr>
              <a:t>LESS CLEAR OR NEGLECTED</a:t>
            </a:r>
          </a:p>
        </p:txBody>
      </p:sp>
      <p:sp>
        <p:nvSpPr>
          <p:cNvPr id="9" name="">
            <a:extLst xmlns:a="http://schemas.openxmlformats.org/drawingml/2006/main">
              <a:ext uri="{FF2B5EF4-FFF2-40B4-BE49-F238E27FC236}">
                <a16:creationId xmlns:a16="http://schemas.microsoft.com/office/drawing/2014/main" id="{0E5AD8C8-BC98-4D93-9E8D-521D98083366}"/>
              </a:ext>
            </a:extLst>
          </p:cNvPr>
          <p:cNvSpPr>
            <a:spLocks xmlns:a="http://schemas.openxmlformats.org/drawingml/2006/main" noGrp="1"/>
          </p:cNvSpPr>
          <p:nvPr/>
        </p:nvSpPr>
        <p:spPr>
          <a:xfrm xmlns:a="http://schemas.openxmlformats.org/drawingml/2006/main">
            <a:off x="6858000" y="2647950"/>
            <a:ext cx="3905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222"/>
          </a:bodyPr>
          <a:lstStyle xmlns:a="http://schemas.openxmlformats.org/drawingml/2006/main"/>
          <a:p xmlns:a="http://schemas.openxmlformats.org/drawingml/2006/main">
            <a:pPr algn="l">
              <a:defRPr sz="2250" b="1" i="0">
                <a:solidFill>
                  <a:srgbClr val="10233D"/>
                </a:solidFill>
                <a:latin typeface="Helvetica Neue"/>
                <a:ea typeface="Helvetica Neue"/>
                <a:cs typeface="Helvetica Neue"/>
              </a:defRPr>
            </a:pPr>
            <a:r>
              <a:rPr sz="2250" b="1" i="0">
                <a:solidFill>
                  <a:srgbClr val="10233D"/>
                </a:solidFill>
                <a:latin typeface="Helvetica Neue"/>
                <a:ea typeface="Helvetica Neue"/>
                <a:cs typeface="Helvetica Neue"/>
              </a:rPr>
              <a:t>What moves development forward — and how other people and culture matter.</a:t>
            </a:r>
          </a:p>
        </p:txBody>
      </p:sp>
      <p:sp>
        <p:nvSpPr>
          <p:cNvPr id="10" name="">
            <a:extLst xmlns:a="http://schemas.openxmlformats.org/drawingml/2006/main">
              <a:ext uri="{FF2B5EF4-FFF2-40B4-BE49-F238E27FC236}">
                <a16:creationId xmlns:a16="http://schemas.microsoft.com/office/drawing/2014/main" id="{9152A350-C2D4-4C0A-8F40-2B3A898F7872}"/>
              </a:ext>
            </a:extLst>
          </p:cNvPr>
          <p:cNvSpPr>
            <a:spLocks xmlns:a="http://schemas.openxmlformats.org/drawingml/2006/main" noGrp="1"/>
          </p:cNvSpPr>
          <p:nvPr/>
        </p:nvSpPr>
        <p:spPr>
          <a:xfrm xmlns:a="http://schemas.openxmlformats.org/drawingml/2006/main">
            <a:off x="6858000" y="3848100"/>
            <a:ext cx="3905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866"/>
          </a:bodyPr>
          <a:lstStyle xmlns:a="http://schemas.openxmlformats.org/drawingml/2006/main"/>
          <a:p xmlns:a="http://schemas.openxmlformats.org/drawingml/2006/main">
            <a:pPr algn="l">
              <a:defRPr sz="1425" b="0" i="0">
                <a:solidFill>
                  <a:srgbClr val="596678"/>
                </a:solidFill>
                <a:latin typeface="Helvetica Neue"/>
                <a:ea typeface="Helvetica Neue"/>
                <a:cs typeface="Helvetica Neue"/>
              </a:defRPr>
            </a:pPr>
            <a:r>
              <a:rPr sz="1425" b="0" i="0">
                <a:solidFill>
                  <a:srgbClr val="596678"/>
                </a:solidFill>
                <a:latin typeface="Helvetica Neue"/>
                <a:ea typeface="Helvetica Neue"/>
                <a:cs typeface="Helvetica Neue"/>
              </a:rPr>
              <a:t>Bruner names intersubjectivity, instruction, negotiation, and cultural interpretation as the missing territory.</a:t>
            </a:r>
          </a:p>
        </p:txBody>
      </p:sp>
      <p:sp>
        <p:nvSpPr>
          <p:cNvPr id="11" name="">
            <a:extLst xmlns:a="http://schemas.openxmlformats.org/drawingml/2006/main">
              <a:ext uri="{FF2B5EF4-FFF2-40B4-BE49-F238E27FC236}">
                <a16:creationId xmlns:a16="http://schemas.microsoft.com/office/drawing/2014/main" id="{005A0CF9-AAD3-4DEE-B01C-D98B1A241496}"/>
              </a:ext>
            </a:extLst>
          </p:cNvPr>
          <p:cNvSpPr>
            <a:spLocks xmlns:a="http://schemas.openxmlformats.org/drawingml/2006/main" noGrp="1"/>
          </p:cNvSpPr>
          <p:nvPr/>
        </p:nvSpPr>
        <p:spPr>
          <a:xfrm xmlns:a="http://schemas.openxmlformats.org/drawingml/2006/main">
            <a:off x="590550" y="5372100"/>
            <a:ext cx="1047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i="1">
                <a:solidFill>
                  <a:srgbClr val="10233D"/>
                </a:solidFill>
                <a:latin typeface="Helvetica Neue"/>
                <a:ea typeface="Helvetica Neue"/>
                <a:cs typeface="Helvetica Neue"/>
              </a:defRPr>
            </a:pPr>
            <a:r>
              <a:rPr sz="1650" b="0" i="1">
                <a:solidFill>
                  <a:srgbClr val="10233D"/>
                </a:solidFill>
                <a:latin typeface="Helvetica Neue"/>
                <a:ea typeface="Helvetica Neue"/>
                <a:cs typeface="Helvetica Neue"/>
              </a:rPr>
              <a:t>Bridge: If development cannot be understood only inside one individual mind, where should we look next?</a:t>
            </a:r>
          </a:p>
        </p:txBody>
      </p:sp>
      <p:sp>
        <p:nvSpPr>
          <p:cNvPr id="12" name="">
            <a:extLst xmlns:a="http://schemas.openxmlformats.org/drawingml/2006/main">
              <a:ext uri="{FF2B5EF4-FFF2-40B4-BE49-F238E27FC236}">
                <a16:creationId xmlns:a16="http://schemas.microsoft.com/office/drawing/2014/main" id="{5328C58C-9D55-40FE-BBD1-2F73676FECE6}"/>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2EE12912-6E26-4175-A018-E763049FC61B}"/>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pp. 66–67. Slide wording is paraphrased.</a:t>
            </a:r>
          </a:p>
        </p:txBody>
      </p:sp>
      <p:sp>
        <p:nvSpPr>
          <p:cNvPr id="14" name="">
            <a:extLst xmlns:a="http://schemas.openxmlformats.org/drawingml/2006/main">
              <a:ext uri="{FF2B5EF4-FFF2-40B4-BE49-F238E27FC236}">
                <a16:creationId xmlns:a16="http://schemas.microsoft.com/office/drawing/2014/main" id="{0EE4677E-7766-4848-B262-3696D5C187FC}"/>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06</a:t>
            </a:r>
          </a:p>
        </p:txBody>
      </p:sp>
    </p:spTree>
    <p:extLst>
      <p:ext uri="{BB962C8B-B14F-4D97-AF65-F5344CB8AC3E}">
        <p14:creationId xmlns:p14="http://schemas.microsoft.com/office/powerpoint/2010/main" val="1805818698"/>
      </p:ext>
    </p:extLst>
  </p:cSld>
</p:sld>
</file>

<file path=ppt/slides/slide7.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D3BB3410-C2E0-4245-9356-9938915B567F}"/>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C70C6107-C74D-4B98-97F4-EF835F5C2299}"/>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Vygotsky starts with meaning, not a mental calculus</a:t>
            </a:r>
          </a:p>
        </p:txBody>
      </p:sp>
      <p:sp>
        <p:nvSpPr>
          <p:cNvPr id="3" name="">
            <a:extLst xmlns:a="http://schemas.openxmlformats.org/drawingml/2006/main">
              <a:ext uri="{FF2B5EF4-FFF2-40B4-BE49-F238E27FC236}">
                <a16:creationId xmlns:a16="http://schemas.microsoft.com/office/drawing/2014/main" id="{8DCEF9F0-A4D5-4E65-9982-FAD97DDCA9E8}"/>
              </a:ext>
            </a:extLst>
          </p:cNvPr>
          <p:cNvSpPr>
            <a:spLocks xmlns:a="http://schemas.openxmlformats.org/drawingml/2006/main" noGrp="1"/>
          </p:cNvSpPr>
          <p:nvPr/>
        </p:nvSpPr>
        <p:spPr>
          <a:xfrm xmlns:a="http://schemas.openxmlformats.org/drawingml/2006/main">
            <a:off x="590550" y="1733550"/>
            <a:ext cx="3371850" cy="2914650"/>
          </a:xfrm>
          <a:prstGeom xmlns:a="http://schemas.openxmlformats.org/drawingml/2006/main" prst="rect">
            <a:avLst/>
          </a:prstGeom>
          <a:solidFill xmlns:a="http://schemas.openxmlformats.org/drawingml/2006/main">
            <a:srgbClr val="F9E2D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15FECD4-94C9-4497-B3A9-69AD35D31F42}"/>
              </a:ext>
            </a:extLst>
          </p:cNvPr>
          <p:cNvSpPr>
            <a:spLocks xmlns:a="http://schemas.openxmlformats.org/drawingml/2006/main" noGrp="1"/>
          </p:cNvSpPr>
          <p:nvPr/>
        </p:nvSpPr>
        <p:spPr>
          <a:xfrm xmlns:a="http://schemas.openxmlformats.org/drawingml/2006/main">
            <a:off x="933450" y="2095500"/>
            <a:ext cx="190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B44D3A"/>
                </a:solidFill>
                <a:latin typeface="Helvetica Neue"/>
                <a:ea typeface="Helvetica Neue"/>
                <a:cs typeface="Helvetica Neue"/>
              </a:defRPr>
            </a:pPr>
            <a:r>
              <a:rPr sz="1125" b="1" i="0">
                <a:solidFill>
                  <a:srgbClr val="B44D3A"/>
                </a:solidFill>
                <a:latin typeface="Helvetica Neue"/>
                <a:ea typeface="Helvetica Neue"/>
                <a:cs typeface="Helvetica Neue"/>
              </a:rPr>
              <a:t>MIND</a:t>
            </a:r>
          </a:p>
        </p:txBody>
      </p:sp>
      <p:sp>
        <p:nvSpPr>
          <p:cNvPr id="5" name="">
            <a:extLst xmlns:a="http://schemas.openxmlformats.org/drawingml/2006/main">
              <a:ext uri="{FF2B5EF4-FFF2-40B4-BE49-F238E27FC236}">
                <a16:creationId xmlns:a16="http://schemas.microsoft.com/office/drawing/2014/main" id="{9BEF1819-9099-4120-8BE3-094E8F79A634}"/>
              </a:ext>
            </a:extLst>
          </p:cNvPr>
          <p:cNvSpPr>
            <a:spLocks xmlns:a="http://schemas.openxmlformats.org/drawingml/2006/main" noGrp="1"/>
          </p:cNvSpPr>
          <p:nvPr/>
        </p:nvSpPr>
        <p:spPr>
          <a:xfrm xmlns:a="http://schemas.openxmlformats.org/drawingml/2006/main">
            <a:off x="933450" y="2533650"/>
            <a:ext cx="23050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814"/>
          </a:bodyPr>
          <a:lstStyle xmlns:a="http://schemas.openxmlformats.org/drawingml/2006/main"/>
          <a:p xmlns:a="http://schemas.openxmlformats.org/drawingml/2006/main">
            <a:pPr algn="l">
              <a:defRPr sz="2325" b="1" i="0">
                <a:solidFill>
                  <a:srgbClr val="10233D"/>
                </a:solidFill>
                <a:latin typeface="Helvetica Neue"/>
                <a:ea typeface="Helvetica Neue"/>
                <a:cs typeface="Helvetica Neue"/>
              </a:defRPr>
            </a:pPr>
            <a:r>
              <a:rPr sz="2325" b="1" i="0">
                <a:solidFill>
                  <a:srgbClr val="10233D"/>
                </a:solidFill>
                <a:latin typeface="Helvetica Neue"/>
                <a:ea typeface="Helvetica Neue"/>
                <a:cs typeface="Helvetica Neue"/>
              </a:rPr>
              <a:t>A process for giving experience meaning.</a:t>
            </a:r>
          </a:p>
        </p:txBody>
      </p:sp>
      <p:sp>
        <p:nvSpPr>
          <p:cNvPr id="6" name="">
            <a:extLst xmlns:a="http://schemas.openxmlformats.org/drawingml/2006/main">
              <a:ext uri="{FF2B5EF4-FFF2-40B4-BE49-F238E27FC236}">
                <a16:creationId xmlns:a16="http://schemas.microsoft.com/office/drawing/2014/main" id="{85C0EC78-12AA-4C6F-A575-AF4CF8214DD6}"/>
              </a:ext>
            </a:extLst>
          </p:cNvPr>
          <p:cNvSpPr>
            <a:spLocks xmlns:a="http://schemas.openxmlformats.org/drawingml/2006/main" noGrp="1"/>
          </p:cNvSpPr>
          <p:nvPr/>
        </p:nvSpPr>
        <p:spPr>
          <a:xfrm xmlns:a="http://schemas.openxmlformats.org/drawingml/2006/main">
            <a:off x="933450" y="3829050"/>
            <a:ext cx="2305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506"/>
          </a:bodyPr>
          <a:lstStyle xmlns:a="http://schemas.openxmlformats.org/drawingml/2006/main"/>
          <a:p xmlns:a="http://schemas.openxmlformats.org/drawingml/2006/main">
            <a:pPr algn="l">
              <a:defRPr sz="1350" b="0" i="0">
                <a:solidFill>
                  <a:srgbClr val="596678"/>
                </a:solidFill>
                <a:latin typeface="Helvetica Neue"/>
                <a:ea typeface="Helvetica Neue"/>
                <a:cs typeface="Helvetica Neue"/>
              </a:defRPr>
            </a:pPr>
            <a:r>
              <a:rPr sz="1350" b="0" i="0">
                <a:solidFill>
                  <a:srgbClr val="596678"/>
                </a:solidFill>
                <a:latin typeface="Helvetica Neue"/>
                <a:ea typeface="Helvetica Neue"/>
                <a:cs typeface="Helvetica Neue"/>
              </a:rPr>
              <a:t>Meaning needs language — and the cultural context in which language is used.</a:t>
            </a:r>
          </a:p>
        </p:txBody>
      </p:sp>
      <p:sp>
        <p:nvSpPr>
          <p:cNvPr id="7" name="">
            <a:extLst xmlns:a="http://schemas.openxmlformats.org/drawingml/2006/main">
              <a:ext uri="{FF2B5EF4-FFF2-40B4-BE49-F238E27FC236}">
                <a16:creationId xmlns:a16="http://schemas.microsoft.com/office/drawing/2014/main" id="{CCC45AE8-AAD2-4608-B059-30879424C3A9}"/>
              </a:ext>
            </a:extLst>
          </p:cNvPr>
          <p:cNvSpPr>
            <a:spLocks xmlns:a="http://schemas.openxmlformats.org/drawingml/2006/main" noGrp="1"/>
          </p:cNvSpPr>
          <p:nvPr/>
        </p:nvSpPr>
        <p:spPr>
          <a:xfrm xmlns:a="http://schemas.openxmlformats.org/drawingml/2006/main">
            <a:off x="4143375" y="2838450"/>
            <a:ext cx="647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956"/>
          </a:bodyPr>
          <a:lstStyle xmlns:a="http://schemas.openxmlformats.org/drawingml/2006/main"/>
          <a:p xmlns:a="http://schemas.openxmlformats.org/drawingml/2006/main">
            <a:pPr algn="ctr">
              <a:defRPr sz="3450" b="1" i="0">
                <a:solidFill>
                  <a:srgbClr val="B44D3A"/>
                </a:solidFill>
                <a:latin typeface="Helvetica Neue"/>
                <a:ea typeface="Helvetica Neue"/>
                <a:cs typeface="Helvetica Neue"/>
              </a:defRPr>
            </a:pPr>
            <a:r>
              <a:rPr sz="3450" b="1" i="0">
                <a:solidFill>
                  <a:srgbClr val="B44D3A"/>
                </a:solidFill>
                <a:latin typeface="Helvetica Neue"/>
                <a:ea typeface="Helvetica Neue"/>
                <a:cs typeface="Helvetica Neue"/>
              </a:rPr>
              <a:t>→</a:t>
            </a:r>
          </a:p>
        </p:txBody>
      </p:sp>
      <p:sp>
        <p:nvSpPr>
          <p:cNvPr id="8" name="">
            <a:extLst xmlns:a="http://schemas.openxmlformats.org/drawingml/2006/main">
              <a:ext uri="{FF2B5EF4-FFF2-40B4-BE49-F238E27FC236}">
                <a16:creationId xmlns:a16="http://schemas.microsoft.com/office/drawing/2014/main" id="{B693DA35-C69B-4179-816F-2EE59FE9A5EB}"/>
              </a:ext>
            </a:extLst>
          </p:cNvPr>
          <p:cNvSpPr>
            <a:spLocks xmlns:a="http://schemas.openxmlformats.org/drawingml/2006/main" noGrp="1"/>
          </p:cNvSpPr>
          <p:nvPr/>
        </p:nvSpPr>
        <p:spPr>
          <a:xfrm xmlns:a="http://schemas.openxmlformats.org/drawingml/2006/main">
            <a:off x="5086350" y="1733550"/>
            <a:ext cx="3276600" cy="2914650"/>
          </a:xfrm>
          <a:prstGeom xmlns:a="http://schemas.openxmlformats.org/drawingml/2006/main" prst="rect">
            <a:avLst/>
          </a:prstGeom>
          <a:solidFill xmlns:a="http://schemas.openxmlformats.org/drawingml/2006/main">
            <a:srgbClr val="F2E8D9"/>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6F54F2AF-E523-4250-9846-C932FF264461}"/>
              </a:ext>
            </a:extLst>
          </p:cNvPr>
          <p:cNvSpPr>
            <a:spLocks xmlns:a="http://schemas.openxmlformats.org/drawingml/2006/main" noGrp="1"/>
          </p:cNvSpPr>
          <p:nvPr/>
        </p:nvSpPr>
        <p:spPr>
          <a:xfrm xmlns:a="http://schemas.openxmlformats.org/drawingml/2006/main">
            <a:off x="5429250" y="2095500"/>
            <a:ext cx="219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596678"/>
                </a:solidFill>
                <a:latin typeface="Helvetica Neue"/>
                <a:ea typeface="Helvetica Neue"/>
                <a:cs typeface="Helvetica Neue"/>
              </a:defRPr>
            </a:pPr>
            <a:r>
              <a:rPr sz="1125" b="1" i="0">
                <a:solidFill>
                  <a:srgbClr val="596678"/>
                </a:solidFill>
                <a:latin typeface="Helvetica Neue"/>
                <a:ea typeface="Helvetica Neue"/>
                <a:cs typeface="Helvetica Neue"/>
              </a:rPr>
              <a:t>DEVELOPMENT</a:t>
            </a:r>
          </a:p>
        </p:txBody>
      </p:sp>
      <p:sp>
        <p:nvSpPr>
          <p:cNvPr id="10" name="">
            <a:extLst xmlns:a="http://schemas.openxmlformats.org/drawingml/2006/main">
              <a:ext uri="{FF2B5EF4-FFF2-40B4-BE49-F238E27FC236}">
                <a16:creationId xmlns:a16="http://schemas.microsoft.com/office/drawing/2014/main" id="{EA6ECB6C-82AC-48F8-BDC9-9ECBF53DC027}"/>
              </a:ext>
            </a:extLst>
          </p:cNvPr>
          <p:cNvSpPr>
            <a:spLocks xmlns:a="http://schemas.openxmlformats.org/drawingml/2006/main" noGrp="1"/>
          </p:cNvSpPr>
          <p:nvPr/>
        </p:nvSpPr>
        <p:spPr>
          <a:xfrm xmlns:a="http://schemas.openxmlformats.org/drawingml/2006/main">
            <a:off x="5429250" y="2533650"/>
            <a:ext cx="2333625"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814"/>
          </a:bodyPr>
          <a:lstStyle xmlns:a="http://schemas.openxmlformats.org/drawingml/2006/main"/>
          <a:p xmlns:a="http://schemas.openxmlformats.org/drawingml/2006/main">
            <a:pPr algn="l">
              <a:defRPr sz="2325" b="1" i="0">
                <a:solidFill>
                  <a:srgbClr val="10233D"/>
                </a:solidFill>
                <a:latin typeface="Helvetica Neue"/>
                <a:ea typeface="Helvetica Neue"/>
                <a:cs typeface="Helvetica Neue"/>
              </a:defRPr>
            </a:pPr>
            <a:r>
              <a:rPr sz="2325" b="1" i="0">
                <a:solidFill>
                  <a:srgbClr val="10233D"/>
                </a:solidFill>
                <a:latin typeface="Helvetica Neue"/>
                <a:ea typeface="Helvetica Neue"/>
                <a:cs typeface="Helvetica Neue"/>
              </a:rPr>
              <a:t>Mastery of higher-order symbolic systems.</a:t>
            </a:r>
          </a:p>
        </p:txBody>
      </p:sp>
      <p:sp>
        <p:nvSpPr>
          <p:cNvPr id="11" name="">
            <a:extLst xmlns:a="http://schemas.openxmlformats.org/drawingml/2006/main">
              <a:ext uri="{FF2B5EF4-FFF2-40B4-BE49-F238E27FC236}">
                <a16:creationId xmlns:a16="http://schemas.microsoft.com/office/drawing/2014/main" id="{314A661F-CC29-4E06-8B07-A6ECEE50A927}"/>
              </a:ext>
            </a:extLst>
          </p:cNvPr>
          <p:cNvSpPr>
            <a:spLocks xmlns:a="http://schemas.openxmlformats.org/drawingml/2006/main" noGrp="1"/>
          </p:cNvSpPr>
          <p:nvPr/>
        </p:nvSpPr>
        <p:spPr>
          <a:xfrm xmlns:a="http://schemas.openxmlformats.org/drawingml/2006/main">
            <a:off x="5429250" y="3829050"/>
            <a:ext cx="2333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506"/>
          </a:bodyPr>
          <a:lstStyle xmlns:a="http://schemas.openxmlformats.org/drawingml/2006/main"/>
          <a:p xmlns:a="http://schemas.openxmlformats.org/drawingml/2006/main">
            <a:pPr algn="l">
              <a:defRPr sz="1350" b="0" i="0">
                <a:solidFill>
                  <a:srgbClr val="596678"/>
                </a:solidFill>
                <a:latin typeface="Helvetica Neue"/>
                <a:ea typeface="Helvetica Neue"/>
                <a:cs typeface="Helvetica Neue"/>
              </a:defRPr>
            </a:pPr>
            <a:r>
              <a:rPr sz="1350" b="0" i="0">
                <a:solidFill>
                  <a:srgbClr val="596678"/>
                </a:solidFill>
                <a:latin typeface="Helvetica Neue"/>
                <a:ea typeface="Helvetica Neue"/>
                <a:cs typeface="Helvetica Neue"/>
              </a:rPr>
              <a:t>A new system can reorganize earlier ideas — like algebra reorganizing arithmetic.</a:t>
            </a:r>
          </a:p>
        </p:txBody>
      </p:sp>
      <p:sp>
        <p:nvSpPr>
          <p:cNvPr id="12" name="">
            <a:extLst xmlns:a="http://schemas.openxmlformats.org/drawingml/2006/main">
              <a:ext uri="{FF2B5EF4-FFF2-40B4-BE49-F238E27FC236}">
                <a16:creationId xmlns:a16="http://schemas.microsoft.com/office/drawing/2014/main" id="{1459129C-4780-4B05-A464-78A157C93675}"/>
              </a:ext>
            </a:extLst>
          </p:cNvPr>
          <p:cNvSpPr>
            <a:spLocks xmlns:a="http://schemas.openxmlformats.org/drawingml/2006/main" noGrp="1"/>
          </p:cNvSpPr>
          <p:nvPr/>
        </p:nvSpPr>
        <p:spPr>
          <a:xfrm xmlns:a="http://schemas.openxmlformats.org/drawingml/2006/main">
            <a:off x="9144000" y="2838450"/>
            <a:ext cx="647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956"/>
          </a:bodyPr>
          <a:lstStyle xmlns:a="http://schemas.openxmlformats.org/drawingml/2006/main"/>
          <a:p xmlns:a="http://schemas.openxmlformats.org/drawingml/2006/main">
            <a:pPr algn="ctr">
              <a:defRPr sz="3450" b="1" i="0">
                <a:solidFill>
                  <a:srgbClr val="B44D3A"/>
                </a:solidFill>
                <a:latin typeface="Helvetica Neue"/>
                <a:ea typeface="Helvetica Neue"/>
                <a:cs typeface="Helvetica Neue"/>
              </a:defRPr>
            </a:pPr>
            <a:r>
              <a:rPr sz="3450" b="1" i="0">
                <a:solidFill>
                  <a:srgbClr val="B44D3A"/>
                </a:solidFill>
                <a:latin typeface="Helvetica Neue"/>
                <a:ea typeface="Helvetica Neue"/>
                <a:cs typeface="Helvetica Neue"/>
              </a:rPr>
              <a:t>→</a:t>
            </a:r>
          </a:p>
        </p:txBody>
      </p:sp>
      <p:sp>
        <p:nvSpPr>
          <p:cNvPr id="13" name="">
            <a:extLst xmlns:a="http://schemas.openxmlformats.org/drawingml/2006/main">
              <a:ext uri="{FF2B5EF4-FFF2-40B4-BE49-F238E27FC236}">
                <a16:creationId xmlns:a16="http://schemas.microsoft.com/office/drawing/2014/main" id="{73A943BA-E8AD-4749-8E6A-BBA6BDF493E4}"/>
              </a:ext>
            </a:extLst>
          </p:cNvPr>
          <p:cNvSpPr>
            <a:spLocks xmlns:a="http://schemas.openxmlformats.org/drawingml/2006/main" noGrp="1"/>
          </p:cNvSpPr>
          <p:nvPr/>
        </p:nvSpPr>
        <p:spPr>
          <a:xfrm xmlns:a="http://schemas.openxmlformats.org/drawingml/2006/main">
            <a:off x="10096500" y="1733550"/>
            <a:ext cx="1504950" cy="2914650"/>
          </a:xfrm>
          <a:prstGeom xmlns:a="http://schemas.openxmlformats.org/drawingml/2006/main" prst="rect">
            <a:avLst/>
          </a:prstGeom>
          <a:solidFill xmlns:a="http://schemas.openxmlformats.org/drawingml/2006/main">
            <a:srgbClr val="F9E2D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808D5FB-1D56-4029-A20E-88B63F0472E0}"/>
              </a:ext>
            </a:extLst>
          </p:cNvPr>
          <p:cNvSpPr>
            <a:spLocks xmlns:a="http://schemas.openxmlformats.org/drawingml/2006/main" noGrp="1"/>
          </p:cNvSpPr>
          <p:nvPr/>
        </p:nvSpPr>
        <p:spPr>
          <a:xfrm xmlns:a="http://schemas.openxmlformats.org/drawingml/2006/main">
            <a:off x="10325100" y="2095500"/>
            <a:ext cx="1028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125" b="1" i="0">
                <a:solidFill>
                  <a:srgbClr val="B44D3A"/>
                </a:solidFill>
                <a:latin typeface="Helvetica Neue"/>
                <a:ea typeface="Helvetica Neue"/>
                <a:cs typeface="Helvetica Neue"/>
              </a:defRPr>
            </a:pPr>
            <a:r>
              <a:rPr sz="1125" b="1" i="0">
                <a:solidFill>
                  <a:srgbClr val="B44D3A"/>
                </a:solidFill>
                <a:latin typeface="Helvetica Neue"/>
                <a:ea typeface="Helvetica Neue"/>
                <a:cs typeface="Helvetica Neue"/>
              </a:rPr>
              <a:t>SOURCE</a:t>
            </a:r>
          </a:p>
        </p:txBody>
      </p:sp>
      <p:sp>
        <p:nvSpPr>
          <p:cNvPr id="15" name="">
            <a:extLst xmlns:a="http://schemas.openxmlformats.org/drawingml/2006/main">
              <a:ext uri="{FF2B5EF4-FFF2-40B4-BE49-F238E27FC236}">
                <a16:creationId xmlns:a16="http://schemas.microsoft.com/office/drawing/2014/main" id="{A98CE6BA-0483-4A25-B05C-80B728474B32}"/>
              </a:ext>
            </a:extLst>
          </p:cNvPr>
          <p:cNvSpPr>
            <a:spLocks xmlns:a="http://schemas.openxmlformats.org/drawingml/2006/main" noGrp="1"/>
          </p:cNvSpPr>
          <p:nvPr/>
        </p:nvSpPr>
        <p:spPr>
          <a:xfrm xmlns:a="http://schemas.openxmlformats.org/drawingml/2006/main">
            <a:off x="10210800" y="2686050"/>
            <a:ext cx="12382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500" b="1" i="0">
                <a:solidFill>
                  <a:srgbClr val="10233D"/>
                </a:solidFill>
                <a:latin typeface="Helvetica Neue"/>
                <a:ea typeface="Helvetica Neue"/>
                <a:cs typeface="Helvetica Neue"/>
              </a:defRPr>
            </a:pPr>
            <a:r>
              <a:rPr sz="1500" b="1" i="0">
                <a:solidFill>
                  <a:srgbClr val="10233D"/>
                </a:solidFill>
                <a:latin typeface="Helvetica Neue"/>
                <a:ea typeface="Helvetica Neue"/>
                <a:cs typeface="Helvetica Neue"/>
              </a:rPr>
              <a:t>Culture +</a:t>
            </a:r>
          </a:p>
          <a:p xmlns:a="http://schemas.openxmlformats.org/drawingml/2006/main">
            <a:pPr algn="ctr">
              <a:defRPr sz="1500" b="1" i="0">
                <a:solidFill>
                  <a:srgbClr val="10233D"/>
                </a:solidFill>
                <a:latin typeface="Helvetica Neue"/>
                <a:ea typeface="Helvetica Neue"/>
                <a:cs typeface="Helvetica Neue"/>
              </a:defRPr>
            </a:pPr>
            <a:r>
              <a:rPr sz="1500" b="1" i="0">
                <a:solidFill>
                  <a:srgbClr val="10233D"/>
                </a:solidFill>
                <a:latin typeface="Helvetica Neue"/>
                <a:ea typeface="Helvetica Neue"/>
                <a:cs typeface="Helvetica Neue"/>
              </a:rPr>
              <a:t>social</a:t>
            </a:r>
          </a:p>
          <a:p xmlns:a="http://schemas.openxmlformats.org/drawingml/2006/main">
            <a:pPr algn="ctr">
              <a:defRPr sz="1500" b="1" i="0">
                <a:solidFill>
                  <a:srgbClr val="10233D"/>
                </a:solidFill>
                <a:latin typeface="Helvetica Neue"/>
                <a:ea typeface="Helvetica Neue"/>
                <a:cs typeface="Helvetica Neue"/>
              </a:defRPr>
            </a:pPr>
            <a:r>
              <a:rPr sz="1500" b="1" i="0">
                <a:solidFill>
                  <a:srgbClr val="10233D"/>
                </a:solidFill>
                <a:latin typeface="Helvetica Neue"/>
                <a:ea typeface="Helvetica Neue"/>
                <a:cs typeface="Helvetica Neue"/>
              </a:rPr>
              <a:t>interaction</a:t>
            </a:r>
          </a:p>
        </p:txBody>
      </p:sp>
      <p:sp>
        <p:nvSpPr>
          <p:cNvPr id="16" name="">
            <a:extLst xmlns:a="http://schemas.openxmlformats.org/drawingml/2006/main">
              <a:ext uri="{FF2B5EF4-FFF2-40B4-BE49-F238E27FC236}">
                <a16:creationId xmlns:a16="http://schemas.microsoft.com/office/drawing/2014/main" id="{7476ED2E-3A7A-449B-82F5-636C36127E3D}"/>
              </a:ext>
            </a:extLst>
          </p:cNvPr>
          <p:cNvSpPr>
            <a:spLocks xmlns:a="http://schemas.openxmlformats.org/drawingml/2006/main" noGrp="1"/>
          </p:cNvSpPr>
          <p:nvPr/>
        </p:nvSpPr>
        <p:spPr>
          <a:xfrm xmlns:a="http://schemas.openxmlformats.org/drawingml/2006/main">
            <a:off x="590550" y="5286375"/>
            <a:ext cx="1028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i="1">
                <a:solidFill>
                  <a:srgbClr val="10233D"/>
                </a:solidFill>
                <a:latin typeface="Helvetica Neue"/>
                <a:ea typeface="Helvetica Neue"/>
                <a:cs typeface="Helvetica Neue"/>
              </a:defRPr>
            </a:pPr>
            <a:r>
              <a:rPr sz="1650" b="0" i="1">
                <a:solidFill>
                  <a:srgbClr val="10233D"/>
                </a:solidFill>
                <a:latin typeface="Helvetica Neue"/>
                <a:ea typeface="Helvetica Neue"/>
                <a:cs typeface="Helvetica Neue"/>
              </a:rPr>
              <a:t>The central problem: How do these tools get from outside to inside?</a:t>
            </a:r>
          </a:p>
        </p:txBody>
      </p:sp>
      <p:sp>
        <p:nvSpPr>
          <p:cNvPr id="17" name="">
            <a:extLst xmlns:a="http://schemas.openxmlformats.org/drawingml/2006/main">
              <a:ext uri="{FF2B5EF4-FFF2-40B4-BE49-F238E27FC236}">
                <a16:creationId xmlns:a16="http://schemas.microsoft.com/office/drawing/2014/main" id="{058ABFD8-EDD7-4860-B49C-EC8C66E791AF}"/>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0365976-60B0-46C6-8076-7557D38F2BFF}"/>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 68. Slide wording is paraphrased.</a:t>
            </a:r>
          </a:p>
        </p:txBody>
      </p:sp>
      <p:sp>
        <p:nvSpPr>
          <p:cNvPr id="19" name="">
            <a:extLst xmlns:a="http://schemas.openxmlformats.org/drawingml/2006/main">
              <a:ext uri="{FF2B5EF4-FFF2-40B4-BE49-F238E27FC236}">
                <a16:creationId xmlns:a16="http://schemas.microsoft.com/office/drawing/2014/main" id="{288FCB3F-9A47-4FD5-BEC6-EA854F7397C1}"/>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07</a:t>
            </a:r>
          </a:p>
        </p:txBody>
      </p:sp>
    </p:spTree>
    <p:extLst>
      <p:ext uri="{BB962C8B-B14F-4D97-AF65-F5344CB8AC3E}">
        <p14:creationId xmlns:p14="http://schemas.microsoft.com/office/powerpoint/2010/main" val="868406079"/>
      </p:ext>
    </p:extLst>
  </p:cSld>
</p:sld>
</file>

<file path=ppt/slides/slide8.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778F9213-E467-415B-82C1-7F28C3E70BE1}"/>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42EDAAF7-6B9E-4915-B69A-823E87354391}"/>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Social interaction is how culture enters thought</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7ab38d7f55fc48ff"/>
          <a:srcRect xmlns:a="http://schemas.openxmlformats.org/drawingml/2006/main" l="0" t="1517" r="0" b="1517"/>
          <a:stretch xmlns:a="http://schemas.openxmlformats.org/drawingml/2006/main">
            <a:fillRect l="0" t="0" r="0" b="0"/>
          </a:stretch>
        </p:blipFill>
        <p:spPr>
          <a:xfrm xmlns:a="http://schemas.openxmlformats.org/drawingml/2006/main">
            <a:off x="5143500" y="1619250"/>
            <a:ext cx="6457950" cy="35242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029DA6F-F630-48AA-85FD-9E46A59A8CC0}"/>
              </a:ext>
            </a:extLst>
          </p:cNvPr>
          <p:cNvSpPr>
            <a:spLocks xmlns:a="http://schemas.openxmlformats.org/drawingml/2006/main" noGrp="1"/>
          </p:cNvSpPr>
          <p:nvPr/>
        </p:nvSpPr>
        <p:spPr>
          <a:xfrm xmlns:a="http://schemas.openxmlformats.org/drawingml/2006/main">
            <a:off x="742950" y="19240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i="0">
                <a:solidFill>
                  <a:srgbClr val="B44D3A"/>
                </a:solidFill>
                <a:latin typeface="Helvetica Neue"/>
                <a:ea typeface="Helvetica Neue"/>
                <a:cs typeface="Helvetica Neue"/>
              </a:defRPr>
            </a:pPr>
            <a:r>
              <a:rPr sz="1500" b="1" i="0">
                <a:solidFill>
                  <a:srgbClr val="B44D3A"/>
                </a:solidFill>
                <a:latin typeface="Helvetica Neue"/>
                <a:ea typeface="Helvetica Neue"/>
                <a:cs typeface="Helvetica Neue"/>
              </a:rPr>
              <a:t>Outside</a:t>
            </a:r>
          </a:p>
        </p:txBody>
      </p:sp>
      <p:sp>
        <p:nvSpPr>
          <p:cNvPr id="5" name="">
            <a:extLst xmlns:a="http://schemas.openxmlformats.org/drawingml/2006/main">
              <a:ext uri="{FF2B5EF4-FFF2-40B4-BE49-F238E27FC236}">
                <a16:creationId xmlns:a16="http://schemas.microsoft.com/office/drawing/2014/main" id="{0569ED48-AB18-432F-9079-562690683C59}"/>
              </a:ext>
            </a:extLst>
          </p:cNvPr>
          <p:cNvSpPr>
            <a:spLocks xmlns:a="http://schemas.openxmlformats.org/drawingml/2006/main" noGrp="1"/>
          </p:cNvSpPr>
          <p:nvPr/>
        </p:nvSpPr>
        <p:spPr>
          <a:xfrm xmlns:a="http://schemas.openxmlformats.org/drawingml/2006/main">
            <a:off x="742950" y="2266950"/>
            <a:ext cx="3619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22"/>
          </a:bodyPr>
          <a:lstStyle xmlns:a="http://schemas.openxmlformats.org/drawingml/2006/main"/>
          <a:p xmlns:a="http://schemas.openxmlformats.org/drawingml/2006/main">
            <a:pPr algn="l">
              <a:defRPr sz="2250" b="1" i="0">
                <a:solidFill>
                  <a:srgbClr val="10233D"/>
                </a:solidFill>
                <a:latin typeface="Helvetica Neue"/>
                <a:ea typeface="Helvetica Neue"/>
                <a:cs typeface="Helvetica Neue"/>
              </a:defRPr>
            </a:pPr>
            <a:r>
              <a:rPr sz="2250" b="1" i="0">
                <a:solidFill>
                  <a:srgbClr val="10233D"/>
                </a:solidFill>
                <a:latin typeface="Helvetica Neue"/>
                <a:ea typeface="Helvetica Neue"/>
                <a:cs typeface="Helvetica Neue"/>
              </a:rPr>
              <a:t>People act and talk together.</a:t>
            </a:r>
          </a:p>
        </p:txBody>
      </p:sp>
      <p:sp>
        <p:nvSpPr>
          <p:cNvPr id="6" name="">
            <a:extLst xmlns:a="http://schemas.openxmlformats.org/drawingml/2006/main">
              <a:ext uri="{FF2B5EF4-FFF2-40B4-BE49-F238E27FC236}">
                <a16:creationId xmlns:a16="http://schemas.microsoft.com/office/drawing/2014/main" id="{EA907A39-1A5D-4235-9216-153CC53BDF9B}"/>
              </a:ext>
            </a:extLst>
          </p:cNvPr>
          <p:cNvSpPr>
            <a:spLocks xmlns:a="http://schemas.openxmlformats.org/drawingml/2006/main" noGrp="1"/>
          </p:cNvSpPr>
          <p:nvPr/>
        </p:nvSpPr>
        <p:spPr>
          <a:xfrm xmlns:a="http://schemas.openxmlformats.org/drawingml/2006/main">
            <a:off x="742950" y="2990850"/>
            <a:ext cx="367665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8EDE6570-B0B6-45E1-B615-E455999A5E12}"/>
              </a:ext>
            </a:extLst>
          </p:cNvPr>
          <p:cNvSpPr>
            <a:spLocks xmlns:a="http://schemas.openxmlformats.org/drawingml/2006/main" noGrp="1"/>
          </p:cNvSpPr>
          <p:nvPr/>
        </p:nvSpPr>
        <p:spPr>
          <a:xfrm xmlns:a="http://schemas.openxmlformats.org/drawingml/2006/main">
            <a:off x="742950" y="32575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i="0">
                <a:solidFill>
                  <a:srgbClr val="B44D3A"/>
                </a:solidFill>
                <a:latin typeface="Helvetica Neue"/>
                <a:ea typeface="Helvetica Neue"/>
                <a:cs typeface="Helvetica Neue"/>
              </a:defRPr>
            </a:pPr>
            <a:r>
              <a:rPr sz="1500" b="1" i="0">
                <a:solidFill>
                  <a:srgbClr val="B44D3A"/>
                </a:solidFill>
                <a:latin typeface="Helvetica Neue"/>
                <a:ea typeface="Helvetica Neue"/>
                <a:cs typeface="Helvetica Neue"/>
              </a:rPr>
              <a:t>Between</a:t>
            </a:r>
          </a:p>
        </p:txBody>
      </p:sp>
      <p:sp>
        <p:nvSpPr>
          <p:cNvPr id="8" name="">
            <a:extLst xmlns:a="http://schemas.openxmlformats.org/drawingml/2006/main">
              <a:ext uri="{FF2B5EF4-FFF2-40B4-BE49-F238E27FC236}">
                <a16:creationId xmlns:a16="http://schemas.microsoft.com/office/drawing/2014/main" id="{444F6CBC-50CC-4901-B42C-C7C69DD687D4}"/>
              </a:ext>
            </a:extLst>
          </p:cNvPr>
          <p:cNvSpPr>
            <a:spLocks xmlns:a="http://schemas.openxmlformats.org/drawingml/2006/main" noGrp="1"/>
          </p:cNvSpPr>
          <p:nvPr/>
        </p:nvSpPr>
        <p:spPr>
          <a:xfrm xmlns:a="http://schemas.openxmlformats.org/drawingml/2006/main">
            <a:off x="742950" y="3600450"/>
            <a:ext cx="3619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9805"/>
          </a:bodyPr>
          <a:lstStyle xmlns:a="http://schemas.openxmlformats.org/drawingml/2006/main"/>
          <a:p xmlns:a="http://schemas.openxmlformats.org/drawingml/2006/main">
            <a:pPr algn="l">
              <a:defRPr sz="2250" b="1" i="0">
                <a:solidFill>
                  <a:srgbClr val="10233D"/>
                </a:solidFill>
                <a:latin typeface="Helvetica Neue"/>
                <a:ea typeface="Helvetica Neue"/>
                <a:cs typeface="Helvetica Neue"/>
              </a:defRPr>
            </a:pPr>
            <a:r>
              <a:rPr sz="2250" b="1" i="0">
                <a:solidFill>
                  <a:srgbClr val="10233D"/>
                </a:solidFill>
                <a:latin typeface="Helvetica Neue"/>
                <a:ea typeface="Helvetica Neue"/>
                <a:cs typeface="Helvetica Neue"/>
              </a:rPr>
              <a:t>Speech carries shared meanings.</a:t>
            </a:r>
          </a:p>
        </p:txBody>
      </p:sp>
      <p:sp>
        <p:nvSpPr>
          <p:cNvPr id="9" name="">
            <a:extLst xmlns:a="http://schemas.openxmlformats.org/drawingml/2006/main">
              <a:ext uri="{FF2B5EF4-FFF2-40B4-BE49-F238E27FC236}">
                <a16:creationId xmlns:a16="http://schemas.microsoft.com/office/drawing/2014/main" id="{8895B191-3C89-4616-8823-E98F00C9FA72}"/>
              </a:ext>
            </a:extLst>
          </p:cNvPr>
          <p:cNvSpPr>
            <a:spLocks xmlns:a="http://schemas.openxmlformats.org/drawingml/2006/main" noGrp="1"/>
          </p:cNvSpPr>
          <p:nvPr/>
        </p:nvSpPr>
        <p:spPr>
          <a:xfrm xmlns:a="http://schemas.openxmlformats.org/drawingml/2006/main">
            <a:off x="742950" y="4324350"/>
            <a:ext cx="367665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CA7DD6A-C6BF-4F2C-8E48-22440F89EA40}"/>
              </a:ext>
            </a:extLst>
          </p:cNvPr>
          <p:cNvSpPr>
            <a:spLocks xmlns:a="http://schemas.openxmlformats.org/drawingml/2006/main" noGrp="1"/>
          </p:cNvSpPr>
          <p:nvPr/>
        </p:nvSpPr>
        <p:spPr>
          <a:xfrm xmlns:a="http://schemas.openxmlformats.org/drawingml/2006/main">
            <a:off x="742950" y="45910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i="0">
                <a:solidFill>
                  <a:srgbClr val="B44D3A"/>
                </a:solidFill>
                <a:latin typeface="Helvetica Neue"/>
                <a:ea typeface="Helvetica Neue"/>
                <a:cs typeface="Helvetica Neue"/>
              </a:defRPr>
            </a:pPr>
            <a:r>
              <a:rPr sz="1500" b="1" i="0">
                <a:solidFill>
                  <a:srgbClr val="B44D3A"/>
                </a:solidFill>
                <a:latin typeface="Helvetica Neue"/>
                <a:ea typeface="Helvetica Neue"/>
                <a:cs typeface="Helvetica Neue"/>
              </a:rPr>
              <a:t>Inside</a:t>
            </a:r>
          </a:p>
        </p:txBody>
      </p:sp>
      <p:sp>
        <p:nvSpPr>
          <p:cNvPr id="11" name="">
            <a:extLst xmlns:a="http://schemas.openxmlformats.org/drawingml/2006/main">
              <a:ext uri="{FF2B5EF4-FFF2-40B4-BE49-F238E27FC236}">
                <a16:creationId xmlns:a16="http://schemas.microsoft.com/office/drawing/2014/main" id="{0877176C-BF64-457E-83EB-052B2E7692A2}"/>
              </a:ext>
            </a:extLst>
          </p:cNvPr>
          <p:cNvSpPr>
            <a:spLocks xmlns:a="http://schemas.openxmlformats.org/drawingml/2006/main" noGrp="1"/>
          </p:cNvSpPr>
          <p:nvPr/>
        </p:nvSpPr>
        <p:spPr>
          <a:xfrm xmlns:a="http://schemas.openxmlformats.org/drawingml/2006/main">
            <a:off x="742950" y="4933950"/>
            <a:ext cx="3857625"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889"/>
          </a:bodyPr>
          <a:lstStyle xmlns:a="http://schemas.openxmlformats.org/drawingml/2006/main"/>
          <a:p xmlns:a="http://schemas.openxmlformats.org/drawingml/2006/main">
            <a:pPr algn="l">
              <a:defRPr sz="2250" b="1" i="0">
                <a:solidFill>
                  <a:srgbClr val="10233D"/>
                </a:solidFill>
                <a:latin typeface="Helvetica Neue"/>
                <a:ea typeface="Helvetica Neue"/>
                <a:cs typeface="Helvetica Neue"/>
              </a:defRPr>
            </a:pPr>
            <a:r>
              <a:rPr sz="2250" b="1" i="0">
                <a:solidFill>
                  <a:srgbClr val="10233D"/>
                </a:solidFill>
                <a:latin typeface="Helvetica Neue"/>
                <a:ea typeface="Helvetica Neue"/>
                <a:cs typeface="Helvetica Neue"/>
              </a:rPr>
              <a:t>Those meanings become tools for thinking.</a:t>
            </a:r>
          </a:p>
        </p:txBody>
      </p:sp>
      <p:sp>
        <p:nvSpPr>
          <p:cNvPr id="12" name="">
            <a:extLst xmlns:a="http://schemas.openxmlformats.org/drawingml/2006/main">
              <a:ext uri="{FF2B5EF4-FFF2-40B4-BE49-F238E27FC236}">
                <a16:creationId xmlns:a16="http://schemas.microsoft.com/office/drawing/2014/main" id="{0B0C1B33-E70F-4BB2-8E36-8C38E4ED7C47}"/>
              </a:ext>
            </a:extLst>
          </p:cNvPr>
          <p:cNvSpPr>
            <a:spLocks xmlns:a="http://schemas.openxmlformats.org/drawingml/2006/main" noGrp="1"/>
          </p:cNvSpPr>
          <p:nvPr/>
        </p:nvSpPr>
        <p:spPr>
          <a:xfrm xmlns:a="http://schemas.openxmlformats.org/drawingml/2006/main">
            <a:off x="5143500" y="5410200"/>
            <a:ext cx="6457950" cy="571500"/>
          </a:xfrm>
          <a:prstGeom xmlns:a="http://schemas.openxmlformats.org/drawingml/2006/main" prst="rect">
            <a:avLst/>
          </a:prstGeom>
          <a:solidFill xmlns:a="http://schemas.openxmlformats.org/drawingml/2006/main">
            <a:srgbClr val="F9E2D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576B727-A59B-4705-83EE-F95344384B82}"/>
              </a:ext>
            </a:extLst>
          </p:cNvPr>
          <p:cNvSpPr>
            <a:spLocks xmlns:a="http://schemas.openxmlformats.org/drawingml/2006/main" noGrp="1"/>
          </p:cNvSpPr>
          <p:nvPr/>
        </p:nvSpPr>
        <p:spPr>
          <a:xfrm xmlns:a="http://schemas.openxmlformats.org/drawingml/2006/main">
            <a:off x="5448300" y="5562600"/>
            <a:ext cx="575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3408"/>
          </a:bodyPr>
          <a:lstStyle xmlns:a="http://schemas.openxmlformats.org/drawingml/2006/main"/>
          <a:p xmlns:a="http://schemas.openxmlformats.org/drawingml/2006/main">
            <a:pPr algn="l">
              <a:defRPr sz="1350" b="1" i="0">
                <a:solidFill>
                  <a:srgbClr val="10233D"/>
                </a:solidFill>
                <a:latin typeface="Helvetica Neue"/>
                <a:ea typeface="Helvetica Neue"/>
                <a:cs typeface="Helvetica Neue"/>
              </a:defRPr>
            </a:pPr>
            <a:r>
              <a:rPr sz="1350" b="1" i="0">
                <a:solidFill>
                  <a:srgbClr val="10233D"/>
                </a:solidFill>
                <a:latin typeface="Helvetica Neue"/>
                <a:ea typeface="Helvetica Neue"/>
                <a:cs typeface="Helvetica Neue"/>
              </a:rPr>
              <a:t>Internalization is not copying. It is culture becoming a resource within the person’s own thought.</a:t>
            </a:r>
          </a:p>
        </p:txBody>
      </p:sp>
      <p:sp>
        <p:nvSpPr>
          <p:cNvPr id="14" name="">
            <a:extLst xmlns:a="http://schemas.openxmlformats.org/drawingml/2006/main">
              <a:ext uri="{FF2B5EF4-FFF2-40B4-BE49-F238E27FC236}">
                <a16:creationId xmlns:a16="http://schemas.microsoft.com/office/drawing/2014/main" id="{381990F3-5FE0-41ED-B122-79FEC3D560FE}"/>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30ED9DD-87D4-44FD-A5F0-E9A23D72E5EF}"/>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 68. Slide wording is paraphrased.</a:t>
            </a:r>
          </a:p>
        </p:txBody>
      </p:sp>
      <p:sp>
        <p:nvSpPr>
          <p:cNvPr id="16" name="">
            <a:extLst xmlns:a="http://schemas.openxmlformats.org/drawingml/2006/main">
              <a:ext uri="{FF2B5EF4-FFF2-40B4-BE49-F238E27FC236}">
                <a16:creationId xmlns:a16="http://schemas.microsoft.com/office/drawing/2014/main" id="{E5955EF3-E331-4B74-AD8B-0686A1A53DA3}"/>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08</a:t>
            </a:r>
          </a:p>
        </p:txBody>
      </p:sp>
    </p:spTree>
    <p:extLst>
      <p:ext uri="{BB962C8B-B14F-4D97-AF65-F5344CB8AC3E}">
        <p14:creationId xmlns:p14="http://schemas.microsoft.com/office/powerpoint/2010/main" val="750491636"/>
      </p:ext>
    </p:extLst>
  </p:cSld>
</p:sld>
</file>

<file path=ppt/slides/slide9.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37DBE11-0F35-479E-A317-0315D53CD4E7}"/>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0ABDF6B4-30CF-4DA1-A64B-2F776E5822F9}"/>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The ZPD shows what guided help makes possible</a:t>
            </a:r>
          </a:p>
        </p:txBody>
      </p:sp>
      <p:sp>
        <p:nvSpPr>
          <p:cNvPr id="3" name="">
            <a:extLst xmlns:a="http://schemas.openxmlformats.org/drawingml/2006/main">
              <a:ext uri="{FF2B5EF4-FFF2-40B4-BE49-F238E27FC236}">
                <a16:creationId xmlns:a16="http://schemas.microsoft.com/office/drawing/2014/main" id="{6637D2ED-2429-4C28-AE13-8ED391ED83A2}"/>
              </a:ext>
            </a:extLst>
          </p:cNvPr>
          <p:cNvSpPr>
            <a:spLocks xmlns:a="http://schemas.openxmlformats.org/drawingml/2006/main" noGrp="1"/>
          </p:cNvSpPr>
          <p:nvPr/>
        </p:nvSpPr>
        <p:spPr>
          <a:xfrm xmlns:a="http://schemas.openxmlformats.org/drawingml/2006/main">
            <a:off x="590550" y="1352550"/>
            <a:ext cx="1076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011"/>
          </a:bodyPr>
          <a:lstStyle xmlns:a="http://schemas.openxmlformats.org/drawingml/2006/main"/>
          <a:p xmlns:a="http://schemas.openxmlformats.org/drawingml/2006/main">
            <a:pPr algn="l">
              <a:defRPr sz="1650" b="0" i="0">
                <a:solidFill>
                  <a:srgbClr val="596678"/>
                </a:solidFill>
                <a:latin typeface="Helvetica Neue"/>
                <a:ea typeface="Helvetica Neue"/>
                <a:cs typeface="Helvetica Neue"/>
              </a:defRPr>
            </a:pPr>
            <a:r>
              <a:rPr sz="1650" b="0" i="0">
                <a:solidFill>
                  <a:srgbClr val="596678"/>
                </a:solidFill>
                <a:latin typeface="Helvetica Neue"/>
                <a:ea typeface="Helvetica Neue"/>
                <a:cs typeface="Helvetica Neue"/>
              </a:rPr>
              <a:t>The zone of proximal development is the gap between what you can do alone and what you can do with well-matched help.</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af5eac7852f24d52"/>
          <a:srcRect xmlns:a="http://schemas.openxmlformats.org/drawingml/2006/main" l="2648" t="0" r="2648" b="0"/>
          <a:stretch xmlns:a="http://schemas.openxmlformats.org/drawingml/2006/main">
            <a:fillRect l="0" t="0" r="0" b="0"/>
          </a:stretch>
        </p:blipFill>
        <p:spPr>
          <a:xfrm xmlns:a="http://schemas.openxmlformats.org/drawingml/2006/main">
            <a:off x="5286375" y="1828800"/>
            <a:ext cx="6315075" cy="37528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F88710FC-1EE7-4D12-92A8-8DB9A048C057}"/>
              </a:ext>
            </a:extLst>
          </p:cNvPr>
          <p:cNvSpPr>
            <a:spLocks xmlns:a="http://schemas.openxmlformats.org/drawingml/2006/main" noGrp="1"/>
          </p:cNvSpPr>
          <p:nvPr/>
        </p:nvSpPr>
        <p:spPr>
          <a:xfrm xmlns:a="http://schemas.openxmlformats.org/drawingml/2006/main">
            <a:off x="742950" y="213360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1" i="0">
                <a:solidFill>
                  <a:srgbClr val="596678"/>
                </a:solidFill>
                <a:latin typeface="Helvetica Neue"/>
                <a:ea typeface="Helvetica Neue"/>
                <a:cs typeface="Helvetica Neue"/>
              </a:defRPr>
            </a:pPr>
            <a:r>
              <a:rPr sz="1425" b="1" i="0">
                <a:solidFill>
                  <a:srgbClr val="596678"/>
                </a:solidFill>
                <a:latin typeface="Helvetica Neue"/>
                <a:ea typeface="Helvetica Neue"/>
                <a:cs typeface="Helvetica Neue"/>
              </a:rPr>
              <a:t>Already possible</a:t>
            </a:r>
          </a:p>
        </p:txBody>
      </p:sp>
      <p:sp>
        <p:nvSpPr>
          <p:cNvPr id="6" name="">
            <a:extLst xmlns:a="http://schemas.openxmlformats.org/drawingml/2006/main">
              <a:ext uri="{FF2B5EF4-FFF2-40B4-BE49-F238E27FC236}">
                <a16:creationId xmlns:a16="http://schemas.microsoft.com/office/drawing/2014/main" id="{F950C5DF-3078-4140-B479-3973CCE8D7F5}"/>
              </a:ext>
            </a:extLst>
          </p:cNvPr>
          <p:cNvSpPr>
            <a:spLocks xmlns:a="http://schemas.openxmlformats.org/drawingml/2006/main" noGrp="1"/>
          </p:cNvSpPr>
          <p:nvPr/>
        </p:nvSpPr>
        <p:spPr>
          <a:xfrm xmlns:a="http://schemas.openxmlformats.org/drawingml/2006/main">
            <a:off x="742950" y="2514600"/>
            <a:ext cx="36766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354"/>
          </a:bodyPr>
          <a:lstStyle xmlns:a="http://schemas.openxmlformats.org/drawingml/2006/main"/>
          <a:p xmlns:a="http://schemas.openxmlformats.org/drawingml/2006/main">
            <a:pPr algn="l">
              <a:defRPr sz="2400" b="1" i="0">
                <a:solidFill>
                  <a:srgbClr val="10233D"/>
                </a:solidFill>
                <a:latin typeface="Helvetica Neue"/>
                <a:ea typeface="Helvetica Neue"/>
                <a:cs typeface="Helvetica Neue"/>
              </a:defRPr>
            </a:pPr>
            <a:r>
              <a:rPr sz="2400" b="1" i="0">
                <a:solidFill>
                  <a:srgbClr val="10233D"/>
                </a:solidFill>
                <a:latin typeface="Helvetica Neue"/>
                <a:ea typeface="Helvetica Neue"/>
                <a:cs typeface="Helvetica Neue"/>
              </a:rPr>
              <a:t>What the learner can do alone</a:t>
            </a:r>
          </a:p>
        </p:txBody>
      </p:sp>
      <p:sp>
        <p:nvSpPr>
          <p:cNvPr id="7" name="">
            <a:extLst xmlns:a="http://schemas.openxmlformats.org/drawingml/2006/main">
              <a:ext uri="{FF2B5EF4-FFF2-40B4-BE49-F238E27FC236}">
                <a16:creationId xmlns:a16="http://schemas.microsoft.com/office/drawing/2014/main" id="{22ED4C1A-6593-468E-8710-202C975E1618}"/>
              </a:ext>
            </a:extLst>
          </p:cNvPr>
          <p:cNvSpPr>
            <a:spLocks xmlns:a="http://schemas.openxmlformats.org/drawingml/2006/main" noGrp="1"/>
          </p:cNvSpPr>
          <p:nvPr/>
        </p:nvSpPr>
        <p:spPr>
          <a:xfrm xmlns:a="http://schemas.openxmlformats.org/drawingml/2006/main">
            <a:off x="742950" y="3467100"/>
            <a:ext cx="3752850" cy="19050"/>
          </a:xfrm>
          <a:prstGeom xmlns:a="http://schemas.openxmlformats.org/drawingml/2006/main" prst="rect">
            <a:avLst/>
          </a:prstGeom>
          <a:solidFill xmlns:a="http://schemas.openxmlformats.org/drawingml/2006/main">
            <a:srgbClr val="A8650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C56D336-D2E6-496D-8EE6-00B118A1AB43}"/>
              </a:ext>
            </a:extLst>
          </p:cNvPr>
          <p:cNvSpPr>
            <a:spLocks xmlns:a="http://schemas.openxmlformats.org/drawingml/2006/main" noGrp="1"/>
          </p:cNvSpPr>
          <p:nvPr/>
        </p:nvSpPr>
        <p:spPr>
          <a:xfrm xmlns:a="http://schemas.openxmlformats.org/drawingml/2006/main">
            <a:off x="742950" y="379095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1" i="0">
                <a:solidFill>
                  <a:srgbClr val="B44D3A"/>
                </a:solidFill>
                <a:latin typeface="Helvetica Neue"/>
                <a:ea typeface="Helvetica Neue"/>
                <a:cs typeface="Helvetica Neue"/>
              </a:defRPr>
            </a:pPr>
            <a:r>
              <a:rPr sz="1425" b="1" i="0">
                <a:solidFill>
                  <a:srgbClr val="B44D3A"/>
                </a:solidFill>
                <a:latin typeface="Helvetica Neue"/>
                <a:ea typeface="Helvetica Neue"/>
                <a:cs typeface="Helvetica Neue"/>
              </a:rPr>
              <a:t>The ZPD</a:t>
            </a:r>
          </a:p>
        </p:txBody>
      </p:sp>
      <p:sp>
        <p:nvSpPr>
          <p:cNvPr id="9" name="">
            <a:extLst xmlns:a="http://schemas.openxmlformats.org/drawingml/2006/main">
              <a:ext uri="{FF2B5EF4-FFF2-40B4-BE49-F238E27FC236}">
                <a16:creationId xmlns:a16="http://schemas.microsoft.com/office/drawing/2014/main" id="{C0DB11B3-3810-49C3-912B-D063F12A5E1C}"/>
              </a:ext>
            </a:extLst>
          </p:cNvPr>
          <p:cNvSpPr>
            <a:spLocks xmlns:a="http://schemas.openxmlformats.org/drawingml/2006/main" noGrp="1"/>
          </p:cNvSpPr>
          <p:nvPr/>
        </p:nvSpPr>
        <p:spPr>
          <a:xfrm xmlns:a="http://schemas.openxmlformats.org/drawingml/2006/main">
            <a:off x="742950" y="4171950"/>
            <a:ext cx="39052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595"/>
          </a:bodyPr>
          <a:lstStyle xmlns:a="http://schemas.openxmlformats.org/drawingml/2006/main"/>
          <a:p xmlns:a="http://schemas.openxmlformats.org/drawingml/2006/main">
            <a:pPr algn="l">
              <a:defRPr sz="2400" b="1" i="0">
                <a:solidFill>
                  <a:srgbClr val="10233D"/>
                </a:solidFill>
                <a:latin typeface="Helvetica Neue"/>
                <a:ea typeface="Helvetica Neue"/>
                <a:cs typeface="Helvetica Neue"/>
              </a:defRPr>
            </a:pPr>
            <a:r>
              <a:rPr sz="2400" b="1" i="0">
                <a:solidFill>
                  <a:srgbClr val="10233D"/>
                </a:solidFill>
                <a:latin typeface="Helvetica Neue"/>
                <a:ea typeface="Helvetica Neue"/>
                <a:cs typeface="Helvetica Neue"/>
              </a:rPr>
              <a:t>The next step that becomes possible with help</a:t>
            </a:r>
          </a:p>
        </p:txBody>
      </p:sp>
      <p:sp>
        <p:nvSpPr>
          <p:cNvPr id="10" name="">
            <a:extLst xmlns:a="http://schemas.openxmlformats.org/drawingml/2006/main">
              <a:ext uri="{FF2B5EF4-FFF2-40B4-BE49-F238E27FC236}">
                <a16:creationId xmlns:a16="http://schemas.microsoft.com/office/drawing/2014/main" id="{AAA0D81D-FA02-4FE9-9497-5547CF88A836}"/>
              </a:ext>
            </a:extLst>
          </p:cNvPr>
          <p:cNvSpPr>
            <a:spLocks xmlns:a="http://schemas.openxmlformats.org/drawingml/2006/main" noGrp="1"/>
          </p:cNvSpPr>
          <p:nvPr/>
        </p:nvSpPr>
        <p:spPr>
          <a:xfrm xmlns:a="http://schemas.openxmlformats.org/drawingml/2006/main">
            <a:off x="742950" y="5162550"/>
            <a:ext cx="3905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0" i="0">
                <a:solidFill>
                  <a:srgbClr val="596678"/>
                </a:solidFill>
                <a:latin typeface="Helvetica Neue"/>
                <a:ea typeface="Helvetica Neue"/>
                <a:cs typeface="Helvetica Neue"/>
              </a:defRPr>
            </a:pPr>
            <a:r>
              <a:rPr sz="1350" b="0" i="0">
                <a:solidFill>
                  <a:srgbClr val="596678"/>
                </a:solidFill>
                <a:latin typeface="Helvetica Neue"/>
                <a:ea typeface="Helvetica Neue"/>
                <a:cs typeface="Helvetica Neue"/>
              </a:rPr>
              <a:t>Hints, sequencing, and shared attention make the help fit the learner.</a:t>
            </a:r>
          </a:p>
        </p:txBody>
      </p:sp>
      <p:sp>
        <p:nvSpPr>
          <p:cNvPr id="11" name="">
            <a:extLst xmlns:a="http://schemas.openxmlformats.org/drawingml/2006/main">
              <a:ext uri="{FF2B5EF4-FFF2-40B4-BE49-F238E27FC236}">
                <a16:creationId xmlns:a16="http://schemas.microsoft.com/office/drawing/2014/main" id="{D2CA25D9-4BD0-4EAC-B7E9-8939E1E50B2C}"/>
              </a:ext>
            </a:extLst>
          </p:cNvPr>
          <p:cNvSpPr>
            <a:spLocks xmlns:a="http://schemas.openxmlformats.org/drawingml/2006/main" noGrp="1"/>
          </p:cNvSpPr>
          <p:nvPr/>
        </p:nvSpPr>
        <p:spPr>
          <a:xfrm xmlns:a="http://schemas.openxmlformats.org/drawingml/2006/main">
            <a:off x="5286375" y="5638800"/>
            <a:ext cx="6315075" cy="400050"/>
          </a:xfrm>
          <a:prstGeom xmlns:a="http://schemas.openxmlformats.org/drawingml/2006/main" prst="rect">
            <a:avLst/>
          </a:prstGeom>
          <a:solidFill xmlns:a="http://schemas.openxmlformats.org/drawingml/2006/main">
            <a:srgbClr val="F9E5B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0569FE6-55E3-4E2C-A849-6582B58B3AE5}"/>
              </a:ext>
            </a:extLst>
          </p:cNvPr>
          <p:cNvSpPr>
            <a:spLocks xmlns:a="http://schemas.openxmlformats.org/drawingml/2006/main" noGrp="1"/>
          </p:cNvSpPr>
          <p:nvPr/>
        </p:nvSpPr>
        <p:spPr>
          <a:xfrm xmlns:a="http://schemas.openxmlformats.org/drawingml/2006/main">
            <a:off x="5553075" y="5734050"/>
            <a:ext cx="581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21"/>
          </a:bodyPr>
          <a:lstStyle xmlns:a="http://schemas.openxmlformats.org/drawingml/2006/main"/>
          <a:p xmlns:a="http://schemas.openxmlformats.org/drawingml/2006/main">
            <a:pPr algn="l">
              <a:defRPr sz="1275" b="1" i="0">
                <a:solidFill>
                  <a:srgbClr val="10233D"/>
                </a:solidFill>
                <a:latin typeface="Helvetica Neue"/>
                <a:ea typeface="Helvetica Neue"/>
                <a:cs typeface="Helvetica Neue"/>
              </a:defRPr>
            </a:pPr>
            <a:r>
              <a:rPr sz="1275" b="1" i="0">
                <a:solidFill>
                  <a:srgbClr val="10233D"/>
                </a:solidFill>
                <a:latin typeface="Helvetica Neue"/>
                <a:ea typeface="Helvetica Neue"/>
                <a:cs typeface="Helvetica Neue"/>
              </a:rPr>
              <a:t>The tutor helps with the next possible step; the learner still does the learning.</a:t>
            </a:r>
          </a:p>
        </p:txBody>
      </p:sp>
      <p:sp>
        <p:nvSpPr>
          <p:cNvPr id="13" name="">
            <a:extLst xmlns:a="http://schemas.openxmlformats.org/drawingml/2006/main">
              <a:ext uri="{FF2B5EF4-FFF2-40B4-BE49-F238E27FC236}">
                <a16:creationId xmlns:a16="http://schemas.microsoft.com/office/drawing/2014/main" id="{7BEA8540-4036-44AC-94BD-B97FB44AEB3A}"/>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BE878B0-505E-4360-AB15-7A94C20776DA}"/>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pp. 68–69. Slide wording is paraphrased.</a:t>
            </a:r>
          </a:p>
        </p:txBody>
      </p:sp>
      <p:sp>
        <p:nvSpPr>
          <p:cNvPr id="15" name="">
            <a:extLst xmlns:a="http://schemas.openxmlformats.org/drawingml/2006/main">
              <a:ext uri="{FF2B5EF4-FFF2-40B4-BE49-F238E27FC236}">
                <a16:creationId xmlns:a16="http://schemas.microsoft.com/office/drawing/2014/main" id="{38761DE2-A5CD-4CF9-9819-BB163F7140BE}"/>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09</a:t>
            </a:r>
          </a:p>
        </p:txBody>
      </p:sp>
    </p:spTree>
    <p:extLst>
      <p:ext uri="{BB962C8B-B14F-4D97-AF65-F5344CB8AC3E}">
        <p14:creationId xmlns:p14="http://schemas.microsoft.com/office/powerpoint/2010/main" val="235445785"/>
      </p:ext>
    </p:extLst>
  </p:cSld>
</p:sld>
</file>

<file path=ppt/slides/slide10.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AF26BD1-D38D-445A-A9FA-2B46193BA083}"/>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514849DD-E1DD-44A2-95D1-25E570C9A653}"/>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9955"/>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Piaget is closer to traditional cognitive science; Vygotsky to situated cognition</a:t>
            </a:r>
          </a:p>
        </p:txBody>
      </p:sp>
      <p:sp>
        <p:nvSpPr>
          <p:cNvPr id="3" name="">
            <a:extLst xmlns:a="http://schemas.openxmlformats.org/drawingml/2006/main">
              <a:ext uri="{FF2B5EF4-FFF2-40B4-BE49-F238E27FC236}">
                <a16:creationId xmlns:a16="http://schemas.microsoft.com/office/drawing/2014/main" id="{57CCE437-89F4-4D11-89E3-F8B6B5227644}"/>
              </a:ext>
            </a:extLst>
          </p:cNvPr>
          <p:cNvSpPr>
            <a:spLocks xmlns:a="http://schemas.openxmlformats.org/drawingml/2006/main" noGrp="1"/>
          </p:cNvSpPr>
          <p:nvPr/>
        </p:nvSpPr>
        <p:spPr>
          <a:xfrm xmlns:a="http://schemas.openxmlformats.org/drawingml/2006/main">
            <a:off x="590550" y="1828800"/>
            <a:ext cx="5143500" cy="3067050"/>
          </a:xfrm>
          <a:prstGeom xmlns:a="http://schemas.openxmlformats.org/drawingml/2006/main" prst="rect">
            <a:avLst/>
          </a:prstGeom>
          <a:solidFill xmlns:a="http://schemas.openxmlformats.org/drawingml/2006/main">
            <a:srgbClr val="E4EEF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62D6733-8C85-433E-97CC-88D45A1BFF08}"/>
              </a:ext>
            </a:extLst>
          </p:cNvPr>
          <p:cNvSpPr>
            <a:spLocks xmlns:a="http://schemas.openxmlformats.org/drawingml/2006/main" noGrp="1"/>
          </p:cNvSpPr>
          <p:nvPr/>
        </p:nvSpPr>
        <p:spPr>
          <a:xfrm xmlns:a="http://schemas.openxmlformats.org/drawingml/2006/main">
            <a:off x="971550" y="2209800"/>
            <a:ext cx="171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1F5FC9"/>
                </a:solidFill>
                <a:latin typeface="Helvetica Neue"/>
                <a:ea typeface="Helvetica Neue"/>
                <a:cs typeface="Helvetica Neue"/>
              </a:defRPr>
            </a:pPr>
            <a:r>
              <a:rPr sz="1125" b="1" i="0">
                <a:solidFill>
                  <a:srgbClr val="1F5FC9"/>
                </a:solidFill>
                <a:latin typeface="Helvetica Neue"/>
                <a:ea typeface="Helvetica Neue"/>
                <a:cs typeface="Helvetica Neue"/>
              </a:rPr>
              <a:t>PIAGET</a:t>
            </a:r>
          </a:p>
        </p:txBody>
      </p:sp>
      <p:sp>
        <p:nvSpPr>
          <p:cNvPr id="5" name="">
            <a:extLst xmlns:a="http://schemas.openxmlformats.org/drawingml/2006/main">
              <a:ext uri="{FF2B5EF4-FFF2-40B4-BE49-F238E27FC236}">
                <a16:creationId xmlns:a16="http://schemas.microsoft.com/office/drawing/2014/main" id="{5E2BB95D-B2AF-4D44-891A-EF75330A30DA}"/>
              </a:ext>
            </a:extLst>
          </p:cNvPr>
          <p:cNvSpPr>
            <a:spLocks xmlns:a="http://schemas.openxmlformats.org/drawingml/2006/main" noGrp="1"/>
          </p:cNvSpPr>
          <p:nvPr/>
        </p:nvSpPr>
        <p:spPr>
          <a:xfrm xmlns:a="http://schemas.openxmlformats.org/drawingml/2006/main">
            <a:off x="971550" y="2647950"/>
            <a:ext cx="3714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676"/>
          </a:bodyPr>
          <a:lstStyle xmlns:a="http://schemas.openxmlformats.org/drawingml/2006/main"/>
          <a:p xmlns:a="http://schemas.openxmlformats.org/drawingml/2006/main">
            <a:pPr algn="l">
              <a:defRPr sz="2325" b="1" i="0">
                <a:solidFill>
                  <a:srgbClr val="10233D"/>
                </a:solidFill>
                <a:latin typeface="Helvetica Neue"/>
                <a:ea typeface="Helvetica Neue"/>
                <a:cs typeface="Helvetica Neue"/>
              </a:defRPr>
            </a:pPr>
            <a:r>
              <a:rPr sz="2325" b="1" i="0">
                <a:solidFill>
                  <a:srgbClr val="10233D"/>
                </a:solidFill>
                <a:latin typeface="Helvetica Neue"/>
                <a:ea typeface="Helvetica Neue"/>
                <a:cs typeface="Helvetica Neue"/>
              </a:rPr>
              <a:t>Traditional cognitive science</a:t>
            </a:r>
          </a:p>
        </p:txBody>
      </p:sp>
      <p:sp>
        <p:nvSpPr>
          <p:cNvPr id="6" name="">
            <a:extLst xmlns:a="http://schemas.openxmlformats.org/drawingml/2006/main">
              <a:ext uri="{FF2B5EF4-FFF2-40B4-BE49-F238E27FC236}">
                <a16:creationId xmlns:a16="http://schemas.microsoft.com/office/drawing/2014/main" id="{5F360FFF-7014-4FC6-8A3A-925208FD3B81}"/>
              </a:ext>
            </a:extLst>
          </p:cNvPr>
          <p:cNvSpPr>
            <a:spLocks xmlns:a="http://schemas.openxmlformats.org/drawingml/2006/main" noGrp="1"/>
          </p:cNvSpPr>
          <p:nvPr/>
        </p:nvSpPr>
        <p:spPr>
          <a:xfrm xmlns:a="http://schemas.openxmlformats.org/drawingml/2006/main">
            <a:off x="990600" y="3371850"/>
            <a:ext cx="38100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i="0">
                <a:solidFill>
                  <a:srgbClr val="10233D"/>
                </a:solidFill>
                <a:latin typeface="Helvetica Neue"/>
                <a:ea typeface="Helvetica Neue"/>
                <a:cs typeface="Helvetica Neue"/>
              </a:defRPr>
            </a:pPr>
            <a:r>
              <a:rPr sz="1500" b="0" i="0">
                <a:solidFill>
                  <a:srgbClr val="10233D"/>
                </a:solidFill>
                <a:latin typeface="Helvetica Neue"/>
                <a:ea typeface="Helvetica Neue"/>
                <a:cs typeface="Helvetica Neue"/>
              </a:rPr>
              <a:t>• General, logic-like structures</a:t>
            </a:r>
          </a:p>
          <a:p xmlns:a="http://schemas.openxmlformats.org/drawingml/2006/main">
            <a:pPr algn="l">
              <a:defRPr sz="1500" b="0" i="0">
                <a:solidFill>
                  <a:srgbClr val="10233D"/>
                </a:solidFill>
                <a:latin typeface="Helvetica Neue"/>
                <a:ea typeface="Helvetica Neue"/>
                <a:cs typeface="Helvetica Neue"/>
              </a:defRPr>
            </a:pPr>
            <a:r>
              <a:rPr sz="1500" b="0" i="0">
                <a:solidFill>
                  <a:srgbClr val="10233D"/>
                </a:solidFill>
                <a:latin typeface="Helvetica Neue"/>
                <a:ea typeface="Helvetica Neue"/>
                <a:cs typeface="Helvetica Neue"/>
              </a:rPr>
              <a:t>• Individual operations</a:t>
            </a:r>
          </a:p>
          <a:p xmlns:a="http://schemas.openxmlformats.org/drawingml/2006/main">
            <a:pPr algn="l">
              <a:defRPr sz="1500" b="0" i="0">
                <a:solidFill>
                  <a:srgbClr val="10233D"/>
                </a:solidFill>
                <a:latin typeface="Helvetica Neue"/>
                <a:ea typeface="Helvetica Neue"/>
                <a:cs typeface="Helvetica Neue"/>
              </a:defRPr>
            </a:pPr>
            <a:r>
              <a:rPr sz="1500" b="0" i="0">
                <a:solidFill>
                  <a:srgbClr val="10233D"/>
                </a:solidFill>
                <a:latin typeface="Helvetica Neue"/>
                <a:ea typeface="Helvetica Neue"/>
                <a:cs typeface="Helvetica Neue"/>
              </a:rPr>
              <a:t>• Explanation, verification, and invariant development</a:t>
            </a:r>
          </a:p>
        </p:txBody>
      </p:sp>
      <p:sp>
        <p:nvSpPr>
          <p:cNvPr id="7" name="">
            <a:extLst xmlns:a="http://schemas.openxmlformats.org/drawingml/2006/main">
              <a:ext uri="{FF2B5EF4-FFF2-40B4-BE49-F238E27FC236}">
                <a16:creationId xmlns:a16="http://schemas.microsoft.com/office/drawing/2014/main" id="{5BE79F1E-9A46-4332-BEFB-0376CB199BFF}"/>
              </a:ext>
            </a:extLst>
          </p:cNvPr>
          <p:cNvSpPr>
            <a:spLocks xmlns:a="http://schemas.openxmlformats.org/drawingml/2006/main" noGrp="1"/>
          </p:cNvSpPr>
          <p:nvPr/>
        </p:nvSpPr>
        <p:spPr>
          <a:xfrm xmlns:a="http://schemas.openxmlformats.org/drawingml/2006/main">
            <a:off x="6457950" y="1828800"/>
            <a:ext cx="5143500" cy="3067050"/>
          </a:xfrm>
          <a:prstGeom xmlns:a="http://schemas.openxmlformats.org/drawingml/2006/main" prst="rect">
            <a:avLst/>
          </a:prstGeom>
          <a:solidFill xmlns:a="http://schemas.openxmlformats.org/drawingml/2006/main">
            <a:srgbClr val="F9E2D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1C3E090-1C71-4A0D-B48F-AF9ECC5FD383}"/>
              </a:ext>
            </a:extLst>
          </p:cNvPr>
          <p:cNvSpPr>
            <a:spLocks xmlns:a="http://schemas.openxmlformats.org/drawingml/2006/main" noGrp="1"/>
          </p:cNvSpPr>
          <p:nvPr/>
        </p:nvSpPr>
        <p:spPr>
          <a:xfrm xmlns:a="http://schemas.openxmlformats.org/drawingml/2006/main">
            <a:off x="6838950" y="2209800"/>
            <a:ext cx="171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B44D3A"/>
                </a:solidFill>
                <a:latin typeface="Helvetica Neue"/>
                <a:ea typeface="Helvetica Neue"/>
                <a:cs typeface="Helvetica Neue"/>
              </a:defRPr>
            </a:pPr>
            <a:r>
              <a:rPr sz="1125" b="1" i="0">
                <a:solidFill>
                  <a:srgbClr val="B44D3A"/>
                </a:solidFill>
                <a:latin typeface="Helvetica Neue"/>
                <a:ea typeface="Helvetica Neue"/>
                <a:cs typeface="Helvetica Neue"/>
              </a:rPr>
              <a:t>VYGOTSKY</a:t>
            </a:r>
          </a:p>
        </p:txBody>
      </p:sp>
      <p:sp>
        <p:nvSpPr>
          <p:cNvPr id="9" name="">
            <a:extLst xmlns:a="http://schemas.openxmlformats.org/drawingml/2006/main">
              <a:ext uri="{FF2B5EF4-FFF2-40B4-BE49-F238E27FC236}">
                <a16:creationId xmlns:a16="http://schemas.microsoft.com/office/drawing/2014/main" id="{A88ACCD9-BEC2-4FE2-A937-315AC1CE58EE}"/>
              </a:ext>
            </a:extLst>
          </p:cNvPr>
          <p:cNvSpPr>
            <a:spLocks xmlns:a="http://schemas.openxmlformats.org/drawingml/2006/main" noGrp="1"/>
          </p:cNvSpPr>
          <p:nvPr/>
        </p:nvSpPr>
        <p:spPr>
          <a:xfrm xmlns:a="http://schemas.openxmlformats.org/drawingml/2006/main">
            <a:off x="6838950" y="2647950"/>
            <a:ext cx="3714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325" b="1" i="0">
                <a:solidFill>
                  <a:srgbClr val="10233D"/>
                </a:solidFill>
                <a:latin typeface="Helvetica Neue"/>
                <a:ea typeface="Helvetica Neue"/>
                <a:cs typeface="Helvetica Neue"/>
              </a:defRPr>
            </a:pPr>
            <a:r>
              <a:rPr sz="2325" b="1" i="0">
                <a:solidFill>
                  <a:srgbClr val="10233D"/>
                </a:solidFill>
                <a:latin typeface="Helvetica Neue"/>
                <a:ea typeface="Helvetica Neue"/>
                <a:cs typeface="Helvetica Neue"/>
              </a:rPr>
              <a:t>Situated cognitive science</a:t>
            </a:r>
          </a:p>
        </p:txBody>
      </p:sp>
      <p:sp>
        <p:nvSpPr>
          <p:cNvPr id="10" name="">
            <a:extLst xmlns:a="http://schemas.openxmlformats.org/drawingml/2006/main">
              <a:ext uri="{FF2B5EF4-FFF2-40B4-BE49-F238E27FC236}">
                <a16:creationId xmlns:a16="http://schemas.microsoft.com/office/drawing/2014/main" id="{81D21201-707D-4146-BE47-D925DC14F8E4}"/>
              </a:ext>
            </a:extLst>
          </p:cNvPr>
          <p:cNvSpPr>
            <a:spLocks xmlns:a="http://schemas.openxmlformats.org/drawingml/2006/main" noGrp="1"/>
          </p:cNvSpPr>
          <p:nvPr/>
        </p:nvSpPr>
        <p:spPr>
          <a:xfrm xmlns:a="http://schemas.openxmlformats.org/drawingml/2006/main">
            <a:off x="6858000" y="3371850"/>
            <a:ext cx="38100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i="0">
                <a:solidFill>
                  <a:srgbClr val="10233D"/>
                </a:solidFill>
                <a:latin typeface="Helvetica Neue"/>
                <a:ea typeface="Helvetica Neue"/>
                <a:cs typeface="Helvetica Neue"/>
              </a:defRPr>
            </a:pPr>
            <a:r>
              <a:rPr sz="1500" b="0" i="0">
                <a:solidFill>
                  <a:srgbClr val="10233D"/>
                </a:solidFill>
                <a:latin typeface="Helvetica Neue"/>
                <a:ea typeface="Helvetica Neue"/>
                <a:cs typeface="Helvetica Neue"/>
              </a:rPr>
              <a:t>• Meaning in language and culture</a:t>
            </a:r>
          </a:p>
          <a:p xmlns:a="http://schemas.openxmlformats.org/drawingml/2006/main">
            <a:pPr algn="l">
              <a:defRPr sz="1500" b="0" i="0">
                <a:solidFill>
                  <a:srgbClr val="10233D"/>
                </a:solidFill>
                <a:latin typeface="Helvetica Neue"/>
                <a:ea typeface="Helvetica Neue"/>
                <a:cs typeface="Helvetica Neue"/>
              </a:defRPr>
            </a:pPr>
            <a:r>
              <a:rPr sz="1500" b="0" i="0">
                <a:solidFill>
                  <a:srgbClr val="10233D"/>
                </a:solidFill>
                <a:latin typeface="Helvetica Neue"/>
                <a:ea typeface="Helvetica Neue"/>
                <a:cs typeface="Helvetica Neue"/>
              </a:rPr>
              <a:t>• Social interaction and context</a:t>
            </a:r>
          </a:p>
          <a:p xmlns:a="http://schemas.openxmlformats.org/drawingml/2006/main">
            <a:pPr algn="l">
              <a:defRPr sz="1500" b="0" i="0">
                <a:solidFill>
                  <a:srgbClr val="10233D"/>
                </a:solidFill>
                <a:latin typeface="Helvetica Neue"/>
                <a:ea typeface="Helvetica Neue"/>
                <a:cs typeface="Helvetica Neue"/>
              </a:defRPr>
            </a:pPr>
            <a:r>
              <a:rPr sz="1500" b="0" i="0">
                <a:solidFill>
                  <a:srgbClr val="10233D"/>
                </a:solidFill>
                <a:latin typeface="Helvetica Neue"/>
                <a:ea typeface="Helvetica Neue"/>
                <a:cs typeface="Helvetica Neue"/>
              </a:rPr>
              <a:t>• Interpretation and situated understanding</a:t>
            </a:r>
          </a:p>
        </p:txBody>
      </p:sp>
      <p:sp>
        <p:nvSpPr>
          <p:cNvPr id="11" name="">
            <a:extLst xmlns:a="http://schemas.openxmlformats.org/drawingml/2006/main">
              <a:ext uri="{FF2B5EF4-FFF2-40B4-BE49-F238E27FC236}">
                <a16:creationId xmlns:a16="http://schemas.microsoft.com/office/drawing/2014/main" id="{97D69817-F77E-46AB-A7FD-770BFB7BDA5D}"/>
              </a:ext>
            </a:extLst>
          </p:cNvPr>
          <p:cNvSpPr>
            <a:spLocks xmlns:a="http://schemas.openxmlformats.org/drawingml/2006/main" noGrp="1"/>
          </p:cNvSpPr>
          <p:nvPr/>
        </p:nvSpPr>
        <p:spPr>
          <a:xfrm xmlns:a="http://schemas.openxmlformats.org/drawingml/2006/main">
            <a:off x="590550" y="5362575"/>
            <a:ext cx="990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i="1">
                <a:solidFill>
                  <a:srgbClr val="596678"/>
                </a:solidFill>
                <a:latin typeface="Helvetica Neue"/>
                <a:ea typeface="Helvetica Neue"/>
                <a:cs typeface="Helvetica Neue"/>
              </a:defRPr>
            </a:pPr>
            <a:r>
              <a:rPr sz="1500" b="0" i="1">
                <a:solidFill>
                  <a:srgbClr val="596678"/>
                </a:solidFill>
                <a:latin typeface="Helvetica Neue"/>
                <a:ea typeface="Helvetica Neue"/>
                <a:cs typeface="Helvetica Neue"/>
              </a:rPr>
              <a:t>This is a rough mapping, not a claim that either thinker fits only one box.</a:t>
            </a:r>
          </a:p>
        </p:txBody>
      </p:sp>
      <p:sp>
        <p:nvSpPr>
          <p:cNvPr id="12" name="">
            <a:extLst xmlns:a="http://schemas.openxmlformats.org/drawingml/2006/main">
              <a:ext uri="{FF2B5EF4-FFF2-40B4-BE49-F238E27FC236}">
                <a16:creationId xmlns:a16="http://schemas.microsoft.com/office/drawing/2014/main" id="{DC4A896F-7C91-4BB0-91BD-8D58092783C7}"/>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2419093E-684B-454C-A3BF-AF57B03C8A1E}"/>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pp. 70–72. The cognitive-science labels are interpretive applications of Bruner’s contrast.</a:t>
            </a:r>
          </a:p>
        </p:txBody>
      </p:sp>
      <p:sp>
        <p:nvSpPr>
          <p:cNvPr id="14" name="">
            <a:extLst xmlns:a="http://schemas.openxmlformats.org/drawingml/2006/main">
              <a:ext uri="{FF2B5EF4-FFF2-40B4-BE49-F238E27FC236}">
                <a16:creationId xmlns:a16="http://schemas.microsoft.com/office/drawing/2014/main" id="{2D3D1C40-C1E0-40F8-84B8-40AB915792B9}"/>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10</a:t>
            </a:r>
          </a:p>
        </p:txBody>
      </p:sp>
    </p:spTree>
    <p:extLst>
      <p:ext uri="{BB962C8B-B14F-4D97-AF65-F5344CB8AC3E}">
        <p14:creationId xmlns:p14="http://schemas.microsoft.com/office/powerpoint/2010/main" val="1334799962"/>
      </p:ext>
    </p:extLst>
  </p:cSld>
</p:sld>
</file>

<file path=ppt/slides/slide11.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3A0A3C8A-95E4-4323-8178-9A05599C63DF}"/>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E936CDD5-67B0-4341-89BE-CA73FC163746}"/>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Their divergence resolves two developmental puzzles</a:t>
            </a:r>
          </a:p>
        </p:txBody>
      </p:sp>
      <p:sp>
        <p:nvSpPr>
          <p:cNvPr id="3" name="">
            <a:extLst xmlns:a="http://schemas.openxmlformats.org/drawingml/2006/main">
              <a:ext uri="{FF2B5EF4-FFF2-40B4-BE49-F238E27FC236}">
                <a16:creationId xmlns:a16="http://schemas.microsoft.com/office/drawing/2014/main" id="{7A73FE2D-2D5E-44E4-967D-28C7DA6D779A}"/>
              </a:ext>
            </a:extLst>
          </p:cNvPr>
          <p:cNvSpPr>
            <a:spLocks xmlns:a="http://schemas.openxmlformats.org/drawingml/2006/main" noGrp="1"/>
          </p:cNvSpPr>
          <p:nvPr/>
        </p:nvSpPr>
        <p:spPr>
          <a:xfrm xmlns:a="http://schemas.openxmlformats.org/drawingml/2006/main">
            <a:off x="590550" y="1885950"/>
            <a:ext cx="5143500" cy="2609850"/>
          </a:xfrm>
          <a:prstGeom xmlns:a="http://schemas.openxmlformats.org/drawingml/2006/main" prst="rect">
            <a:avLst/>
          </a:prstGeom>
          <a:solidFill xmlns:a="http://schemas.openxmlformats.org/drawingml/2006/main">
            <a:srgbClr val="F2E8D9"/>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4487A00-C7F3-414F-B425-500F272F063E}"/>
              </a:ext>
            </a:extLst>
          </p:cNvPr>
          <p:cNvSpPr>
            <a:spLocks xmlns:a="http://schemas.openxmlformats.org/drawingml/2006/main" noGrp="1"/>
          </p:cNvSpPr>
          <p:nvPr/>
        </p:nvSpPr>
        <p:spPr>
          <a:xfrm xmlns:a="http://schemas.openxmlformats.org/drawingml/2006/main">
            <a:off x="971550" y="2247900"/>
            <a:ext cx="152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596678"/>
                </a:solidFill>
                <a:latin typeface="Helvetica Neue"/>
                <a:ea typeface="Helvetica Neue"/>
                <a:cs typeface="Helvetica Neue"/>
              </a:defRPr>
            </a:pPr>
            <a:r>
              <a:rPr sz="1125" b="1" i="0">
                <a:solidFill>
                  <a:srgbClr val="596678"/>
                </a:solidFill>
                <a:latin typeface="Helvetica Neue"/>
                <a:ea typeface="Helvetica Neue"/>
                <a:cs typeface="Helvetica Neue"/>
              </a:rPr>
              <a:t>PUZZLE 1</a:t>
            </a:r>
          </a:p>
        </p:txBody>
      </p:sp>
      <p:sp>
        <p:nvSpPr>
          <p:cNvPr id="5" name="">
            <a:extLst xmlns:a="http://schemas.openxmlformats.org/drawingml/2006/main">
              <a:ext uri="{FF2B5EF4-FFF2-40B4-BE49-F238E27FC236}">
                <a16:creationId xmlns:a16="http://schemas.microsoft.com/office/drawing/2014/main" id="{B007F162-0243-45E7-A66F-4969864C215D}"/>
              </a:ext>
            </a:extLst>
          </p:cNvPr>
          <p:cNvSpPr>
            <a:spLocks xmlns:a="http://schemas.openxmlformats.org/drawingml/2006/main" noGrp="1"/>
          </p:cNvSpPr>
          <p:nvPr/>
        </p:nvSpPr>
        <p:spPr>
          <a:xfrm xmlns:a="http://schemas.openxmlformats.org/drawingml/2006/main">
            <a:off x="971550" y="2705100"/>
            <a:ext cx="36766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5766"/>
          </a:bodyPr>
          <a:lstStyle xmlns:a="http://schemas.openxmlformats.org/drawingml/2006/main"/>
          <a:p xmlns:a="http://schemas.openxmlformats.org/drawingml/2006/main">
            <a:pPr algn="l">
              <a:defRPr sz="2325" b="1" i="0">
                <a:solidFill>
                  <a:srgbClr val="10233D"/>
                </a:solidFill>
                <a:latin typeface="Helvetica Neue"/>
                <a:ea typeface="Helvetica Neue"/>
                <a:cs typeface="Helvetica Neue"/>
              </a:defRPr>
            </a:pPr>
            <a:r>
              <a:rPr sz="2325" b="1" i="0">
                <a:solidFill>
                  <a:srgbClr val="10233D"/>
                </a:solidFill>
                <a:latin typeface="Helvetica Neue"/>
                <a:ea typeface="Helvetica Neue"/>
                <a:cs typeface="Helvetica Neue"/>
              </a:rPr>
              <a:t>Why is development often stable, resistant to instruction, and hard to transfer?</a:t>
            </a:r>
          </a:p>
        </p:txBody>
      </p:sp>
      <p:sp>
        <p:nvSpPr>
          <p:cNvPr id="6" name="">
            <a:extLst xmlns:a="http://schemas.openxmlformats.org/drawingml/2006/main">
              <a:ext uri="{FF2B5EF4-FFF2-40B4-BE49-F238E27FC236}">
                <a16:creationId xmlns:a16="http://schemas.microsoft.com/office/drawing/2014/main" id="{BB3BBE57-66DF-4B96-BA46-34503D98E0A0}"/>
              </a:ext>
            </a:extLst>
          </p:cNvPr>
          <p:cNvSpPr>
            <a:spLocks xmlns:a="http://schemas.openxmlformats.org/drawingml/2006/main" noGrp="1"/>
          </p:cNvSpPr>
          <p:nvPr/>
        </p:nvSpPr>
        <p:spPr>
          <a:xfrm xmlns:a="http://schemas.openxmlformats.org/drawingml/2006/main">
            <a:off x="971550" y="3981450"/>
            <a:ext cx="3619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2782"/>
          </a:bodyPr>
          <a:lstStyle xmlns:a="http://schemas.openxmlformats.org/drawingml/2006/main"/>
          <a:p xmlns:a="http://schemas.openxmlformats.org/drawingml/2006/main">
            <a:pPr algn="l">
              <a:defRPr sz="1425" b="0" i="0">
                <a:solidFill>
                  <a:srgbClr val="596678"/>
                </a:solidFill>
                <a:latin typeface="Helvetica Neue"/>
                <a:ea typeface="Helvetica Neue"/>
                <a:cs typeface="Helvetica Neue"/>
              </a:defRPr>
            </a:pPr>
            <a:r>
              <a:rPr sz="1425" b="0" i="0">
                <a:solidFill>
                  <a:srgbClr val="596678"/>
                </a:solidFill>
                <a:latin typeface="Helvetica Neue"/>
                <a:ea typeface="Helvetica Neue"/>
                <a:cs typeface="Helvetica Neue"/>
              </a:rPr>
              <a:t>Piaget directs attention to regularities and constraints.</a:t>
            </a:r>
          </a:p>
        </p:txBody>
      </p:sp>
      <p:sp>
        <p:nvSpPr>
          <p:cNvPr id="7" name="">
            <a:extLst xmlns:a="http://schemas.openxmlformats.org/drawingml/2006/main">
              <a:ext uri="{FF2B5EF4-FFF2-40B4-BE49-F238E27FC236}">
                <a16:creationId xmlns:a16="http://schemas.microsoft.com/office/drawing/2014/main" id="{DB4DB6F9-E11C-481A-82B9-0A1EF08408A6}"/>
              </a:ext>
            </a:extLst>
          </p:cNvPr>
          <p:cNvSpPr>
            <a:spLocks xmlns:a="http://schemas.openxmlformats.org/drawingml/2006/main" noGrp="1"/>
          </p:cNvSpPr>
          <p:nvPr/>
        </p:nvSpPr>
        <p:spPr>
          <a:xfrm xmlns:a="http://schemas.openxmlformats.org/drawingml/2006/main">
            <a:off x="6457950" y="1885950"/>
            <a:ext cx="5143500" cy="2609850"/>
          </a:xfrm>
          <a:prstGeom xmlns:a="http://schemas.openxmlformats.org/drawingml/2006/main" prst="rect">
            <a:avLst/>
          </a:prstGeom>
          <a:solidFill xmlns:a="http://schemas.openxmlformats.org/drawingml/2006/main">
            <a:srgbClr val="F9E2D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2810377-8F1B-4DF9-9E12-839CACD969A0}"/>
              </a:ext>
            </a:extLst>
          </p:cNvPr>
          <p:cNvSpPr>
            <a:spLocks xmlns:a="http://schemas.openxmlformats.org/drawingml/2006/main" noGrp="1"/>
          </p:cNvSpPr>
          <p:nvPr/>
        </p:nvSpPr>
        <p:spPr>
          <a:xfrm xmlns:a="http://schemas.openxmlformats.org/drawingml/2006/main">
            <a:off x="6838950" y="2247900"/>
            <a:ext cx="152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B44D3A"/>
                </a:solidFill>
                <a:latin typeface="Helvetica Neue"/>
                <a:ea typeface="Helvetica Neue"/>
                <a:cs typeface="Helvetica Neue"/>
              </a:defRPr>
            </a:pPr>
            <a:r>
              <a:rPr sz="1125" b="1" i="0">
                <a:solidFill>
                  <a:srgbClr val="B44D3A"/>
                </a:solidFill>
                <a:latin typeface="Helvetica Neue"/>
                <a:ea typeface="Helvetica Neue"/>
                <a:cs typeface="Helvetica Neue"/>
              </a:rPr>
              <a:t>PUZZLE 2</a:t>
            </a:r>
          </a:p>
        </p:txBody>
      </p:sp>
      <p:sp>
        <p:nvSpPr>
          <p:cNvPr id="9" name="">
            <a:extLst xmlns:a="http://schemas.openxmlformats.org/drawingml/2006/main">
              <a:ext uri="{FF2B5EF4-FFF2-40B4-BE49-F238E27FC236}">
                <a16:creationId xmlns:a16="http://schemas.microsoft.com/office/drawing/2014/main" id="{CF62ECB0-B108-4329-82CD-10DCC75E372C}"/>
              </a:ext>
            </a:extLst>
          </p:cNvPr>
          <p:cNvSpPr>
            <a:spLocks xmlns:a="http://schemas.openxmlformats.org/drawingml/2006/main" noGrp="1"/>
          </p:cNvSpPr>
          <p:nvPr/>
        </p:nvSpPr>
        <p:spPr>
          <a:xfrm xmlns:a="http://schemas.openxmlformats.org/drawingml/2006/main">
            <a:off x="6838950" y="2705100"/>
            <a:ext cx="36766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4921"/>
          </a:bodyPr>
          <a:lstStyle xmlns:a="http://schemas.openxmlformats.org/drawingml/2006/main"/>
          <a:p xmlns:a="http://schemas.openxmlformats.org/drawingml/2006/main">
            <a:pPr algn="l">
              <a:defRPr sz="2325" b="1" i="0">
                <a:solidFill>
                  <a:srgbClr val="10233D"/>
                </a:solidFill>
                <a:latin typeface="Helvetica Neue"/>
                <a:ea typeface="Helvetica Neue"/>
                <a:cs typeface="Helvetica Neue"/>
              </a:defRPr>
            </a:pPr>
            <a:r>
              <a:rPr sz="2325" b="1" i="0">
                <a:solidFill>
                  <a:srgbClr val="10233D"/>
                </a:solidFill>
                <a:latin typeface="Helvetica Neue"/>
                <a:ea typeface="Helvetica Neue"/>
                <a:cs typeface="Helvetica Neue"/>
              </a:rPr>
              <a:t>Why can development sometimes leap through collaboration and opportunity?</a:t>
            </a:r>
          </a:p>
        </p:txBody>
      </p:sp>
      <p:sp>
        <p:nvSpPr>
          <p:cNvPr id="10" name="">
            <a:extLst xmlns:a="http://schemas.openxmlformats.org/drawingml/2006/main">
              <a:ext uri="{FF2B5EF4-FFF2-40B4-BE49-F238E27FC236}">
                <a16:creationId xmlns:a16="http://schemas.microsoft.com/office/drawing/2014/main" id="{CBE4321E-CA91-4AA1-95DE-F44370029780}"/>
              </a:ext>
            </a:extLst>
          </p:cNvPr>
          <p:cNvSpPr>
            <a:spLocks xmlns:a="http://schemas.openxmlformats.org/drawingml/2006/main" noGrp="1"/>
          </p:cNvSpPr>
          <p:nvPr/>
        </p:nvSpPr>
        <p:spPr>
          <a:xfrm xmlns:a="http://schemas.openxmlformats.org/drawingml/2006/main">
            <a:off x="6838950" y="3981450"/>
            <a:ext cx="3733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8292"/>
          </a:bodyPr>
          <a:lstStyle xmlns:a="http://schemas.openxmlformats.org/drawingml/2006/main"/>
          <a:p xmlns:a="http://schemas.openxmlformats.org/drawingml/2006/main">
            <a:pPr algn="l">
              <a:defRPr sz="1425" b="0" i="0">
                <a:solidFill>
                  <a:srgbClr val="596678"/>
                </a:solidFill>
                <a:latin typeface="Helvetica Neue"/>
                <a:ea typeface="Helvetica Neue"/>
                <a:cs typeface="Helvetica Neue"/>
              </a:defRPr>
            </a:pPr>
            <a:r>
              <a:rPr sz="1425" b="0" i="0">
                <a:solidFill>
                  <a:srgbClr val="596678"/>
                </a:solidFill>
                <a:latin typeface="Helvetica Neue"/>
                <a:ea typeface="Helvetica Neue"/>
                <a:cs typeface="Helvetica Neue"/>
              </a:rPr>
              <a:t>Vygotsky directs attention to scaffolding and cultural arrangements.</a:t>
            </a:r>
          </a:p>
        </p:txBody>
      </p:sp>
      <p:sp>
        <p:nvSpPr>
          <p:cNvPr id="11" name="">
            <a:extLst xmlns:a="http://schemas.openxmlformats.org/drawingml/2006/main">
              <a:ext uri="{FF2B5EF4-FFF2-40B4-BE49-F238E27FC236}">
                <a16:creationId xmlns:a16="http://schemas.microsoft.com/office/drawing/2014/main" id="{C40321DB-00E2-45AD-9F00-BA31EE78DEFA}"/>
              </a:ext>
            </a:extLst>
          </p:cNvPr>
          <p:cNvSpPr>
            <a:spLocks xmlns:a="http://schemas.openxmlformats.org/drawingml/2006/main" noGrp="1"/>
          </p:cNvSpPr>
          <p:nvPr/>
        </p:nvSpPr>
        <p:spPr>
          <a:xfrm xmlns:a="http://schemas.openxmlformats.org/drawingml/2006/main">
            <a:off x="590550" y="5257800"/>
            <a:ext cx="1038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i="1">
                <a:solidFill>
                  <a:srgbClr val="10233D"/>
                </a:solidFill>
                <a:latin typeface="Helvetica Neue"/>
                <a:ea typeface="Helvetica Neue"/>
                <a:cs typeface="Helvetica Neue"/>
              </a:defRPr>
            </a:pPr>
            <a:r>
              <a:rPr sz="1650" b="0" i="1">
                <a:solidFill>
                  <a:srgbClr val="10233D"/>
                </a:solidFill>
                <a:latin typeface="Helvetica Neue"/>
                <a:ea typeface="Helvetica Neue"/>
                <a:cs typeface="Helvetica Neue"/>
              </a:rPr>
              <a:t>Bruner’s conclusion: do not force a quick reconciliation — use the tension to ask better questions.</a:t>
            </a:r>
          </a:p>
        </p:txBody>
      </p:sp>
      <p:sp>
        <p:nvSpPr>
          <p:cNvPr id="12" name="">
            <a:extLst xmlns:a="http://schemas.openxmlformats.org/drawingml/2006/main">
              <a:ext uri="{FF2B5EF4-FFF2-40B4-BE49-F238E27FC236}">
                <a16:creationId xmlns:a16="http://schemas.microsoft.com/office/drawing/2014/main" id="{970BA507-6F0A-4884-BF73-F6AD44E0117A}"/>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6991D103-24D8-4943-9315-4B4DD35D4D29}"/>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pp. 70–72. Slide wording is paraphrased.</a:t>
            </a:r>
          </a:p>
        </p:txBody>
      </p:sp>
      <p:sp>
        <p:nvSpPr>
          <p:cNvPr id="14" name="">
            <a:extLst xmlns:a="http://schemas.openxmlformats.org/drawingml/2006/main">
              <a:ext uri="{FF2B5EF4-FFF2-40B4-BE49-F238E27FC236}">
                <a16:creationId xmlns:a16="http://schemas.microsoft.com/office/drawing/2014/main" id="{5DD5DDE2-902B-40EA-826B-B8A8C1BF7E38}"/>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11</a:t>
            </a:r>
          </a:p>
        </p:txBody>
      </p:sp>
    </p:spTree>
    <p:extLst>
      <p:ext uri="{BB962C8B-B14F-4D97-AF65-F5344CB8AC3E}">
        <p14:creationId xmlns:p14="http://schemas.microsoft.com/office/powerpoint/2010/main" val="1531471041"/>
      </p:ext>
    </p:extLst>
  </p:cSld>
</p:sld>
</file>

<file path=ppt/slides/slide12.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647D37DD-E1BC-4DD4-A58B-68F99D634441}"/>
              </a:ext>
            </a:extLst>
          </p:cNvPr>
          <p:cNvSpPr>
            <a:spLocks xmlns:a="http://schemas.openxmlformats.org/drawingml/2006/main" noGrp="1"/>
          </p:cNvSpPr>
          <p:nvPr/>
        </p:nvSpPr>
        <p:spPr>
          <a:xfrm xmlns:a="http://schemas.openxmlformats.org/drawingml/2006/main">
            <a:off x="590550" y="495300"/>
            <a:ext cx="2857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25EA7448-DAA3-418A-90B4-D00EB83282D9}"/>
              </a:ext>
            </a:extLst>
          </p:cNvPr>
          <p:cNvSpPr>
            <a:spLocks xmlns:a="http://schemas.openxmlformats.org/drawingml/2006/main" noGrp="1"/>
          </p:cNvSpPr>
          <p:nvPr/>
        </p:nvSpPr>
        <p:spPr>
          <a:xfrm xmlns:a="http://schemas.openxmlformats.org/drawingml/2006/main">
            <a:off x="590550" y="1200150"/>
            <a:ext cx="8572500"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3750" b="1" i="0">
                <a:solidFill>
                  <a:srgbClr val="10233D"/>
                </a:solidFill>
                <a:latin typeface="Helvetica Neue"/>
                <a:ea typeface="Helvetica Neue"/>
                <a:cs typeface="Helvetica Neue"/>
              </a:defRPr>
            </a:pPr>
            <a:r>
              <a:rPr sz="3750" b="1" i="0">
                <a:solidFill>
                  <a:srgbClr val="10233D"/>
                </a:solidFill>
                <a:latin typeface="Helvetica Neue"/>
                <a:ea typeface="Helvetica Neue"/>
                <a:cs typeface="Helvetica Neue"/>
              </a:rPr>
              <a:t>A growing mind is not explained</a:t>
            </a:r>
          </a:p>
          <a:p xmlns:a="http://schemas.openxmlformats.org/drawingml/2006/main">
            <a:pPr algn="l">
              <a:defRPr sz="3750" b="1" i="0">
                <a:solidFill>
                  <a:srgbClr val="10233D"/>
                </a:solidFill>
                <a:latin typeface="Helvetica Neue"/>
                <a:ea typeface="Helvetica Neue"/>
                <a:cs typeface="Helvetica Neue"/>
              </a:defRPr>
            </a:pPr>
            <a:r>
              <a:rPr sz="3750" b="1" i="0">
                <a:solidFill>
                  <a:srgbClr val="10233D"/>
                </a:solidFill>
                <a:latin typeface="Helvetica Neue"/>
                <a:ea typeface="Helvetica Neue"/>
                <a:cs typeface="Helvetica Neue"/>
              </a:rPr>
              <a:t>by logic alone — or culture alone.</a:t>
            </a:r>
          </a:p>
        </p:txBody>
      </p:sp>
      <p:sp>
        <p:nvSpPr>
          <p:cNvPr id="3" name="">
            <a:extLst xmlns:a="http://schemas.openxmlformats.org/drawingml/2006/main">
              <a:ext uri="{FF2B5EF4-FFF2-40B4-BE49-F238E27FC236}">
                <a16:creationId xmlns:a16="http://schemas.microsoft.com/office/drawing/2014/main" id="{6DC44A47-43CA-45F3-A103-DF1DE7767FB7}"/>
              </a:ext>
            </a:extLst>
          </p:cNvPr>
          <p:cNvSpPr>
            <a:spLocks xmlns:a="http://schemas.openxmlformats.org/drawingml/2006/main" noGrp="1"/>
          </p:cNvSpPr>
          <p:nvPr/>
        </p:nvSpPr>
        <p:spPr>
          <a:xfrm xmlns:a="http://schemas.openxmlformats.org/drawingml/2006/main">
            <a:off x="590550" y="3257550"/>
            <a:ext cx="11010900" cy="19050"/>
          </a:xfrm>
          <a:prstGeom xmlns:a="http://schemas.openxmlformats.org/drawingml/2006/main" prst="rect">
            <a:avLst/>
          </a:prstGeom>
          <a:solidFill xmlns:a="http://schemas.openxmlformats.org/drawingml/2006/main">
            <a:srgbClr val="1F5FC9"/>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4BA8304-FBA6-4178-82DF-2D48BD6B189E}"/>
              </a:ext>
            </a:extLst>
          </p:cNvPr>
          <p:cNvSpPr>
            <a:spLocks xmlns:a="http://schemas.openxmlformats.org/drawingml/2006/main" noGrp="1"/>
          </p:cNvSpPr>
          <p:nvPr/>
        </p:nvSpPr>
        <p:spPr>
          <a:xfrm xmlns:a="http://schemas.openxmlformats.org/drawingml/2006/main">
            <a:off x="590550" y="36957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75" b="1" i="0">
                <a:solidFill>
                  <a:srgbClr val="1F5FC9"/>
                </a:solidFill>
                <a:latin typeface="Helvetica Neue"/>
                <a:ea typeface="Helvetica Neue"/>
                <a:cs typeface="Helvetica Neue"/>
              </a:defRPr>
            </a:pPr>
            <a:r>
              <a:rPr sz="1575" b="1" i="0">
                <a:solidFill>
                  <a:srgbClr val="1F5FC9"/>
                </a:solidFill>
                <a:latin typeface="Helvetica Neue"/>
                <a:ea typeface="Helvetica Neue"/>
                <a:cs typeface="Helvetica Neue"/>
              </a:rPr>
              <a:t>Piaget</a:t>
            </a:r>
          </a:p>
        </p:txBody>
      </p:sp>
      <p:sp>
        <p:nvSpPr>
          <p:cNvPr id="5" name="">
            <a:extLst xmlns:a="http://schemas.openxmlformats.org/drawingml/2006/main">
              <a:ext uri="{FF2B5EF4-FFF2-40B4-BE49-F238E27FC236}">
                <a16:creationId xmlns:a16="http://schemas.microsoft.com/office/drawing/2014/main" id="{57F7B419-6CE3-4A0D-A000-BCA9BBC77277}"/>
              </a:ext>
            </a:extLst>
          </p:cNvPr>
          <p:cNvSpPr>
            <a:spLocks xmlns:a="http://schemas.openxmlformats.org/drawingml/2006/main" noGrp="1"/>
          </p:cNvSpPr>
          <p:nvPr/>
        </p:nvSpPr>
        <p:spPr>
          <a:xfrm xmlns:a="http://schemas.openxmlformats.org/drawingml/2006/main">
            <a:off x="2305050" y="3695700"/>
            <a:ext cx="7010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i="0">
                <a:solidFill>
                  <a:srgbClr val="10233D"/>
                </a:solidFill>
                <a:latin typeface="Helvetica Neue"/>
                <a:ea typeface="Helvetica Neue"/>
                <a:cs typeface="Helvetica Neue"/>
              </a:defRPr>
            </a:pPr>
            <a:r>
              <a:rPr sz="1650" b="0" i="0">
                <a:solidFill>
                  <a:srgbClr val="10233D"/>
                </a:solidFill>
                <a:latin typeface="Helvetica Neue"/>
                <a:ea typeface="Helvetica Neue"/>
                <a:cs typeface="Helvetica Neue"/>
              </a:rPr>
              <a:t>The mind builds increasingly systematic logical accounts.</a:t>
            </a:r>
          </a:p>
        </p:txBody>
      </p:sp>
      <p:sp>
        <p:nvSpPr>
          <p:cNvPr id="6" name="">
            <a:extLst xmlns:a="http://schemas.openxmlformats.org/drawingml/2006/main">
              <a:ext uri="{FF2B5EF4-FFF2-40B4-BE49-F238E27FC236}">
                <a16:creationId xmlns:a16="http://schemas.microsoft.com/office/drawing/2014/main" id="{A4E2BA13-DAC4-4EC2-9EF4-614057DC9A7A}"/>
              </a:ext>
            </a:extLst>
          </p:cNvPr>
          <p:cNvSpPr>
            <a:spLocks xmlns:a="http://schemas.openxmlformats.org/drawingml/2006/main" noGrp="1"/>
          </p:cNvSpPr>
          <p:nvPr/>
        </p:nvSpPr>
        <p:spPr>
          <a:xfrm xmlns:a="http://schemas.openxmlformats.org/drawingml/2006/main">
            <a:off x="590550" y="42481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75" b="1" i="0">
                <a:solidFill>
                  <a:srgbClr val="B44D3A"/>
                </a:solidFill>
                <a:latin typeface="Helvetica Neue"/>
                <a:ea typeface="Helvetica Neue"/>
                <a:cs typeface="Helvetica Neue"/>
              </a:defRPr>
            </a:pPr>
            <a:r>
              <a:rPr sz="1575" b="1" i="0">
                <a:solidFill>
                  <a:srgbClr val="B44D3A"/>
                </a:solidFill>
                <a:latin typeface="Helvetica Neue"/>
                <a:ea typeface="Helvetica Neue"/>
                <a:cs typeface="Helvetica Neue"/>
              </a:rPr>
              <a:t>Vygotsky</a:t>
            </a:r>
          </a:p>
        </p:txBody>
      </p:sp>
      <p:sp>
        <p:nvSpPr>
          <p:cNvPr id="7" name="">
            <a:extLst xmlns:a="http://schemas.openxmlformats.org/drawingml/2006/main">
              <a:ext uri="{FF2B5EF4-FFF2-40B4-BE49-F238E27FC236}">
                <a16:creationId xmlns:a16="http://schemas.microsoft.com/office/drawing/2014/main" id="{9A43E9FA-8097-4F7D-AD63-2DEE1FE62DD0}"/>
              </a:ext>
            </a:extLst>
          </p:cNvPr>
          <p:cNvSpPr>
            <a:spLocks xmlns:a="http://schemas.openxmlformats.org/drawingml/2006/main" noGrp="1"/>
          </p:cNvSpPr>
          <p:nvPr/>
        </p:nvSpPr>
        <p:spPr>
          <a:xfrm xmlns:a="http://schemas.openxmlformats.org/drawingml/2006/main">
            <a:off x="2305050" y="4248150"/>
            <a:ext cx="7715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i="0">
                <a:solidFill>
                  <a:srgbClr val="10233D"/>
                </a:solidFill>
                <a:latin typeface="Helvetica Neue"/>
                <a:ea typeface="Helvetica Neue"/>
                <a:cs typeface="Helvetica Neue"/>
              </a:defRPr>
            </a:pPr>
            <a:r>
              <a:rPr sz="1650" b="0" i="0">
                <a:solidFill>
                  <a:srgbClr val="10233D"/>
                </a:solidFill>
                <a:latin typeface="Helvetica Neue"/>
                <a:ea typeface="Helvetica Neue"/>
                <a:cs typeface="Helvetica Neue"/>
              </a:rPr>
              <a:t>The mind turns social, cultural meanings into resources for thought.</a:t>
            </a:r>
          </a:p>
        </p:txBody>
      </p:sp>
      <p:sp>
        <p:nvSpPr>
          <p:cNvPr id="8" name="">
            <a:extLst xmlns:a="http://schemas.openxmlformats.org/drawingml/2006/main">
              <a:ext uri="{FF2B5EF4-FFF2-40B4-BE49-F238E27FC236}">
                <a16:creationId xmlns:a16="http://schemas.microsoft.com/office/drawing/2014/main" id="{5E9614FD-CDB8-49E7-8CF0-6068D726CB49}"/>
              </a:ext>
            </a:extLst>
          </p:cNvPr>
          <p:cNvSpPr>
            <a:spLocks xmlns:a="http://schemas.openxmlformats.org/drawingml/2006/main" noGrp="1"/>
          </p:cNvSpPr>
          <p:nvPr/>
        </p:nvSpPr>
        <p:spPr>
          <a:xfrm xmlns:a="http://schemas.openxmlformats.org/drawingml/2006/main">
            <a:off x="590550" y="48006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75" b="1" i="0">
                <a:solidFill>
                  <a:srgbClr val="A86500"/>
                </a:solidFill>
                <a:latin typeface="Helvetica Neue"/>
                <a:ea typeface="Helvetica Neue"/>
                <a:cs typeface="Helvetica Neue"/>
              </a:defRPr>
            </a:pPr>
            <a:r>
              <a:rPr sz="1575" b="1" i="0">
                <a:solidFill>
                  <a:srgbClr val="A86500"/>
                </a:solidFill>
                <a:latin typeface="Helvetica Neue"/>
                <a:ea typeface="Helvetica Neue"/>
                <a:cs typeface="Helvetica Neue"/>
              </a:rPr>
              <a:t>Bruner</a:t>
            </a:r>
          </a:p>
        </p:txBody>
      </p:sp>
      <p:sp>
        <p:nvSpPr>
          <p:cNvPr id="9" name="">
            <a:extLst xmlns:a="http://schemas.openxmlformats.org/drawingml/2006/main">
              <a:ext uri="{FF2B5EF4-FFF2-40B4-BE49-F238E27FC236}">
                <a16:creationId xmlns:a16="http://schemas.microsoft.com/office/drawing/2014/main" id="{9F042604-0B3E-4F0B-8468-0B2F45E87077}"/>
              </a:ext>
            </a:extLst>
          </p:cNvPr>
          <p:cNvSpPr>
            <a:spLocks xmlns:a="http://schemas.openxmlformats.org/drawingml/2006/main" noGrp="1"/>
          </p:cNvSpPr>
          <p:nvPr/>
        </p:nvSpPr>
        <p:spPr>
          <a:xfrm xmlns:a="http://schemas.openxmlformats.org/drawingml/2006/main">
            <a:off x="2305050" y="4800600"/>
            <a:ext cx="857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i="0">
                <a:solidFill>
                  <a:srgbClr val="10233D"/>
                </a:solidFill>
                <a:latin typeface="Helvetica Neue"/>
                <a:ea typeface="Helvetica Neue"/>
                <a:cs typeface="Helvetica Neue"/>
              </a:defRPr>
            </a:pPr>
            <a:r>
              <a:rPr sz="1650" b="0" i="0">
                <a:solidFill>
                  <a:srgbClr val="10233D"/>
                </a:solidFill>
                <a:latin typeface="Helvetica Neue"/>
                <a:ea typeface="Helvetica Neue"/>
                <a:cs typeface="Helvetica Neue"/>
              </a:rPr>
              <a:t>The contrast is worth preserving because it deepens the questions we can ask about development.</a:t>
            </a:r>
          </a:p>
        </p:txBody>
      </p:sp>
      <p:sp>
        <p:nvSpPr>
          <p:cNvPr id="10" name="">
            <a:extLst xmlns:a="http://schemas.openxmlformats.org/drawingml/2006/main">
              <a:ext uri="{FF2B5EF4-FFF2-40B4-BE49-F238E27FC236}">
                <a16:creationId xmlns:a16="http://schemas.microsoft.com/office/drawing/2014/main" id="{4BD3E405-4123-4CB6-894D-53A6F9B1950C}"/>
              </a:ext>
            </a:extLst>
          </p:cNvPr>
          <p:cNvSpPr>
            <a:spLocks xmlns:a="http://schemas.openxmlformats.org/drawingml/2006/main" noGrp="1"/>
          </p:cNvSpPr>
          <p:nvPr/>
        </p:nvSpPr>
        <p:spPr>
          <a:xfrm xmlns:a="http://schemas.openxmlformats.org/drawingml/2006/main">
            <a:off x="590550" y="571500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1" i="0">
                <a:solidFill>
                  <a:srgbClr val="1F5FC9"/>
                </a:solidFill>
                <a:latin typeface="Helvetica Neue"/>
                <a:ea typeface="Helvetica Neue"/>
                <a:cs typeface="Helvetica Neue"/>
              </a:defRPr>
            </a:pPr>
            <a:r>
              <a:rPr sz="1350" b="1" i="0">
                <a:solidFill>
                  <a:srgbClr val="1F5FC9"/>
                </a:solidFill>
                <a:latin typeface="Helvetica Neue"/>
                <a:ea typeface="Helvetica Neue"/>
                <a:cs typeface="Helvetica Neue"/>
              </a:rPr>
              <a:t>Quiz link: tinyurl.com/cogs100-group8-quiz</a:t>
            </a:r>
          </a:p>
        </p:txBody>
      </p:sp>
      <p:sp>
        <p:nvSpPr>
          <p:cNvPr id="11" name="">
            <a:extLst xmlns:a="http://schemas.openxmlformats.org/drawingml/2006/main">
              <a:ext uri="{FF2B5EF4-FFF2-40B4-BE49-F238E27FC236}">
                <a16:creationId xmlns:a16="http://schemas.microsoft.com/office/drawing/2014/main" id="{3671E4E8-E9B7-4E74-B905-61905D39456B}"/>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BEADFE8-8C37-4326-96AE-4B5C9FF0ECDE}"/>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Assigned reading: Bruner (1997), “Celebrating Divergence: Piaget and Vygotsky.”</a:t>
            </a:r>
          </a:p>
        </p:txBody>
      </p:sp>
      <p:sp>
        <p:nvSpPr>
          <p:cNvPr id="13" name="">
            <a:extLst xmlns:a="http://schemas.openxmlformats.org/drawingml/2006/main">
              <a:ext uri="{FF2B5EF4-FFF2-40B4-BE49-F238E27FC236}">
                <a16:creationId xmlns:a16="http://schemas.microsoft.com/office/drawing/2014/main" id="{A4B8EF40-2CC5-47EA-90FA-D17A8887A426}"/>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12</a:t>
            </a:r>
          </a:p>
        </p:txBody>
      </p:sp>
    </p:spTree>
    <p:extLst>
      <p:ext uri="{BB962C8B-B14F-4D97-AF65-F5344CB8AC3E}">
        <p14:creationId xmlns:p14="http://schemas.microsoft.com/office/powerpoint/2010/main" val="18153747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2026-07-23T00:45:46.3810000Z</dcterms:created>
  <dcterms:modified xsi:type="dcterms:W3CDTF">2026-07-23T00:45:46.3810000Z</dcterms:modified>
</coreProperties>
</file>