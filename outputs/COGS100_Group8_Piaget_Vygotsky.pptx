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e5d252349084471" /><Relationship Type="http://schemas.openxmlformats.org/officeDocument/2006/relationships/extended-properties" Target="/docProps/app.xml" Id="Rb1a58fb6811f41ed" /><Relationship Type="http://schemas.openxmlformats.org/officeDocument/2006/relationships/officeDocument" Target="/ppt/presentation.xml" Id="Rc1b23c7f87c5410e" /></Relationships>
</file>

<file path=ppt/presentation.xml><?xml version="1.0" encoding="utf-8"?>
<p:presentation xmlns:p="http://schemas.openxmlformats.org/presentationml/2006/main">
  <p:sldMasterIdLst>
    <p:sldMasterId xmlns:r="http://schemas.openxmlformats.org/officeDocument/2006/relationships" id="2147483648" r:id="Rca1aa2e31fa54c90"/>
  </p:sldMasterIdLst>
  <p:notesMasterIdLst>
    <p:notesMasterId xmlns:r="http://schemas.openxmlformats.org/officeDocument/2006/relationships" r:id="R0dc4efbe994c4c30"/>
  </p:notesMasterIdLst>
  <p:sldIdLst>
    <p:sldId xmlns:r="http://schemas.openxmlformats.org/officeDocument/2006/relationships" id="256" r:id="R1cfa57d20ff64bea"/>
    <p:sldId xmlns:r="http://schemas.openxmlformats.org/officeDocument/2006/relationships" id="257" r:id="R07ec8f66c0864c49"/>
    <p:sldId xmlns:r="http://schemas.openxmlformats.org/officeDocument/2006/relationships" id="258" r:id="Raa31e5c4b2da426c"/>
    <p:sldId xmlns:r="http://schemas.openxmlformats.org/officeDocument/2006/relationships" id="259" r:id="R8a7fee2bd135422c"/>
    <p:sldId xmlns:r="http://schemas.openxmlformats.org/officeDocument/2006/relationships" id="260" r:id="R1bbdc9f566dc4703"/>
    <p:sldId xmlns:r="http://schemas.openxmlformats.org/officeDocument/2006/relationships" id="261" r:id="R2fcb0c166ad142ee"/>
    <p:sldId xmlns:r="http://schemas.openxmlformats.org/officeDocument/2006/relationships" id="262" r:id="R3b0935574e1c40db"/>
    <p:sldId xmlns:r="http://schemas.openxmlformats.org/officeDocument/2006/relationships" id="263" r:id="Rda1ba984614a43fd"/>
    <p:sldId xmlns:r="http://schemas.openxmlformats.org/officeDocument/2006/relationships" id="264" r:id="Rbb51ffef61bc4786"/>
    <p:sldId xmlns:r="http://schemas.openxmlformats.org/officeDocument/2006/relationships" id="265" r:id="Raf1236fd4b2948f8"/>
    <p:sldId xmlns:r="http://schemas.openxmlformats.org/officeDocument/2006/relationships" id="266" r:id="Re88ecb86a4284f0a"/>
    <p:sldId xmlns:r="http://schemas.openxmlformats.org/officeDocument/2006/relationships" id="267" r:id="R409ad7c4fea94beb"/>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bd3b4e99d234f61" /><Relationship Type="http://schemas.openxmlformats.org/officeDocument/2006/relationships/slideMaster" Target="/ppt/slideMasters/slideMaster1.xml" Id="Rca1aa2e31fa54c90" /><Relationship Type="http://schemas.openxmlformats.org/officeDocument/2006/relationships/notesMaster" Target="/ppt/notesMasters/notesMaster1.xml" Id="R0dc4efbe994c4c30" /><Relationship Type="http://schemas.openxmlformats.org/officeDocument/2006/relationships/presProps" Target="/ppt/presProps.xml" Id="R7cee2f2b84904a93" /><Relationship Type="http://schemas.openxmlformats.org/officeDocument/2006/relationships/tableStyles" Target="/ppt/tableStyles.xml" Id="R142943e82bc746d4" /><Relationship Type="http://schemas.openxmlformats.org/officeDocument/2006/relationships/slide" Target="/ppt/slides/slide1.xml" Id="R1cfa57d20ff64bea" /><Relationship Type="http://schemas.openxmlformats.org/officeDocument/2006/relationships/slide" Target="/ppt/slides/slide2.xml" Id="R07ec8f66c0864c49" /><Relationship Type="http://schemas.openxmlformats.org/officeDocument/2006/relationships/slide" Target="/ppt/slides/slide3.xml" Id="Raa31e5c4b2da426c" /><Relationship Type="http://schemas.openxmlformats.org/officeDocument/2006/relationships/slide" Target="/ppt/slides/slide4.xml" Id="R8a7fee2bd135422c" /><Relationship Type="http://schemas.openxmlformats.org/officeDocument/2006/relationships/slide" Target="/ppt/slides/slide5.xml" Id="R1bbdc9f566dc4703" /><Relationship Type="http://schemas.openxmlformats.org/officeDocument/2006/relationships/slide" Target="/ppt/slides/slide6.xml" Id="R2fcb0c166ad142ee" /><Relationship Type="http://schemas.openxmlformats.org/officeDocument/2006/relationships/slide" Target="/ppt/slides/slide7.xml" Id="R3b0935574e1c40db" /><Relationship Type="http://schemas.openxmlformats.org/officeDocument/2006/relationships/slide" Target="/ppt/slides/slide8.xml" Id="Rda1ba984614a43fd" /><Relationship Type="http://schemas.openxmlformats.org/officeDocument/2006/relationships/slide" Target="/ppt/slides/slide9.xml" Id="Rbb51ffef61bc4786" /><Relationship Type="http://schemas.openxmlformats.org/officeDocument/2006/relationships/slide" Target="/ppt/slides/slide10.xml" Id="Raf1236fd4b2948f8" /><Relationship Type="http://schemas.openxmlformats.org/officeDocument/2006/relationships/slide" Target="/ppt/slides/slide11.xml" Id="Re88ecb86a4284f0a" /><Relationship Type="http://schemas.openxmlformats.org/officeDocument/2006/relationships/slide" Target="/ppt/slides/slide12.xml" Id="R409ad7c4fea94be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913126dfb41471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c89211313f64a6d" /><Relationship Type="http://schemas.openxmlformats.org/officeDocument/2006/relationships/notesMaster" Target="/ppt/notesMasters/notesMaster1.xml" Id="Rf09568198321474a" /></Relationships>
</file>

<file path=ppt/notesSlides/_rels/notesSlide2.xml.rels>&#65279;<?xml version="1.0" encoding="utf-8"?><Relationships xmlns="http://schemas.openxmlformats.org/package/2006/relationships"><Relationship Type="http://schemas.openxmlformats.org/officeDocument/2006/relationships/slide" Target="/ppt/slides/slide2.xml" Id="Rd450e58eda9a419b" /><Relationship Type="http://schemas.openxmlformats.org/officeDocument/2006/relationships/notesMaster" Target="/ppt/notesMasters/notesMaster1.xml" Id="R20f5e979b9904ccf" /></Relationships>
</file>

<file path=ppt/notesSlides/_rels/notesSlide3.xml.rels>&#65279;<?xml version="1.0" encoding="utf-8"?><Relationships xmlns="http://schemas.openxmlformats.org/package/2006/relationships"><Relationship Type="http://schemas.openxmlformats.org/officeDocument/2006/relationships/slide" Target="/ppt/slides/slide3.xml" Id="R5dd891b61df54728" /><Relationship Type="http://schemas.openxmlformats.org/officeDocument/2006/relationships/notesMaster" Target="/ppt/notesMasters/notesMaster1.xml" Id="R26bdfc2173d141ec" /></Relationships>
</file>

<file path=ppt/notesSlides/_rels/notesSlide4.xml.rels>&#65279;<?xml version="1.0" encoding="utf-8"?><Relationships xmlns="http://schemas.openxmlformats.org/package/2006/relationships"><Relationship Type="http://schemas.openxmlformats.org/officeDocument/2006/relationships/slide" Target="/ppt/slides/slide4.xml" Id="Rf54eab558527442e" /><Relationship Type="http://schemas.openxmlformats.org/officeDocument/2006/relationships/notesMaster" Target="/ppt/notesMasters/notesMaster1.xml" Id="R807a22f186874a1b" /></Relationships>
</file>

<file path=ppt/notesSlides/_rels/notesSlide5.xml.rels>&#65279;<?xml version="1.0" encoding="utf-8"?><Relationships xmlns="http://schemas.openxmlformats.org/package/2006/relationships"><Relationship Type="http://schemas.openxmlformats.org/officeDocument/2006/relationships/slide" Target="/ppt/slides/slide5.xml" Id="Rce7b5bd5385146bf" /><Relationship Type="http://schemas.openxmlformats.org/officeDocument/2006/relationships/notesMaster" Target="/ppt/notesMasters/notesMaster1.xml" Id="Ra5488d60e0c448c7" /></Relationships>
</file>

<file path=ppt/notesSlides/_rels/notesSlide6.xml.rels>&#65279;<?xml version="1.0" encoding="utf-8"?><Relationships xmlns="http://schemas.openxmlformats.org/package/2006/relationships"><Relationship Type="http://schemas.openxmlformats.org/officeDocument/2006/relationships/slide" Target="/ppt/slides/slide6.xml" Id="R362a11ffa0ba41cd" /><Relationship Type="http://schemas.openxmlformats.org/officeDocument/2006/relationships/notesMaster" Target="/ppt/notesMasters/notesMaster1.xml" Id="Rbc7c142dd93e4207" /></Relationships>
</file>

<file path=ppt/notesSlides/_rels/notesSlide7.xml.rels>&#65279;<?xml version="1.0" encoding="utf-8"?><Relationships xmlns="http://schemas.openxmlformats.org/package/2006/relationships"><Relationship Type="http://schemas.openxmlformats.org/officeDocument/2006/relationships/slide" Target="/ppt/slides/slide7.xml" Id="Ra834057aadd241b4" /><Relationship Type="http://schemas.openxmlformats.org/officeDocument/2006/relationships/notesMaster" Target="/ppt/notesMasters/notesMaster1.xml" Id="R484998a10f104955" /></Relationships>
</file>

<file path=ppt/notesSlides/_rels/notesSlide8.xml.rels>&#65279;<?xml version="1.0" encoding="utf-8"?><Relationships xmlns="http://schemas.openxmlformats.org/package/2006/relationships"><Relationship Type="http://schemas.openxmlformats.org/officeDocument/2006/relationships/slide" Target="/ppt/slides/slide8.xml" Id="Rec8d11dbc2c2484c" /><Relationship Type="http://schemas.openxmlformats.org/officeDocument/2006/relationships/notesMaster" Target="/ppt/notesMasters/notesMaster1.xml" Id="R545f2cedabe443d0" /></Relationships>
</file>

<file path=ppt/notesSlides/_rels/notesSlide9.xml.rels>&#65279;<?xml version="1.0" encoding="utf-8"?><Relationships xmlns="http://schemas.openxmlformats.org/package/2006/relationships"><Relationship Type="http://schemas.openxmlformats.org/officeDocument/2006/relationships/slide" Target="/ppt/slides/slide9.xml" Id="Rdf1eebf152404d3b" /><Relationship Type="http://schemas.openxmlformats.org/officeDocument/2006/relationships/notesMaster" Target="/ppt/notesMasters/notesMaster1.xml" Id="R25849764b78640a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6552cf371fc471b" /><Relationship Type="http://schemas.openxmlformats.org/officeDocument/2006/relationships/notesMaster" Target="/ppt/notesMasters/notesMaster1.xml" Id="R763fd5f12960419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e30e30d80bc42ef" /><Relationship Type="http://schemas.openxmlformats.org/officeDocument/2006/relationships/notesMaster" Target="/ppt/notesMasters/notesMaster1.xml" Id="R5f2e7814deeb488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d95fdc4191f4f9d" /><Relationship Type="http://schemas.openxmlformats.org/officeDocument/2006/relationships/notesMaster" Target="/ppt/notesMasters/notesMaster1.xml" Id="Rb623f98fc3cd46a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40 seconds</a:t>
            </a:r>
          </a:p>
          <a:p xmlns:a="http://schemas.openxmlformats.org/drawingml/2006/main">
            <a:r>
              <a:t/>
            </a:r>
          </a:p>
          <a:p xmlns:a="http://schemas.openxmlformats.org/drawingml/2006/main">
            <a:r>
              <a:t>Hi everyone, I’m Javen Cao, and my groupmate is Juqy Chen. We’re Group 8, and today we’re talking about Bruner’s paper on Piaget and Vygotsky. We’ll use one simple question: how does a mind grow? Piaget and Vygotsky both care about that question, but they answer it in very different ways.</a:t>
            </a:r>
          </a:p>
          <a:p xmlns:a="http://schemas.openxmlformats.org/drawingml/2006/main">
            <a:r>
              <a:t/>
            </a:r>
          </a:p>
          <a:p xmlns:a="http://schemas.openxmlformats.org/drawingml/2006/main">
            <a:r>
              <a:t>The quiz link is on this slide. Every answer shows up in our presentation.</a:t>
            </a:r>
          </a:p>
          <a:p xmlns:a="http://schemas.openxmlformats.org/drawingml/2006/main">
            <a:r>
              <a:t/>
            </a:r>
          </a:p>
          <a:p xmlns:a="http://schemas.openxmlformats.org/drawingml/2006/main">
            <a:r>
              <a:t>We are not going to retell every page of the paper. Instead, we will follow the questions in this week’s learning outcomes: what each thinker says about the mind, how growth happens, and why culture and other people matter.</a:t>
            </a:r>
          </a:p>
          <a:p xmlns:a="http://schemas.openxmlformats.org/drawingml/2006/main">
            <a:r>
              <a:t/>
            </a:r>
          </a:p>
          <a:p xmlns:a="http://schemas.openxmlformats.org/drawingml/2006/main">
            <a:r>
              <a:t>Before we compare the two theories, let’s start with Bruner’s question: what is special about human thinking?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1 minute 45 seconds</a:t>
            </a:r>
          </a:p>
          <a:p xmlns:a="http://schemas.openxmlformats.org/drawingml/2006/main">
            <a:r>
              <a:t/>
            </a:r>
          </a:p>
          <a:p xmlns:a="http://schemas.openxmlformats.org/drawingml/2006/main">
            <a:r>
              <a:t>Bruner starts with a simple point. Lots of living things adapt to the world around them. Humans do too. But humans also do something extra: we make theories and stories about the world. We make stories about other people. We even make stories about ourselves.</a:t>
            </a:r>
          </a:p>
          <a:p xmlns:a="http://schemas.openxmlformats.org/drawingml/2006/main">
            <a:r>
              <a:t/>
            </a:r>
          </a:p>
          <a:p xmlns:a="http://schemas.openxmlformats.org/drawingml/2006/main">
            <a:r>
              <a:t>That matters because stories and theories help us explain things, argue with each other, and work together. Sometimes they even give people things to fight about.</a:t>
            </a:r>
          </a:p>
          <a:p xmlns:a="http://schemas.openxmlformats.org/drawingml/2006/main">
            <a:r>
              <a:t/>
            </a:r>
          </a:p>
          <a:p xmlns:a="http://schemas.openxmlformats.org/drawingml/2006/main">
            <a:r>
              <a:t>For example, two people can see the same event and still explain it in different ways. They may point to different causes, tell different stories about what matters, and then try to persuade each other. Bruner thinks this ability to make and share accounts is a big part of what makes human mental life special.</a:t>
            </a:r>
          </a:p>
          <a:p xmlns:a="http://schemas.openxmlformats.org/drawingml/2006/main">
            <a:r>
              <a:t/>
            </a:r>
          </a:p>
          <a:p xmlns:a="http://schemas.openxmlformats.org/drawingml/2006/main">
            <a:r>
              <a:t>So the big development question is this: how does a child grow into someone who can build and share these kinds of accounts? Piaget gives one answer. Vygotsky gives another.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1 minute 30 seconds</a:t>
            </a:r>
          </a:p>
          <a:p xmlns:a="http://schemas.openxmlformats.org/drawingml/2006/main">
            <a:r>
              <a:t/>
            </a:r>
          </a:p>
          <a:p xmlns:a="http://schemas.openxmlformats.org/drawingml/2006/main">
            <a:r>
              <a:t>Both thinkers agree on one starting point. We do not just take in the world like a camera. The mind sits between what happens out there and what we come to know.</a:t>
            </a:r>
          </a:p>
          <a:p xmlns:a="http://schemas.openxmlformats.org/drawingml/2006/main">
            <a:r>
              <a:t/>
            </a:r>
          </a:p>
          <a:p xmlns:a="http://schemas.openxmlformats.org/drawingml/2006/main">
            <a:r>
              <a:t>Piaget’s big insight is logic-like operations. He thinks the child slowly builds better ways to organize experience. Vygotsky’s big insight is different. He thinks human culture and history give us tools for thinking, especially language.</a:t>
            </a:r>
          </a:p>
          <a:p xmlns:a="http://schemas.openxmlformats.org/drawingml/2006/main">
            <a:r>
              <a:t/>
            </a:r>
          </a:p>
          <a:p xmlns:a="http://schemas.openxmlformats.org/drawingml/2006/main">
            <a:r>
              <a:t>You can already see the contrast in the visual. Piaget asks how one person’s thinking becomes more organized. Vygotsky asks how the things people already share, like words, symbols, and ways of teaching, become available to one person’s mind.</a:t>
            </a:r>
          </a:p>
          <a:p xmlns:a="http://schemas.openxmlformats.org/drawingml/2006/main">
            <a:r>
              <a:t/>
            </a:r>
          </a:p>
          <a:p xmlns:a="http://schemas.openxmlformats.org/drawingml/2006/main">
            <a:r>
              <a:t>So this is not only a disagreement about teaching. It is a disagreement about what should be at the center of a theory of mind. Let’s start with Piaget.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2 minutes</a:t>
            </a:r>
          </a:p>
          <a:p xmlns:a="http://schemas.openxmlformats.org/drawingml/2006/main">
            <a:r>
              <a:t/>
            </a:r>
          </a:p>
          <a:p xmlns:a="http://schemas.openxmlformats.org/drawingml/2006/main">
            <a:r>
              <a:t>Piaget says the mind uses organized operations to make sense of experience. He does not mean that the mind is literally a calculator. He means that thinking has a structure.</a:t>
            </a:r>
          </a:p>
          <a:p xmlns:a="http://schemas.openxmlformats.org/drawingml/2006/main">
            <a:r>
              <a:t/>
            </a:r>
          </a:p>
          <a:p xmlns:a="http://schemas.openxmlformats.org/drawingml/2006/main">
            <a:r>
              <a:t>For Piaget, knowledge is made, not simply found. A child acts in the world, organizes what happened, and then tests that understanding through more action. If the understanding works, it becomes part of a stronger way of thinking.</a:t>
            </a:r>
          </a:p>
          <a:p xmlns:a="http://schemas.openxmlformats.org/drawingml/2006/main">
            <a:r>
              <a:t/>
            </a:r>
          </a:p>
          <a:p xmlns:a="http://schemas.openxmlformats.org/drawingml/2006/main">
            <a:r>
              <a:t>Think about a child experimenting with blocks. The child does not receive the idea of balance as a finished fact. They try something, see what falls, change the arrangement, and try again. The important point is not the blocks themselves. It is that action and thought keep shaping each other.</a:t>
            </a:r>
          </a:p>
          <a:p xmlns:a="http://schemas.openxmlformats.org/drawingml/2006/main">
            <a:r>
              <a:t/>
            </a:r>
          </a:p>
          <a:p xmlns:a="http://schemas.openxmlformats.org/drawingml/2006/main">
            <a:r>
              <a:t>That is why the word “mediate” matters here. The world does not turn straight into knowledge. The child’s way of thinking helps shape what the child can know.</a:t>
            </a:r>
          </a:p>
          <a:p xmlns:a="http://schemas.openxmlformats.org/drawingml/2006/main">
            <a:r>
              <a:t/>
            </a:r>
          </a:p>
          <a:p xmlns:a="http://schemas.openxmlformats.org/drawingml/2006/main">
            <a:r>
              <a:t>Those operations begin in action. Over time, they become more internal, less stuck to one immediate point of view, and more open to reflection. That leads to Piaget’s story about growth.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2 minutes</a:t>
            </a:r>
          </a:p>
          <a:p xmlns:a="http://schemas.openxmlformats.org/drawingml/2006/main">
            <a:r>
              <a:t/>
            </a:r>
          </a:p>
          <a:p xmlns:a="http://schemas.openxmlformats.org/drawingml/2006/main">
            <a:r>
              <a:t>Here is Piaget’s basic sequence. First, a child does things: touching, moving, sorting, and trying things out. Later, the child can carry some of those actions in thought. Then thought becomes less tied to what is right in front of the child. Eventually, the person can think about thought itself.</a:t>
            </a:r>
          </a:p>
          <a:p xmlns:a="http://schemas.openxmlformats.org/drawingml/2006/main">
            <a:r>
              <a:t/>
            </a:r>
          </a:p>
          <a:p xmlns:a="http://schemas.openxmlformats.org/drawingml/2006/main">
            <a:r>
              <a:t>Piaget calls the pressure behind this growth disequilibration. Imagine you meet something that does not fit what you already think. You can try to fit it into your old idea. That is assimilation. Or you can change the old idea. That is accommodation.</a:t>
            </a:r>
          </a:p>
          <a:p xmlns:a="http://schemas.openxmlformats.org/drawingml/2006/main">
            <a:r>
              <a:t/>
            </a:r>
          </a:p>
          <a:p xmlns:a="http://schemas.openxmlformats.org/drawingml/2006/main">
            <a:r>
              <a:t>Look at the blocks on the right. Imagine the child expects one arrangement to work, but the structure falls. They can treat that failure as just another version of the old pattern and keep using the same rule. That is assimilation. Or they can revise the rule, perhaps by changing which block goes underneath. That is accommodation. The surprise creates a problem for the old idea, and changing the idea solves that problem.</a:t>
            </a:r>
          </a:p>
          <a:p xmlns:a="http://schemas.openxmlformats.org/drawingml/2006/main">
            <a:r>
              <a:t/>
            </a:r>
          </a:p>
          <a:p xmlns:a="http://schemas.openxmlformats.org/drawingml/2006/main">
            <a:r>
              <a:t>Piaget says the tension between those two moves pushes thinking forward. Bruner’s criticism is that the basic idea is clear, but the exact mechanism is still not fully explained.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2 minutes 20 seconds, then personal takeaway</a:t>
            </a:r>
          </a:p>
          <a:p xmlns:a="http://schemas.openxmlformats.org/drawingml/2006/main">
            <a:r>
              <a:t/>
            </a:r>
          </a:p>
          <a:p xmlns:a="http://schemas.openxmlformats.org/drawingml/2006/main">
            <a:r>
              <a:t>Bruner gives Piaget a lot of credit. Piaget showed that development is not just a random pile of habits. It has a direction and a pattern. Bruner says one thing is very clear in Piaget’s theory: development follows an invariant course.</a:t>
            </a:r>
          </a:p>
          <a:p xmlns:a="http://schemas.openxmlformats.org/drawingml/2006/main">
            <a:r>
              <a:t/>
            </a:r>
          </a:p>
          <a:p xmlns:a="http://schemas.openxmlformats.org/drawingml/2006/main">
            <a:r>
              <a:t>But another part is less clear. What actually moves a child from one stage to the next? Bruner thinks Piaget tells us more about where growth goes than about what causes it.</a:t>
            </a:r>
          </a:p>
          <a:p xmlns:a="http://schemas.openxmlformats.org/drawingml/2006/main">
            <a:r>
              <a:t/>
            </a:r>
          </a:p>
          <a:p xmlns:a="http://schemas.openxmlformats.org/drawingml/2006/main">
            <a:r>
              <a:t>Bruner also thinks Piaget leaves out too much about other people. How do people understand each other well enough to teach, negotiate, and build a shared world? In Piaget’s account, culture often looks more like a challenge to the individual than a resource the individual can use.</a:t>
            </a:r>
          </a:p>
          <a:p xmlns:a="http://schemas.openxmlformats.org/drawingml/2006/main">
            <a:r>
              <a:t/>
            </a:r>
          </a:p>
          <a:p xmlns:a="http://schemas.openxmlformats.org/drawingml/2006/main">
            <a:r>
              <a:t>That criticism matters because teaching is more than placing a child next to a difficult problem. A teacher can point to what matters, use words the learner already knows, and connect a new idea to a shared activity. Bruner wants a theory that can explain why those social moves sometimes change what a learner is able to do.</a:t>
            </a:r>
          </a:p>
          <a:p xmlns:a="http://schemas.openxmlformats.org/drawingml/2006/main">
            <a:r>
              <a:t/>
            </a:r>
          </a:p>
          <a:p xmlns:a="http://schemas.openxmlformats.org/drawingml/2006/main">
            <a:r>
              <a:t>One thing I learned from this section is that a theory can be great at showing the direction of change and still leave the engine of change unclear.</a:t>
            </a:r>
          </a:p>
          <a:p xmlns:a="http://schemas.openxmlformats.org/drawingml/2006/main">
            <a:r>
              <a:t/>
            </a:r>
          </a:p>
          <a:p xmlns:a="http://schemas.openxmlformats.org/drawingml/2006/main">
            <a:r>
              <a:t>That gap brings us to Vygotsky.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30 seconds</a:t>
            </a:r>
          </a:p>
          <a:p xmlns:a="http://schemas.openxmlformats.org/drawingml/2006/main">
            <a:r>
              <a:t/>
            </a:r>
          </a:p>
          <a:p xmlns:a="http://schemas.openxmlformats.org/drawingml/2006/main">
            <a:r>
              <a:t>Hi, I’m Juqy Chen. Vygotsky also thinks the mind stands between the world and our experience. But he does not start with logic. He starts with meaning.</a:t>
            </a:r>
          </a:p>
          <a:p xmlns:a="http://schemas.openxmlformats.org/drawingml/2006/main">
            <a:r>
              <a:t/>
            </a:r>
          </a:p>
          <a:p xmlns:a="http://schemas.openxmlformats.org/drawingml/2006/main">
            <a:r>
              <a:t>For Vygotsky, meaning depends on language and on the culture where that language is used. So mental growth means learning the symbolic tools that a culture already has. Think about how algebra can reorganize arithmetic. It gives you a new way to handle earlier ideas.</a:t>
            </a:r>
          </a:p>
          <a:p xmlns:a="http://schemas.openxmlformats.org/drawingml/2006/main">
            <a:r>
              <a:t/>
            </a:r>
          </a:p>
          <a:p xmlns:a="http://schemas.openxmlformats.org/drawingml/2006/main">
            <a:r>
              <a:t>A symbolic tool is not just information that you memorize. It gives you a way to operate on ideas. A number line, a diagram, a word for a category, or algebraic notation can let you notice relationships that were harder to handle before.</a:t>
            </a:r>
          </a:p>
          <a:p xmlns:a="http://schemas.openxmlformats.org/drawingml/2006/main">
            <a:r>
              <a:t/>
            </a:r>
          </a:p>
          <a:p xmlns:a="http://schemas.openxmlformats.org/drawingml/2006/main">
            <a:r>
              <a:t>This growth does not come from inside one child alone. It depends on cultural tools and on ongoing contact with other people. That leads to Vygotsky’s key question: how do tools that start outside us become tools inside our own thinking?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2 minutes</a:t>
            </a:r>
          </a:p>
          <a:p xmlns:a="http://schemas.openxmlformats.org/drawingml/2006/main">
            <a:r>
              <a:t/>
            </a:r>
          </a:p>
          <a:p xmlns:a="http://schemas.openxmlformats.org/drawingml/2006/main">
            <a:r>
              <a:t>For Vygotsky, mental life starts out social. People act together. They talk. They solve problems together. And speech carries shared meanings from the culture around them.</a:t>
            </a:r>
          </a:p>
          <a:p xmlns:a="http://schemas.openxmlformats.org/drawingml/2006/main">
            <a:r>
              <a:t/>
            </a:r>
          </a:p>
          <a:p xmlns:a="http://schemas.openxmlformats.org/drawingml/2006/main">
            <a:r>
              <a:t>Internalization is the name for what happens next. Meanings that first show up between people become resources inside one person’s thinking.</a:t>
            </a:r>
          </a:p>
          <a:p xmlns:a="http://schemas.openxmlformats.org/drawingml/2006/main">
            <a:r>
              <a:t/>
            </a:r>
          </a:p>
          <a:p xmlns:a="http://schemas.openxmlformats.org/drawingml/2006/main">
            <a:r>
              <a:t>For a simple example, imagine someone learning a new task with an adult beside them. At first, the adult says what to look for and what to do next. Later, the learner may quietly use those same kinds of prompts for themselves. The guidance has moved from a shared interaction into the learner’s own thinking.</a:t>
            </a:r>
          </a:p>
          <a:p xmlns:a="http://schemas.openxmlformats.org/drawingml/2006/main">
            <a:r>
              <a:t/>
            </a:r>
          </a:p>
          <a:p xmlns:a="http://schemas.openxmlformats.org/drawingml/2006/main">
            <a:r>
              <a:t>This is not just copying someone else. Once a person has a new tool for thinking, that tool can change how older ideas fit together. It can also help the person go beyond the immediate situation.</a:t>
            </a:r>
          </a:p>
          <a:p xmlns:a="http://schemas.openxmlformats.org/drawingml/2006/main">
            <a:r>
              <a:t/>
            </a:r>
          </a:p>
          <a:p xmlns:a="http://schemas.openxmlformats.org/drawingml/2006/main">
            <a:r>
              <a:t>Bruner points out that Vygotsky does not fully explain the mechanism of internalization either. But the main idea is clear: social life and cultural tools are not just outside influences. They can become part of the way a person thinks.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2 minutes</a:t>
            </a:r>
          </a:p>
          <a:p xmlns:a="http://schemas.openxmlformats.org/drawingml/2006/main">
            <a:r>
              <a:t/>
            </a:r>
          </a:p>
          <a:p xmlns:a="http://schemas.openxmlformats.org/drawingml/2006/main">
            <a:r>
              <a:t>The zone of proximal development, or ZPD, makes Vygotsky’s social view very concrete. It is the gap between what a learner can do alone and what that learner can do with useful help from someone else.</a:t>
            </a:r>
          </a:p>
          <a:p xmlns:a="http://schemas.openxmlformats.org/drawingml/2006/main">
            <a:r>
              <a:t/>
            </a:r>
          </a:p>
          <a:p xmlns:a="http://schemas.openxmlformats.org/drawingml/2006/main">
            <a:r>
              <a:t>The point is not that any help works. Good help has to match the learner’s next possible step. A tutor might point out the key part of a problem, block distractions, break the task into steps, or help the learner talk through the problem.</a:t>
            </a:r>
          </a:p>
          <a:p xmlns:a="http://schemas.openxmlformats.org/drawingml/2006/main">
            <a:r>
              <a:t/>
            </a:r>
          </a:p>
          <a:p xmlns:a="http://schemas.openxmlformats.org/drawingml/2006/main">
            <a:r>
              <a:t>The learner is still doing the learning. The tutor is not simply giving away the answer. The tutor notices what the learner can almost do and gives just enough support to make that next step possible.</a:t>
            </a:r>
          </a:p>
          <a:p xmlns:a="http://schemas.openxmlformats.org/drawingml/2006/main">
            <a:r>
              <a:t/>
            </a:r>
          </a:p>
          <a:p xmlns:a="http://schemas.openxmlformats.org/drawingml/2006/main">
            <a:r>
              <a:t>For example, if a learner is stuck on one part of a problem, a useful tutor might ask, “What information do we already have?” They do not solve the whole problem for the learner. They help the learner see the next move, so the learner can still make it.</a:t>
            </a:r>
          </a:p>
          <a:p xmlns:a="http://schemas.openxmlformats.org/drawingml/2006/main">
            <a:r>
              <a:t/>
            </a:r>
          </a:p>
          <a:p xmlns:a="http://schemas.openxmlformats.org/drawingml/2006/main">
            <a:r>
              <a:t>For Bruner, this also raises a bigger question: humans teach each other in a systematic way. What makes teaching and being taught possible in the first 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40 seconds</a:t>
            </a:r>
          </a:p>
          <a:p xmlns:a="http://schemas.openxmlformats.org/drawingml/2006/main">
            <a:r>
              <a:t/>
            </a:r>
          </a:p>
          <a:p xmlns:a="http://schemas.openxmlformats.org/drawingml/2006/main">
            <a:r>
              <a:t>Our learning outcome asks us to connect these ideas to cognitive science. This is a useful rough comparison, not a claim that either thinker fits perfectly into one modern label.</a:t>
            </a:r>
          </a:p>
          <a:p xmlns:a="http://schemas.openxmlformats.org/drawingml/2006/main">
            <a:r>
              <a:t/>
            </a:r>
          </a:p>
          <a:p xmlns:a="http://schemas.openxmlformats.org/drawingml/2006/main">
            <a:r>
              <a:t>Piaget sounds closer to traditional cognitive science. He looks for general, logic-like structures inside an individual mind. He wants explanations that can be checked and tested.</a:t>
            </a:r>
          </a:p>
          <a:p xmlns:a="http://schemas.openxmlformats.org/drawingml/2006/main">
            <a:r>
              <a:t/>
            </a:r>
          </a:p>
          <a:p xmlns:a="http://schemas.openxmlformats.org/drawingml/2006/main">
            <a:r>
              <a:t>Vygotsky sounds closer to situated cognitive science. He puts language, culture, history, and a particular interaction right in the middle of the story. He is more interested in how people make meaning in context.</a:t>
            </a:r>
          </a:p>
          <a:p xmlns:a="http://schemas.openxmlformats.org/drawingml/2006/main">
            <a:r>
              <a:t/>
            </a:r>
          </a:p>
          <a:p xmlns:a="http://schemas.openxmlformats.org/drawingml/2006/main">
            <a:r>
              <a:t>So the difference is not simply “inside the mind” versus “outside the mind.” Both thinkers care about development. The difference is which part of the explanation they make central: Piaget highlights organized operations, while Vygotsky highlights cultural tools and interaction.</a:t>
            </a:r>
          </a:p>
          <a:p xmlns:a="http://schemas.openxmlformats.org/drawingml/2006/main">
            <a:r>
              <a:t/>
            </a:r>
          </a:p>
          <a:p xmlns:a="http://schemas.openxmlformats.org/drawingml/2006/main">
            <a:r>
              <a:t>But we should not turn this into a cartoon. Piaget did not say culture never matters. And Vygotsky did not say development has no movement from concrete ideas to more abstract ones. The real difference is where each theory puts the center of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40 seconds</a:t>
            </a:r>
          </a:p>
          <a:p xmlns:a="http://schemas.openxmlformats.org/drawingml/2006/main">
            <a:r>
              <a:t/>
            </a:r>
          </a:p>
          <a:p xmlns:a="http://schemas.openxmlformats.org/drawingml/2006/main">
            <a:r>
              <a:t>Bruner does not think the answer is to blend Piaget and Vygotsky into one easy theory. He thinks a good theory of development has to explain two very different things.</a:t>
            </a:r>
          </a:p>
          <a:p xmlns:a="http://schemas.openxmlformats.org/drawingml/2006/main">
            <a:r>
              <a:t/>
            </a:r>
          </a:p>
          <a:p xmlns:a="http://schemas.openxmlformats.org/drawingml/2006/main">
            <a:r>
              <a:t>First, why is development often stable? Why can good teaching fail to make an immediate difference? Why is it hard to transfer learning from one setting to another? Piaget helps us look for those regularities and limits.</a:t>
            </a:r>
          </a:p>
          <a:p xmlns:a="http://schemas.openxmlformats.org/drawingml/2006/main">
            <a:r>
              <a:t/>
            </a:r>
          </a:p>
          <a:p xmlns:a="http://schemas.openxmlformats.org/drawingml/2006/main">
            <a:r>
              <a:t>Second, why can development sometimes move quickly? Why can the right kind of collaboration open up a new possibility? Vygotsky helps us look for those levers of change: scaffolding, joint activity, and cultural opportunity.</a:t>
            </a:r>
          </a:p>
          <a:p xmlns:a="http://schemas.openxmlformats.org/drawingml/2006/main">
            <a:r>
              <a:t/>
            </a:r>
          </a:p>
          <a:p xmlns:a="http://schemas.openxmlformats.org/drawingml/2006/main">
            <a:r>
              <a:t>This is why Bruner calls the difference a divergence, not a mistake that has to be erased. If we only ask Piaget’s question, we might miss what a good interaction can do. If we only ask Vygotsky’s question, we might miss why learning does not always transfer right away. Keeping both questions gives us a stronger way to study development.</a:t>
            </a:r>
          </a:p>
          <a:p xmlns:a="http://schemas.openxmlformats.org/drawingml/2006/main">
            <a:r>
              <a:t/>
            </a:r>
          </a:p>
          <a:p xmlns:a="http://schemas.openxmlformats.org/drawingml/2006/main">
            <a:r>
              <a:t>That is why Bruner thinks their disagreement is useful. Each theory pushes the other to answer questions it might otherwise ignore.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15 seconds, then personal takeaway</a:t>
            </a:r>
          </a:p>
          <a:p xmlns:a="http://schemas.openxmlformats.org/drawingml/2006/main">
            <a:r>
              <a:t/>
            </a:r>
          </a:p>
          <a:p xmlns:a="http://schemas.openxmlformats.org/drawingml/2006/main">
            <a:r>
              <a:t>To close, Piaget helps us see how thinking can become more organized and systematic. Vygotsky helps us see how language, culture, and other people become part of thinking.</a:t>
            </a:r>
          </a:p>
          <a:p xmlns:a="http://schemas.openxmlformats.org/drawingml/2006/main">
            <a:r>
              <a:t/>
            </a:r>
          </a:p>
          <a:p xmlns:a="http://schemas.openxmlformats.org/drawingml/2006/main">
            <a:r>
              <a:t>Bruner’s main point is not that one thinker wins. Their difference is valuable because it stops us from explaining development with only logic or only culture.</a:t>
            </a:r>
          </a:p>
          <a:p xmlns:a="http://schemas.openxmlformats.org/drawingml/2006/main">
            <a:r>
              <a:t/>
            </a:r>
          </a:p>
          <a:p xmlns:a="http://schemas.openxmlformats.org/drawingml/2006/main">
            <a:r>
              <a:t>One thing I learned is that even private thought can have a social history. Tools like language first live between people, and then they can become tools inside one person’s mind.</a:t>
            </a:r>
          </a:p>
          <a:p xmlns:a="http://schemas.openxmlformats.org/drawingml/2006/main">
            <a:r>
              <a:t/>
            </a:r>
          </a:p>
          <a:p xmlns:a="http://schemas.openxmlformats.org/drawingml/2006/main">
            <a:r>
              <a:t>So when we look at learning, Bruner pushes us to ask both questions: what is changing in the learner’s thinking, and what people, language, or cultural tools made that change possible?</a:t>
            </a:r>
          </a:p>
          <a:p xmlns:a="http://schemas.openxmlformats.org/drawingml/2006/main">
            <a:r>
              <a:t/>
            </a:r>
          </a:p>
          <a:p xmlns:a="http://schemas.openxmlformats.org/drawingml/2006/main">
            <a:r>
              <a:t>Thank you. Please remember to take the quiz using the link on the first or final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b3106a092ad4a3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e8f848dd3a04af6" /><Relationship Type="http://schemas.openxmlformats.org/officeDocument/2006/relationships/slideLayout" Target="/ppt/slideLayouts/slideLayout1.xml" Id="Rb3faed0897e044c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3faed0897e044c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8a63e28a19f431d" /><Relationship Type="http://schemas.openxmlformats.org/officeDocument/2006/relationships/image" Target="/ppt/media/image.png" Id="Rab0773212ee84322" /><Relationship Type="http://schemas.openxmlformats.org/officeDocument/2006/relationships/image" Target="/ppt/media/image2.png" Id="R3d24ea2ca92942f8" /><Relationship Type="http://schemas.openxmlformats.org/officeDocument/2006/relationships/notesSlide" Target="/ppt/notesSlides/notesSlide1.xml" Id="R6cfdce6473b6462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e8e08bce5e54e9e" /><Relationship Type="http://schemas.openxmlformats.org/officeDocument/2006/relationships/image" Target="/ppt/media/image3.png" Id="Rcb59a8b18d414a95" /><Relationship Type="http://schemas.openxmlformats.org/officeDocument/2006/relationships/notesSlide" Target="/ppt/notesSlides/notesSlide2.xml" Id="Rdd1cbec8339b40b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452016181f84f3c" /><Relationship Type="http://schemas.openxmlformats.org/officeDocument/2006/relationships/image" Target="/ppt/media/image4.png" Id="R24fb751a89a64847" /><Relationship Type="http://schemas.openxmlformats.org/officeDocument/2006/relationships/image" Target="/ppt/media/image.jpeg" Id="Reed636a645414473" /><Relationship Type="http://schemas.openxmlformats.org/officeDocument/2006/relationships/notesSlide" Target="/ppt/notesSlides/notesSlide3.xml" Id="R5299adcef0bd429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077dd3ed126423a" /><Relationship Type="http://schemas.openxmlformats.org/officeDocument/2006/relationships/image" Target="/ppt/media/image5.png" Id="R0282392aaa0449d9" /><Relationship Type="http://schemas.openxmlformats.org/officeDocument/2006/relationships/notesSlide" Target="/ppt/notesSlides/notesSlide4.xml" Id="Rbb9ee5b0b5414f4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f607894184e4ea4" /><Relationship Type="http://schemas.openxmlformats.org/officeDocument/2006/relationships/image" Target="/ppt/media/image6.png" Id="R95c45e5093cc478d" /><Relationship Type="http://schemas.openxmlformats.org/officeDocument/2006/relationships/notesSlide" Target="/ppt/notesSlides/notesSlide5.xml" Id="Rddc76f6280ab40a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e13b58488a34a7a" /><Relationship Type="http://schemas.openxmlformats.org/officeDocument/2006/relationships/notesSlide" Target="/ppt/notesSlides/notesSlide6.xml" Id="R7b56aaf4569b434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e7c8cad3c564eb0" /><Relationship Type="http://schemas.openxmlformats.org/officeDocument/2006/relationships/notesSlide" Target="/ppt/notesSlides/notesSlide7.xml" Id="R603836dc706b429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147fc4a4af546df" /><Relationship Type="http://schemas.openxmlformats.org/officeDocument/2006/relationships/image" Target="/ppt/media/image7.png" Id="R6178a8801d834e07" /><Relationship Type="http://schemas.openxmlformats.org/officeDocument/2006/relationships/notesSlide" Target="/ppt/notesSlides/notesSlide8.xml" Id="R5eb63eba9ffb49a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ef1450cfcd14b77" /><Relationship Type="http://schemas.openxmlformats.org/officeDocument/2006/relationships/image" Target="/ppt/media/image8.png" Id="R6ea78195028f4757" /><Relationship Type="http://schemas.openxmlformats.org/officeDocument/2006/relationships/notesSlide" Target="/ppt/notesSlides/notesSlide9.xml" Id="Rabec99e705aa41b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6ddbf6ac5d04752" /><Relationship Type="http://schemas.openxmlformats.org/officeDocument/2006/relationships/notesSlide" Target="/ppt/notesSlides/notesSlide10.xml" Id="R2f5bbce2515641a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f4e03fb56c84547" /><Relationship Type="http://schemas.openxmlformats.org/officeDocument/2006/relationships/image" Target="/ppt/media/image9.png" Id="R999a1f8813494ed5" /><Relationship Type="http://schemas.openxmlformats.org/officeDocument/2006/relationships/notesSlide" Target="/ppt/notesSlides/notesSlide11.xml" Id="R6361bc735b2044f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ea7a924ce3c48d1" /><Relationship Type="http://schemas.openxmlformats.org/officeDocument/2006/relationships/image" Target="/ppt/media/image2.jpeg" Id="R1aa2f16632f44e2e" /><Relationship Type="http://schemas.openxmlformats.org/officeDocument/2006/relationships/image" Target="/ppt/media/image10.png" Id="R562710f0d61540a5" /><Relationship Type="http://schemas.openxmlformats.org/officeDocument/2006/relationships/notesSlide" Target="/ppt/notesSlides/notesSlide12.xml" Id="R7d0b625290744f7d" /></Relationships>
</file>

<file path=ppt/slides/slide1.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ab0773212ee84322"/>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F94EC53-5555-4399-A579-0FE2DDD63CCA}"/>
              </a:ext>
            </a:extLst>
          </p:cNvPr>
          <p:cNvSpPr>
            <a:spLocks xmlns:a="http://schemas.openxmlformats.org/drawingml/2006/main" noGrp="1"/>
          </p:cNvSpPr>
          <p:nvPr/>
        </p:nvSpPr>
        <p:spPr>
          <a:xfrm xmlns:a="http://schemas.openxmlformats.org/drawingml/2006/main">
            <a:off x="400050" y="400050"/>
            <a:ext cx="4438650" cy="6057900"/>
          </a:xfrm>
          <a:prstGeom xmlns:a="http://schemas.openxmlformats.org/drawingml/2006/main" prst="rect">
            <a:avLst/>
          </a:prstGeom>
          <a:solidFill xmlns:a="http://schemas.openxmlformats.org/drawingml/2006/main">
            <a:srgbClr val="FFF9EE">
              <a:alpha val="94118"/>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FA45B96-FDBB-498A-99D5-06D1F75F966D}"/>
              </a:ext>
            </a:extLst>
          </p:cNvPr>
          <p:cNvSpPr>
            <a:spLocks xmlns:a="http://schemas.openxmlformats.org/drawingml/2006/main" noGrp="1"/>
          </p:cNvSpPr>
          <p:nvPr/>
        </p:nvSpPr>
        <p:spPr>
          <a:xfrm xmlns:a="http://schemas.openxmlformats.org/drawingml/2006/main">
            <a:off x="723900" y="78105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COGS 100 • WEEK 4 DAY 2 • READING 1</a:t>
            </a:r>
          </a:p>
        </p:txBody>
      </p:sp>
      <p:sp>
        <p:nvSpPr>
          <p:cNvPr id="4" name="">
            <a:extLst xmlns:a="http://schemas.openxmlformats.org/drawingml/2006/main">
              <a:ext uri="{FF2B5EF4-FFF2-40B4-BE49-F238E27FC236}">
                <a16:creationId xmlns:a16="http://schemas.microsoft.com/office/drawing/2014/main" id="{F14ABCCA-2CE8-4479-915E-56293F01161F}"/>
              </a:ext>
            </a:extLst>
          </p:cNvPr>
          <p:cNvSpPr>
            <a:spLocks xmlns:a="http://schemas.openxmlformats.org/drawingml/2006/main" noGrp="1"/>
          </p:cNvSpPr>
          <p:nvPr/>
        </p:nvSpPr>
        <p:spPr>
          <a:xfrm xmlns:a="http://schemas.openxmlformats.org/drawingml/2006/main">
            <a:off x="723900" y="1381125"/>
            <a:ext cx="371475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4425" b="1" i="0">
                <a:solidFill>
                  <a:srgbClr val="10233D"/>
                </a:solidFill>
                <a:latin typeface="Helvetica Neue"/>
                <a:ea typeface="Helvetica Neue"/>
                <a:cs typeface="Helvetica Neue"/>
              </a:defRPr>
            </a:pPr>
            <a:r>
              <a:rPr sz="4425" b="1" i="0">
                <a:solidFill>
                  <a:srgbClr val="10233D"/>
                </a:solidFill>
                <a:latin typeface="Helvetica Neue"/>
                <a:ea typeface="Helvetica Neue"/>
                <a:cs typeface="Helvetica Neue"/>
              </a:rPr>
              <a:t>Celebrating</a:t>
            </a:r>
          </a:p>
          <a:p xmlns:a="http://schemas.openxmlformats.org/drawingml/2006/main">
            <a:pPr algn="l">
              <a:defRPr sz="4425" b="1" i="0">
                <a:solidFill>
                  <a:srgbClr val="10233D"/>
                </a:solidFill>
                <a:latin typeface="Helvetica Neue"/>
                <a:ea typeface="Helvetica Neue"/>
                <a:cs typeface="Helvetica Neue"/>
              </a:defRPr>
            </a:pPr>
            <a:r>
              <a:rPr sz="4425" b="1" i="0">
                <a:solidFill>
                  <a:srgbClr val="10233D"/>
                </a:solidFill>
                <a:latin typeface="Helvetica Neue"/>
                <a:ea typeface="Helvetica Neue"/>
                <a:cs typeface="Helvetica Neue"/>
              </a:rPr>
              <a:t>Divergence</a:t>
            </a:r>
          </a:p>
        </p:txBody>
      </p:sp>
      <p:sp>
        <p:nvSpPr>
          <p:cNvPr id="5" name="">
            <a:extLst xmlns:a="http://schemas.openxmlformats.org/drawingml/2006/main">
              <a:ext uri="{FF2B5EF4-FFF2-40B4-BE49-F238E27FC236}">
                <a16:creationId xmlns:a16="http://schemas.microsoft.com/office/drawing/2014/main" id="{631552F6-3601-44A0-B10A-0E6B5A242715}"/>
              </a:ext>
            </a:extLst>
          </p:cNvPr>
          <p:cNvSpPr>
            <a:spLocks xmlns:a="http://schemas.openxmlformats.org/drawingml/2006/main" noGrp="1"/>
          </p:cNvSpPr>
          <p:nvPr/>
        </p:nvSpPr>
        <p:spPr>
          <a:xfrm xmlns:a="http://schemas.openxmlformats.org/drawingml/2006/main">
            <a:off x="723900" y="3143250"/>
            <a:ext cx="323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0" i="0">
                <a:solidFill>
                  <a:srgbClr val="596678"/>
                </a:solidFill>
                <a:latin typeface="Helvetica Neue"/>
                <a:ea typeface="Helvetica Neue"/>
                <a:cs typeface="Helvetica Neue"/>
              </a:defRPr>
            </a:pPr>
            <a:r>
              <a:rPr sz="1875" b="0" i="0">
                <a:solidFill>
                  <a:srgbClr val="596678"/>
                </a:solidFill>
                <a:latin typeface="Helvetica Neue"/>
                <a:ea typeface="Helvetica Neue"/>
                <a:cs typeface="Helvetica Neue"/>
              </a:rPr>
              <a:t>Piaget and Vygotsky</a:t>
            </a:r>
          </a:p>
          <a:p xmlns:a="http://schemas.openxmlformats.org/drawingml/2006/main">
            <a:pPr algn="l">
              <a:defRPr sz="1875" b="0" i="0">
                <a:solidFill>
                  <a:srgbClr val="596678"/>
                </a:solidFill>
                <a:latin typeface="Helvetica Neue"/>
                <a:ea typeface="Helvetica Neue"/>
                <a:cs typeface="Helvetica Neue"/>
              </a:defRPr>
            </a:pPr>
            <a:r>
              <a:rPr sz="1875" b="0" i="0">
                <a:solidFill>
                  <a:srgbClr val="596678"/>
                </a:solidFill>
                <a:latin typeface="Helvetica Neue"/>
                <a:ea typeface="Helvetica Neue"/>
                <a:cs typeface="Helvetica Neue"/>
              </a:rPr>
              <a:t>Jerome Bruner</a:t>
            </a:r>
          </a:p>
        </p:txBody>
      </p:sp>
      <p:sp>
        <p:nvSpPr>
          <p:cNvPr id="6" name="">
            <a:extLst xmlns:a="http://schemas.openxmlformats.org/drawingml/2006/main">
              <a:ext uri="{FF2B5EF4-FFF2-40B4-BE49-F238E27FC236}">
                <a16:creationId xmlns:a16="http://schemas.microsoft.com/office/drawing/2014/main" id="{13D9B44A-DACB-4C7C-8CF8-6572A019F31D}"/>
              </a:ext>
            </a:extLst>
          </p:cNvPr>
          <p:cNvSpPr>
            <a:spLocks xmlns:a="http://schemas.openxmlformats.org/drawingml/2006/main" noGrp="1"/>
          </p:cNvSpPr>
          <p:nvPr/>
        </p:nvSpPr>
        <p:spPr>
          <a:xfrm xmlns:a="http://schemas.openxmlformats.org/drawingml/2006/main">
            <a:off x="723900" y="4229100"/>
            <a:ext cx="1524000" cy="28575"/>
          </a:xfrm>
          <a:prstGeom xmlns:a="http://schemas.openxmlformats.org/drawingml/2006/main" prst="rect">
            <a:avLst/>
          </a:prstGeom>
          <a:solidFill xmlns:a="http://schemas.openxmlformats.org/drawingml/2006/main">
            <a:srgbClr val="B44D3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C8409D1-7F87-4964-9B62-40BFD8FDC639}"/>
              </a:ext>
            </a:extLst>
          </p:cNvPr>
          <p:cNvSpPr>
            <a:spLocks xmlns:a="http://schemas.openxmlformats.org/drawingml/2006/main" noGrp="1"/>
          </p:cNvSpPr>
          <p:nvPr/>
        </p:nvSpPr>
        <p:spPr>
          <a:xfrm xmlns:a="http://schemas.openxmlformats.org/drawingml/2006/main">
            <a:off x="723900" y="45529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B44D3A"/>
                </a:solidFill>
                <a:latin typeface="Helvetica Neue"/>
                <a:ea typeface="Helvetica Neue"/>
                <a:cs typeface="Helvetica Neue"/>
              </a:defRPr>
            </a:pPr>
            <a:r>
              <a:rPr sz="1050" b="1" i="0">
                <a:solidFill>
                  <a:srgbClr val="B44D3A"/>
                </a:solidFill>
                <a:latin typeface="Helvetica Neue"/>
                <a:ea typeface="Helvetica Neue"/>
                <a:cs typeface="Helvetica Neue"/>
              </a:rPr>
              <a:t>ONE QUESTION</a:t>
            </a:r>
          </a:p>
        </p:txBody>
      </p:sp>
      <p:sp>
        <p:nvSpPr>
          <p:cNvPr id="8" name="">
            <a:extLst xmlns:a="http://schemas.openxmlformats.org/drawingml/2006/main">
              <a:ext uri="{FF2B5EF4-FFF2-40B4-BE49-F238E27FC236}">
                <a16:creationId xmlns:a16="http://schemas.microsoft.com/office/drawing/2014/main" id="{3C521255-15D8-4C6A-A8B4-115821030B79}"/>
              </a:ext>
            </a:extLst>
          </p:cNvPr>
          <p:cNvSpPr>
            <a:spLocks xmlns:a="http://schemas.openxmlformats.org/drawingml/2006/main" noGrp="1"/>
          </p:cNvSpPr>
          <p:nvPr/>
        </p:nvSpPr>
        <p:spPr>
          <a:xfrm xmlns:a="http://schemas.openxmlformats.org/drawingml/2006/main">
            <a:off x="723900" y="4876800"/>
            <a:ext cx="3333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063"/>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How does a mind grow?</a:t>
            </a:r>
          </a:p>
        </p:txBody>
      </p:sp>
      <p:sp>
        <p:nvSpPr>
          <p:cNvPr id="9" name="">
            <a:extLst xmlns:a="http://schemas.openxmlformats.org/drawingml/2006/main">
              <a:ext uri="{FF2B5EF4-FFF2-40B4-BE49-F238E27FC236}">
                <a16:creationId xmlns:a16="http://schemas.microsoft.com/office/drawing/2014/main" id="{A987974B-DA64-4C2F-B37F-770F144D16C6}"/>
              </a:ext>
            </a:extLst>
          </p:cNvPr>
          <p:cNvSpPr>
            <a:spLocks xmlns:a="http://schemas.openxmlformats.org/drawingml/2006/main" noGrp="1"/>
          </p:cNvSpPr>
          <p:nvPr/>
        </p:nvSpPr>
        <p:spPr>
          <a:xfrm xmlns:a="http://schemas.openxmlformats.org/drawingml/2006/main">
            <a:off x="723900" y="5591175"/>
            <a:ext cx="3238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0" i="0">
                <a:solidFill>
                  <a:srgbClr val="10233D"/>
                </a:solidFill>
                <a:latin typeface="Helvetica Neue"/>
                <a:ea typeface="Helvetica Neue"/>
                <a:cs typeface="Helvetica Neue"/>
              </a:defRPr>
            </a:pPr>
            <a:r>
              <a:rPr sz="1200" b="0" i="0">
                <a:solidFill>
                  <a:srgbClr val="10233D"/>
                </a:solidFill>
                <a:latin typeface="Helvetica Neue"/>
                <a:ea typeface="Helvetica Neue"/>
                <a:cs typeface="Helvetica Neue"/>
              </a:rPr>
              <a:t>Group 8</a:t>
            </a:r>
          </a:p>
          <a:p xmlns:a="http://schemas.openxmlformats.org/drawingml/2006/main">
            <a:pPr algn="l">
              <a:defRPr sz="1200" b="0" i="0">
                <a:solidFill>
                  <a:srgbClr val="10233D"/>
                </a:solidFill>
                <a:latin typeface="Helvetica Neue"/>
                <a:ea typeface="Helvetica Neue"/>
                <a:cs typeface="Helvetica Neue"/>
              </a:defRPr>
            </a:pPr>
            <a:r>
              <a:rPr sz="1200" b="0" i="0">
                <a:solidFill>
                  <a:srgbClr val="10233D"/>
                </a:solidFill>
                <a:latin typeface="Helvetica Neue"/>
                <a:ea typeface="Helvetica Neue"/>
                <a:cs typeface="Helvetica Neue"/>
              </a:rPr>
              <a:t>Javen Cao — PID: A17806950</a:t>
            </a:r>
          </a:p>
          <a:p xmlns:a="http://schemas.openxmlformats.org/drawingml/2006/main">
            <a:pPr algn="l">
              <a:defRPr sz="1200" b="0" i="0">
                <a:solidFill>
                  <a:srgbClr val="10233D"/>
                </a:solidFill>
                <a:latin typeface="Helvetica Neue"/>
                <a:ea typeface="Helvetica Neue"/>
                <a:cs typeface="Helvetica Neue"/>
              </a:defRPr>
            </a:pPr>
            <a:r>
              <a:rPr sz="1200" b="0" i="0">
                <a:solidFill>
                  <a:srgbClr val="10233D"/>
                </a:solidFill>
                <a:latin typeface="Helvetica Neue"/>
                <a:ea typeface="Helvetica Neue"/>
                <a:cs typeface="Helvetica Neue"/>
              </a:rPr>
              <a:t>Juqy Chen — PID: A17796879</a:t>
            </a:r>
          </a:p>
        </p:txBody>
      </p:sp>
      <p:sp>
        <p:nvSpPr>
          <p:cNvPr id="10" name="">
            <a:extLst xmlns:a="http://schemas.openxmlformats.org/drawingml/2006/main">
              <a:ext uri="{FF2B5EF4-FFF2-40B4-BE49-F238E27FC236}">
                <a16:creationId xmlns:a16="http://schemas.microsoft.com/office/drawing/2014/main" id="{FC08264E-9086-47FF-A53D-F62E83DBA02A}"/>
              </a:ext>
            </a:extLst>
          </p:cNvPr>
          <p:cNvSpPr>
            <a:spLocks xmlns:a="http://schemas.openxmlformats.org/drawingml/2006/main" noGrp="1"/>
          </p:cNvSpPr>
          <p:nvPr/>
        </p:nvSpPr>
        <p:spPr>
          <a:xfrm xmlns:a="http://schemas.openxmlformats.org/drawingml/2006/main">
            <a:off x="10096500" y="5181600"/>
            <a:ext cx="1314450" cy="1314450"/>
          </a:xfrm>
          <a:prstGeom xmlns:a="http://schemas.openxmlformats.org/drawingml/2006/main" prst="rect">
            <a:avLst/>
          </a:prstGeom>
          <a:solidFill xmlns:a="http://schemas.openxmlformats.org/drawingml/2006/main">
            <a:srgbClr val="FFF9EE"/>
          </a:solidFill>
          <a:ln xmlns:a="http://schemas.openxmlformats.org/drawingml/2006/main" w="0">
            <a:no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3d24ea2ca92942f8"/>
          <a:stretch xmlns:a="http://schemas.openxmlformats.org/drawingml/2006/main"/>
        </p:blipFill>
        <p:spPr>
          <a:xfrm xmlns:a="http://schemas.openxmlformats.org/drawingml/2006/main">
            <a:off x="10201275" y="5286375"/>
            <a:ext cx="1104900" cy="11049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2B1E2572-6C9B-492A-82DB-DC6933FC4679}"/>
              </a:ext>
            </a:extLst>
          </p:cNvPr>
          <p:cNvSpPr>
            <a:spLocks xmlns:a="http://schemas.openxmlformats.org/drawingml/2006/main" noGrp="1"/>
          </p:cNvSpPr>
          <p:nvPr/>
        </p:nvSpPr>
        <p:spPr>
          <a:xfrm xmlns:a="http://schemas.openxmlformats.org/drawingml/2006/main">
            <a:off x="5219700" y="61531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i="0">
                <a:solidFill>
                  <a:srgbClr val="10233D"/>
                </a:solidFill>
                <a:latin typeface="Helvetica Neue"/>
                <a:ea typeface="Helvetica Neue"/>
                <a:cs typeface="Helvetica Neue"/>
              </a:defRPr>
            </a:pPr>
            <a:r>
              <a:rPr sz="1200" b="1" i="0">
                <a:solidFill>
                  <a:srgbClr val="10233D"/>
                </a:solidFill>
                <a:latin typeface="Helvetica Neue"/>
                <a:ea typeface="Helvetica Neue"/>
                <a:cs typeface="Helvetica Neue"/>
              </a:rPr>
              <a:t>Quiz: tinyurl.com/cogs100-group8-quiz</a:t>
            </a:r>
          </a:p>
        </p:txBody>
      </p:sp>
    </p:spTree>
    <p:extLst>
      <p:ext uri="{BB962C8B-B14F-4D97-AF65-F5344CB8AC3E}">
        <p14:creationId xmlns:p14="http://schemas.microsoft.com/office/powerpoint/2010/main" val="1854995817"/>
      </p:ext>
    </p:extLst>
  </p:cSld>
</p:sld>
</file>

<file path=ppt/slides/slide2.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FCFE642-EA15-4B9A-90F6-1A40364C99C7}"/>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EE1CAB50-BA5E-4495-8A58-B4A317403B97}"/>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958"/>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Humans do more than adapt — we make accounts of the world</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cb59a8b18d414a95"/>
          <a:srcRect xmlns:a="http://schemas.openxmlformats.org/drawingml/2006/main" l="2619" t="0" r="2619" b="0"/>
          <a:stretch xmlns:a="http://schemas.openxmlformats.org/drawingml/2006/main">
            <a:fillRect l="0" t="0" r="0" b="0"/>
          </a:stretch>
        </p:blipFill>
        <p:spPr>
          <a:xfrm xmlns:a="http://schemas.openxmlformats.org/drawingml/2006/main">
            <a:off x="4095750" y="1466850"/>
            <a:ext cx="7505700" cy="44577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100C30A-CCA0-4EB4-969D-12C3B655F280}"/>
              </a:ext>
            </a:extLst>
          </p:cNvPr>
          <p:cNvSpPr>
            <a:spLocks xmlns:a="http://schemas.openxmlformats.org/drawingml/2006/main" noGrp="1"/>
          </p:cNvSpPr>
          <p:nvPr/>
        </p:nvSpPr>
        <p:spPr>
          <a:xfrm xmlns:a="http://schemas.openxmlformats.org/drawingml/2006/main">
            <a:off x="723900" y="19050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A86500"/>
                </a:solidFill>
                <a:latin typeface="Helvetica Neue"/>
                <a:ea typeface="Helvetica Neue"/>
                <a:cs typeface="Helvetica Neue"/>
              </a:defRPr>
            </a:pPr>
            <a:r>
              <a:rPr sz="1125" b="1" i="0">
                <a:solidFill>
                  <a:srgbClr val="A86500"/>
                </a:solidFill>
                <a:latin typeface="Helvetica Neue"/>
                <a:ea typeface="Helvetica Neue"/>
                <a:cs typeface="Helvetica Neue"/>
              </a:rPr>
              <a:t>WE ADAPT</a:t>
            </a:r>
          </a:p>
        </p:txBody>
      </p:sp>
      <p:sp>
        <p:nvSpPr>
          <p:cNvPr id="5" name="">
            <a:extLst xmlns:a="http://schemas.openxmlformats.org/drawingml/2006/main">
              <a:ext uri="{FF2B5EF4-FFF2-40B4-BE49-F238E27FC236}">
                <a16:creationId xmlns:a16="http://schemas.microsoft.com/office/drawing/2014/main" id="{42559316-2060-45E7-97E0-AB1A72DEB42B}"/>
              </a:ext>
            </a:extLst>
          </p:cNvPr>
          <p:cNvSpPr>
            <a:spLocks xmlns:a="http://schemas.openxmlformats.org/drawingml/2006/main" noGrp="1"/>
          </p:cNvSpPr>
          <p:nvPr/>
        </p:nvSpPr>
        <p:spPr>
          <a:xfrm xmlns:a="http://schemas.openxmlformats.org/drawingml/2006/main">
            <a:off x="723900" y="2286000"/>
            <a:ext cx="3143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775" b="1" i="0">
                <a:solidFill>
                  <a:srgbClr val="10233D"/>
                </a:solidFill>
                <a:latin typeface="Helvetica Neue"/>
                <a:ea typeface="Helvetica Neue"/>
                <a:cs typeface="Helvetica Neue"/>
              </a:defRPr>
            </a:pPr>
            <a:r>
              <a:rPr sz="2775" b="1" i="0">
                <a:solidFill>
                  <a:srgbClr val="10233D"/>
                </a:solidFill>
                <a:latin typeface="Helvetica Neue"/>
                <a:ea typeface="Helvetica Neue"/>
                <a:cs typeface="Helvetica Neue"/>
              </a:rPr>
              <a:t>We act</a:t>
            </a:r>
          </a:p>
          <a:p xmlns:a="http://schemas.openxmlformats.org/drawingml/2006/main">
            <a:pPr algn="l">
              <a:defRPr sz="2775" b="1" i="0">
                <a:solidFill>
                  <a:srgbClr val="10233D"/>
                </a:solidFill>
                <a:latin typeface="Helvetica Neue"/>
                <a:ea typeface="Helvetica Neue"/>
                <a:cs typeface="Helvetica Neue"/>
              </a:defRPr>
            </a:pPr>
            <a:r>
              <a:rPr sz="2775" b="1" i="0">
                <a:solidFill>
                  <a:srgbClr val="10233D"/>
                </a:solidFill>
                <a:latin typeface="Helvetica Neue"/>
                <a:ea typeface="Helvetica Neue"/>
                <a:cs typeface="Helvetica Neue"/>
              </a:rPr>
              <a:t>in the world.</a:t>
            </a:r>
          </a:p>
        </p:txBody>
      </p:sp>
      <p:sp>
        <p:nvSpPr>
          <p:cNvPr id="6" name="">
            <a:extLst xmlns:a="http://schemas.openxmlformats.org/drawingml/2006/main">
              <a:ext uri="{FF2B5EF4-FFF2-40B4-BE49-F238E27FC236}">
                <a16:creationId xmlns:a16="http://schemas.microsoft.com/office/drawing/2014/main" id="{1AA747A4-5CA0-41D7-A8FA-2175D384E239}"/>
              </a:ext>
            </a:extLst>
          </p:cNvPr>
          <p:cNvSpPr>
            <a:spLocks xmlns:a="http://schemas.openxmlformats.org/drawingml/2006/main" noGrp="1"/>
          </p:cNvSpPr>
          <p:nvPr/>
        </p:nvSpPr>
        <p:spPr>
          <a:xfrm xmlns:a="http://schemas.openxmlformats.org/drawingml/2006/main">
            <a:off x="723900" y="3409950"/>
            <a:ext cx="2305050" cy="19050"/>
          </a:xfrm>
          <a:prstGeom xmlns:a="http://schemas.openxmlformats.org/drawingml/2006/main" prst="rect">
            <a:avLst/>
          </a:prstGeom>
          <a:solidFill xmlns:a="http://schemas.openxmlformats.org/drawingml/2006/main">
            <a:srgbClr val="A8650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4143C3F-DB59-41B6-A68A-A968EAEE4DB4}"/>
              </a:ext>
            </a:extLst>
          </p:cNvPr>
          <p:cNvSpPr>
            <a:spLocks xmlns:a="http://schemas.openxmlformats.org/drawingml/2006/main" noGrp="1"/>
          </p:cNvSpPr>
          <p:nvPr/>
        </p:nvSpPr>
        <p:spPr>
          <a:xfrm xmlns:a="http://schemas.openxmlformats.org/drawingml/2006/main">
            <a:off x="723900" y="3733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WE ALSO INTERPRET</a:t>
            </a:r>
          </a:p>
        </p:txBody>
      </p:sp>
      <p:sp>
        <p:nvSpPr>
          <p:cNvPr id="8" name="">
            <a:extLst xmlns:a="http://schemas.openxmlformats.org/drawingml/2006/main">
              <a:ext uri="{FF2B5EF4-FFF2-40B4-BE49-F238E27FC236}">
                <a16:creationId xmlns:a16="http://schemas.microsoft.com/office/drawing/2014/main" id="{A072006E-C412-4205-BA31-5A2844702D54}"/>
              </a:ext>
            </a:extLst>
          </p:cNvPr>
          <p:cNvSpPr>
            <a:spLocks xmlns:a="http://schemas.openxmlformats.org/drawingml/2006/main" noGrp="1"/>
          </p:cNvSpPr>
          <p:nvPr/>
        </p:nvSpPr>
        <p:spPr>
          <a:xfrm xmlns:a="http://schemas.openxmlformats.org/drawingml/2006/main">
            <a:off x="723900" y="4095750"/>
            <a:ext cx="33147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We make theories</a:t>
            </a:r>
          </a:p>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and stories about it.</a:t>
            </a:r>
          </a:p>
        </p:txBody>
      </p:sp>
      <p:sp>
        <p:nvSpPr>
          <p:cNvPr id="9" name="">
            <a:extLst xmlns:a="http://schemas.openxmlformats.org/drawingml/2006/main">
              <a:ext uri="{FF2B5EF4-FFF2-40B4-BE49-F238E27FC236}">
                <a16:creationId xmlns:a16="http://schemas.microsoft.com/office/drawing/2014/main" id="{5894660B-C5A2-4FA6-ACD3-DD6EBE4722BE}"/>
              </a:ext>
            </a:extLst>
          </p:cNvPr>
          <p:cNvSpPr>
            <a:spLocks xmlns:a="http://schemas.openxmlformats.org/drawingml/2006/main" noGrp="1"/>
          </p:cNvSpPr>
          <p:nvPr/>
        </p:nvSpPr>
        <p:spPr>
          <a:xfrm xmlns:a="http://schemas.openxmlformats.org/drawingml/2006/main">
            <a:off x="723900" y="5334000"/>
            <a:ext cx="34480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91"/>
          </a:bodyPr>
          <a:lstStyle xmlns:a="http://schemas.openxmlformats.org/drawingml/2006/main"/>
          <a:p xmlns:a="http://schemas.openxmlformats.org/drawingml/2006/main">
            <a:pPr algn="l">
              <a:defRPr sz="1425" b="0" i="0">
                <a:solidFill>
                  <a:srgbClr val="596678"/>
                </a:solidFill>
                <a:latin typeface="Helvetica Neue"/>
                <a:ea typeface="Helvetica Neue"/>
                <a:cs typeface="Helvetica Neue"/>
              </a:defRPr>
            </a:pPr>
            <a:r>
              <a:rPr sz="1425" b="0" i="0">
                <a:solidFill>
                  <a:srgbClr val="596678"/>
                </a:solidFill>
                <a:latin typeface="Helvetica Neue"/>
                <a:ea typeface="Helvetica Neue"/>
                <a:cs typeface="Helvetica Neue"/>
              </a:rPr>
              <a:t>Bruner’s question: how does development make this possible?</a:t>
            </a:r>
          </a:p>
        </p:txBody>
      </p:sp>
      <p:sp>
        <p:nvSpPr>
          <p:cNvPr id="10" name="">
            <a:extLst xmlns:a="http://schemas.openxmlformats.org/drawingml/2006/main">
              <a:ext uri="{FF2B5EF4-FFF2-40B4-BE49-F238E27FC236}">
                <a16:creationId xmlns:a16="http://schemas.microsoft.com/office/drawing/2014/main" id="{30F185A3-9AC8-4756-8A3C-1199E0333FF1}"/>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5E67A51-09D3-49FA-9E8F-BEE88B68466C}"/>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64. Slide wording is paraphrased.</a:t>
            </a:r>
          </a:p>
        </p:txBody>
      </p:sp>
      <p:sp>
        <p:nvSpPr>
          <p:cNvPr id="12" name="">
            <a:extLst xmlns:a="http://schemas.openxmlformats.org/drawingml/2006/main">
              <a:ext uri="{FF2B5EF4-FFF2-40B4-BE49-F238E27FC236}">
                <a16:creationId xmlns:a16="http://schemas.microsoft.com/office/drawing/2014/main" id="{CF559AED-E4D1-4E9A-9E5D-94AED1E9F7D9}"/>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02</a:t>
            </a:r>
          </a:p>
        </p:txBody>
      </p:sp>
    </p:spTree>
    <p:extLst>
      <p:ext uri="{BB962C8B-B14F-4D97-AF65-F5344CB8AC3E}">
        <p14:creationId xmlns:p14="http://schemas.microsoft.com/office/powerpoint/2010/main" val="1932871214"/>
      </p:ext>
    </p:extLst>
  </p:cSld>
</p:sld>
</file>

<file path=ppt/slides/slide3.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BFDCA49-7B6A-489E-B274-6264B9101CA2}"/>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EA075F5C-58EC-4907-A01F-9E88912FFADF}"/>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 and Vygotsky answer the same question differently</a:t>
            </a:r>
          </a:p>
        </p:txBody>
      </p:sp>
      <p:sp>
        <p:nvSpPr>
          <p:cNvPr id="3" name="">
            <a:extLst xmlns:a="http://schemas.openxmlformats.org/drawingml/2006/main">
              <a:ext uri="{FF2B5EF4-FFF2-40B4-BE49-F238E27FC236}">
                <a16:creationId xmlns:a16="http://schemas.microsoft.com/office/drawing/2014/main" id="{CC38A05C-4666-4E90-B573-6530FB9EE4BB}"/>
              </a:ext>
            </a:extLst>
          </p:cNvPr>
          <p:cNvSpPr>
            <a:spLocks xmlns:a="http://schemas.openxmlformats.org/drawingml/2006/main" noGrp="1"/>
          </p:cNvSpPr>
          <p:nvPr/>
        </p:nvSpPr>
        <p:spPr>
          <a:xfrm xmlns:a="http://schemas.openxmlformats.org/drawingml/2006/main">
            <a:off x="590550" y="135255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0">
                <a:solidFill>
                  <a:srgbClr val="596678"/>
                </a:solidFill>
                <a:latin typeface="Helvetica Neue"/>
                <a:ea typeface="Helvetica Neue"/>
                <a:cs typeface="Helvetica Neue"/>
              </a:defRPr>
            </a:pPr>
            <a:r>
              <a:rPr sz="1650" b="0" i="0">
                <a:solidFill>
                  <a:srgbClr val="596678"/>
                </a:solidFill>
                <a:latin typeface="Helvetica Neue"/>
                <a:ea typeface="Helvetica Neue"/>
                <a:cs typeface="Helvetica Neue"/>
              </a:rPr>
              <a:t>Shared premise: the mind mediates between the external world and individual experience.</a:t>
            </a:r>
          </a:p>
        </p:txBody>
      </p:sp>
      <p:sp>
        <p:nvSpPr>
          <p:cNvPr id="4" name="">
            <a:extLst xmlns:a="http://schemas.openxmlformats.org/drawingml/2006/main">
              <a:ext uri="{FF2B5EF4-FFF2-40B4-BE49-F238E27FC236}">
                <a16:creationId xmlns:a16="http://schemas.microsoft.com/office/drawing/2014/main" id="{2201B335-AF2B-42F0-B1E5-F95EC5238E46}"/>
              </a:ext>
            </a:extLst>
          </p:cNvPr>
          <p:cNvSpPr>
            <a:spLocks xmlns:a="http://schemas.openxmlformats.org/drawingml/2006/main" noGrp="1"/>
          </p:cNvSpPr>
          <p:nvPr/>
        </p:nvSpPr>
        <p:spPr>
          <a:xfrm xmlns:a="http://schemas.openxmlformats.org/drawingml/2006/main">
            <a:off x="590550" y="1943100"/>
            <a:ext cx="5143500" cy="3219450"/>
          </a:xfrm>
          <a:prstGeom xmlns:a="http://schemas.openxmlformats.org/drawingml/2006/main" prst="rect">
            <a:avLst/>
          </a:prstGeom>
          <a:solidFill xmlns:a="http://schemas.openxmlformats.org/drawingml/2006/main">
            <a:srgbClr val="E4EEFF"/>
          </a:solidFill>
          <a:ln xmlns:a="http://schemas.openxmlformats.org/drawingml/2006/main" w="0">
            <a:no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24fb751a89a64847"/>
          <a:srcRect xmlns:a="http://schemas.openxmlformats.org/drawingml/2006/main" l="0" t="1997" r="0" b="1997"/>
          <a:stretch xmlns:a="http://schemas.openxmlformats.org/drawingml/2006/main">
            <a:fillRect l="0" t="0" r="0" b="0"/>
          </a:stretch>
        </p:blipFill>
        <p:spPr>
          <a:xfrm xmlns:a="http://schemas.openxmlformats.org/drawingml/2006/main">
            <a:off x="838200" y="2171700"/>
            <a:ext cx="1600200" cy="2571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22550A0-B35D-4C86-B631-E6831D649DE9}"/>
              </a:ext>
            </a:extLst>
          </p:cNvPr>
          <p:cNvSpPr>
            <a:spLocks xmlns:a="http://schemas.openxmlformats.org/drawingml/2006/main" noGrp="1"/>
          </p:cNvSpPr>
          <p:nvPr/>
        </p:nvSpPr>
        <p:spPr>
          <a:xfrm xmlns:a="http://schemas.openxmlformats.org/drawingml/2006/main">
            <a:off x="2724150" y="226695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PIAGET</a:t>
            </a:r>
          </a:p>
        </p:txBody>
      </p:sp>
      <p:sp>
        <p:nvSpPr>
          <p:cNvPr id="7" name="">
            <a:extLst xmlns:a="http://schemas.openxmlformats.org/drawingml/2006/main">
              <a:ext uri="{FF2B5EF4-FFF2-40B4-BE49-F238E27FC236}">
                <a16:creationId xmlns:a16="http://schemas.microsoft.com/office/drawing/2014/main" id="{D1DEDEE2-45E5-4D38-8DF7-EA9D69CB2EEB}"/>
              </a:ext>
            </a:extLst>
          </p:cNvPr>
          <p:cNvSpPr>
            <a:spLocks xmlns:a="http://schemas.openxmlformats.org/drawingml/2006/main" noGrp="1"/>
          </p:cNvSpPr>
          <p:nvPr/>
        </p:nvSpPr>
        <p:spPr>
          <a:xfrm xmlns:a="http://schemas.openxmlformats.org/drawingml/2006/main">
            <a:off x="2724150" y="2667000"/>
            <a:ext cx="23622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150"/>
          </a:bodyPr>
          <a:lstStyle xmlns:a="http://schemas.openxmlformats.org/drawingml/2006/main"/>
          <a:p xmlns:a="http://schemas.openxmlformats.org/drawingml/2006/main">
            <a:pPr algn="l">
              <a:defRPr sz="2175" b="1" i="0">
                <a:solidFill>
                  <a:srgbClr val="10233D"/>
                </a:solidFill>
                <a:latin typeface="Helvetica Neue"/>
                <a:ea typeface="Helvetica Neue"/>
                <a:cs typeface="Helvetica Neue"/>
              </a:defRPr>
            </a:pPr>
            <a:r>
              <a:rPr sz="2175" b="1" i="0">
                <a:solidFill>
                  <a:srgbClr val="10233D"/>
                </a:solidFill>
                <a:latin typeface="Helvetica Neue"/>
                <a:ea typeface="Helvetica Neue"/>
                <a:cs typeface="Helvetica Neue"/>
              </a:rPr>
              <a:t>Logic-like operations organize knowledge.</a:t>
            </a:r>
          </a:p>
        </p:txBody>
      </p:sp>
      <p:sp>
        <p:nvSpPr>
          <p:cNvPr id="8" name="">
            <a:extLst xmlns:a="http://schemas.openxmlformats.org/drawingml/2006/main">
              <a:ext uri="{FF2B5EF4-FFF2-40B4-BE49-F238E27FC236}">
                <a16:creationId xmlns:a16="http://schemas.microsoft.com/office/drawing/2014/main" id="{5F86ADDF-3E1C-4361-8CF4-648D96F1B67E}"/>
              </a:ext>
            </a:extLst>
          </p:cNvPr>
          <p:cNvSpPr>
            <a:spLocks xmlns:a="http://schemas.openxmlformats.org/drawingml/2006/main" noGrp="1"/>
          </p:cNvSpPr>
          <p:nvPr/>
        </p:nvSpPr>
        <p:spPr>
          <a:xfrm xmlns:a="http://schemas.openxmlformats.org/drawingml/2006/main">
            <a:off x="2724150" y="4038600"/>
            <a:ext cx="21145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i="0">
                <a:solidFill>
                  <a:srgbClr val="596678"/>
                </a:solidFill>
                <a:latin typeface="Helvetica Neue"/>
                <a:ea typeface="Helvetica Neue"/>
                <a:cs typeface="Helvetica Neue"/>
              </a:defRPr>
            </a:pPr>
            <a:r>
              <a:rPr sz="1425" b="0" i="0">
                <a:solidFill>
                  <a:srgbClr val="596678"/>
                </a:solidFill>
                <a:latin typeface="Helvetica Neue"/>
                <a:ea typeface="Helvetica Neue"/>
                <a:cs typeface="Helvetica Neue"/>
              </a:rPr>
              <a:t>Growth means stronger structures of thought.</a:t>
            </a:r>
          </a:p>
        </p:txBody>
      </p:sp>
      <p:sp>
        <p:nvSpPr>
          <p:cNvPr id="9" name="">
            <a:extLst xmlns:a="http://schemas.openxmlformats.org/drawingml/2006/main">
              <a:ext uri="{FF2B5EF4-FFF2-40B4-BE49-F238E27FC236}">
                <a16:creationId xmlns:a16="http://schemas.microsoft.com/office/drawing/2014/main" id="{1FD1EDE3-CDFC-4D9C-855E-A2355433DBE0}"/>
              </a:ext>
            </a:extLst>
          </p:cNvPr>
          <p:cNvSpPr>
            <a:spLocks xmlns:a="http://schemas.openxmlformats.org/drawingml/2006/main" noGrp="1"/>
          </p:cNvSpPr>
          <p:nvPr/>
        </p:nvSpPr>
        <p:spPr>
          <a:xfrm xmlns:a="http://schemas.openxmlformats.org/drawingml/2006/main">
            <a:off x="6457950" y="1943100"/>
            <a:ext cx="5143500" cy="32194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eed636a645414473"/>
          <a:srcRect xmlns:a="http://schemas.openxmlformats.org/drawingml/2006/main" l="7079" t="0" r="7079" b="0"/>
          <a:stretch xmlns:a="http://schemas.openxmlformats.org/drawingml/2006/main">
            <a:fillRect l="0" t="0" r="0" b="0"/>
          </a:stretch>
        </p:blipFill>
        <p:spPr>
          <a:xfrm xmlns:a="http://schemas.openxmlformats.org/drawingml/2006/main">
            <a:off x="6705600" y="2171700"/>
            <a:ext cx="1600200" cy="2571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F6C5C454-6CB6-443D-AE87-BAB9D2E986F9}"/>
              </a:ext>
            </a:extLst>
          </p:cNvPr>
          <p:cNvSpPr>
            <a:spLocks xmlns:a="http://schemas.openxmlformats.org/drawingml/2006/main" noGrp="1"/>
          </p:cNvSpPr>
          <p:nvPr/>
        </p:nvSpPr>
        <p:spPr>
          <a:xfrm xmlns:a="http://schemas.openxmlformats.org/drawingml/2006/main">
            <a:off x="8591550" y="226695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VYGOTSKY</a:t>
            </a:r>
          </a:p>
        </p:txBody>
      </p:sp>
      <p:sp>
        <p:nvSpPr>
          <p:cNvPr id="12" name="">
            <a:extLst xmlns:a="http://schemas.openxmlformats.org/drawingml/2006/main">
              <a:ext uri="{FF2B5EF4-FFF2-40B4-BE49-F238E27FC236}">
                <a16:creationId xmlns:a16="http://schemas.microsoft.com/office/drawing/2014/main" id="{9FEEF39C-DC0E-498C-AA9E-A6A6EDC591F1}"/>
              </a:ext>
            </a:extLst>
          </p:cNvPr>
          <p:cNvSpPr>
            <a:spLocks xmlns:a="http://schemas.openxmlformats.org/drawingml/2006/main" noGrp="1"/>
          </p:cNvSpPr>
          <p:nvPr/>
        </p:nvSpPr>
        <p:spPr>
          <a:xfrm xmlns:a="http://schemas.openxmlformats.org/drawingml/2006/main">
            <a:off x="8591550" y="2667000"/>
            <a:ext cx="2571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175" b="1" i="0">
                <a:solidFill>
                  <a:srgbClr val="10233D"/>
                </a:solidFill>
                <a:latin typeface="Helvetica Neue"/>
                <a:ea typeface="Helvetica Neue"/>
                <a:cs typeface="Helvetica Neue"/>
              </a:defRPr>
            </a:pPr>
            <a:r>
              <a:rPr sz="2175" b="1" i="0">
                <a:solidFill>
                  <a:srgbClr val="10233D"/>
                </a:solidFill>
                <a:latin typeface="Helvetica Neue"/>
                <a:ea typeface="Helvetica Neue"/>
                <a:cs typeface="Helvetica Neue"/>
              </a:rPr>
              <a:t>Culture and history become tools of mind.</a:t>
            </a:r>
          </a:p>
        </p:txBody>
      </p:sp>
      <p:sp>
        <p:nvSpPr>
          <p:cNvPr id="13" name="">
            <a:extLst xmlns:a="http://schemas.openxmlformats.org/drawingml/2006/main">
              <a:ext uri="{FF2B5EF4-FFF2-40B4-BE49-F238E27FC236}">
                <a16:creationId xmlns:a16="http://schemas.microsoft.com/office/drawing/2014/main" id="{B92D70B9-BD1C-4806-B9C0-474A47685549}"/>
              </a:ext>
            </a:extLst>
          </p:cNvPr>
          <p:cNvSpPr>
            <a:spLocks xmlns:a="http://schemas.openxmlformats.org/drawingml/2006/main" noGrp="1"/>
          </p:cNvSpPr>
          <p:nvPr/>
        </p:nvSpPr>
        <p:spPr>
          <a:xfrm xmlns:a="http://schemas.openxmlformats.org/drawingml/2006/main">
            <a:off x="8591550" y="4038600"/>
            <a:ext cx="2381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i="0">
                <a:solidFill>
                  <a:srgbClr val="596678"/>
                </a:solidFill>
                <a:latin typeface="Helvetica Neue"/>
                <a:ea typeface="Helvetica Neue"/>
                <a:cs typeface="Helvetica Neue"/>
              </a:defRPr>
            </a:pPr>
            <a:r>
              <a:rPr sz="1425" b="0" i="0">
                <a:solidFill>
                  <a:srgbClr val="596678"/>
                </a:solidFill>
                <a:latin typeface="Helvetica Neue"/>
                <a:ea typeface="Helvetica Neue"/>
                <a:cs typeface="Helvetica Neue"/>
              </a:rPr>
              <a:t>Growth means mastering culturally embodied symbols.</a:t>
            </a:r>
          </a:p>
        </p:txBody>
      </p:sp>
      <p:sp>
        <p:nvSpPr>
          <p:cNvPr id="14" name="">
            <a:extLst xmlns:a="http://schemas.openxmlformats.org/drawingml/2006/main">
              <a:ext uri="{FF2B5EF4-FFF2-40B4-BE49-F238E27FC236}">
                <a16:creationId xmlns:a16="http://schemas.microsoft.com/office/drawing/2014/main" id="{4F6F4FCF-6941-4889-8CDE-73B249FB3FA2}"/>
              </a:ext>
            </a:extLst>
          </p:cNvPr>
          <p:cNvSpPr>
            <a:spLocks xmlns:a="http://schemas.openxmlformats.org/drawingml/2006/main" noGrp="1"/>
          </p:cNvSpPr>
          <p:nvPr/>
        </p:nvSpPr>
        <p:spPr>
          <a:xfrm xmlns:a="http://schemas.openxmlformats.org/drawingml/2006/main">
            <a:off x="590550" y="5372100"/>
            <a:ext cx="1066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0233D"/>
                </a:solidFill>
                <a:latin typeface="Helvetica Neue"/>
                <a:ea typeface="Helvetica Neue"/>
                <a:cs typeface="Helvetica Neue"/>
              </a:defRPr>
            </a:pPr>
            <a:r>
              <a:rPr sz="1650" b="0" i="1">
                <a:solidFill>
                  <a:srgbClr val="10233D"/>
                </a:solidFill>
                <a:latin typeface="Helvetica Neue"/>
                <a:ea typeface="Helvetica Neue"/>
                <a:cs typeface="Helvetica Neue"/>
              </a:rPr>
              <a:t>The disagreement is productive: it reveals two ways of studying development.</a:t>
            </a:r>
          </a:p>
        </p:txBody>
      </p:sp>
      <p:sp>
        <p:nvSpPr>
          <p:cNvPr id="15" name="">
            <a:extLst xmlns:a="http://schemas.openxmlformats.org/drawingml/2006/main">
              <a:ext uri="{FF2B5EF4-FFF2-40B4-BE49-F238E27FC236}">
                <a16:creationId xmlns:a16="http://schemas.microsoft.com/office/drawing/2014/main" id="{6A875DC0-13B9-4AD7-95B5-758806C62BD7}"/>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D1CA3F2-BE63-48BF-BB6E-EC5E1FF6A966}"/>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Content: Bruner (1997), pp. 65, 68, 70–72. Photos: Wikimedia Commons, public domain.</a:t>
            </a:r>
          </a:p>
        </p:txBody>
      </p:sp>
      <p:sp>
        <p:nvSpPr>
          <p:cNvPr id="17" name="">
            <a:extLst xmlns:a="http://schemas.openxmlformats.org/drawingml/2006/main">
              <a:ext uri="{FF2B5EF4-FFF2-40B4-BE49-F238E27FC236}">
                <a16:creationId xmlns:a16="http://schemas.microsoft.com/office/drawing/2014/main" id="{3543F0C2-5B80-4784-A712-AB7921935368}"/>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03</a:t>
            </a:r>
          </a:p>
        </p:txBody>
      </p:sp>
    </p:spTree>
    <p:extLst>
      <p:ext uri="{BB962C8B-B14F-4D97-AF65-F5344CB8AC3E}">
        <p14:creationId xmlns:p14="http://schemas.microsoft.com/office/powerpoint/2010/main" val="511271226"/>
      </p:ext>
    </p:extLst>
  </p:cSld>
</p:sld>
</file>

<file path=ppt/slides/slide4.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AA6F9D6-15A1-4084-8A14-BC84E7F6448D}"/>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D0DDA4CE-34B0-4A10-BA17-4983FC403E88}"/>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047"/>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For Piaget, the mind organizes experience through logic-like operations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0282392aaa0449d9"/>
          <a:srcRect xmlns:a="http://schemas.openxmlformats.org/drawingml/2006/main" l="0" t="15296" r="0" b="15296"/>
          <a:stretch xmlns:a="http://schemas.openxmlformats.org/drawingml/2006/main">
            <a:fillRect l="0" t="0" r="0" b="0"/>
          </a:stretch>
        </p:blipFill>
        <p:spPr>
          <a:xfrm xmlns:a="http://schemas.openxmlformats.org/drawingml/2006/main">
            <a:off x="0" y="1333500"/>
            <a:ext cx="12192000" cy="4762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0A0C787-1300-4A3F-8F7D-3D4E3BBD3824}"/>
              </a:ext>
            </a:extLst>
          </p:cNvPr>
          <p:cNvSpPr>
            <a:spLocks xmlns:a="http://schemas.openxmlformats.org/drawingml/2006/main" noGrp="1"/>
          </p:cNvSpPr>
          <p:nvPr/>
        </p:nvSpPr>
        <p:spPr>
          <a:xfrm xmlns:a="http://schemas.openxmlformats.org/drawingml/2006/main">
            <a:off x="723900" y="196215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THE MIND MEDIATES</a:t>
            </a:r>
          </a:p>
        </p:txBody>
      </p:sp>
      <p:sp>
        <p:nvSpPr>
          <p:cNvPr id="5" name="">
            <a:extLst xmlns:a="http://schemas.openxmlformats.org/drawingml/2006/main">
              <a:ext uri="{FF2B5EF4-FFF2-40B4-BE49-F238E27FC236}">
                <a16:creationId xmlns:a16="http://schemas.microsoft.com/office/drawing/2014/main" id="{DE93650C-3F9D-44AC-9EAC-F314A9193E16}"/>
              </a:ext>
            </a:extLst>
          </p:cNvPr>
          <p:cNvSpPr>
            <a:spLocks xmlns:a="http://schemas.openxmlformats.org/drawingml/2006/main" noGrp="1"/>
          </p:cNvSpPr>
          <p:nvPr/>
        </p:nvSpPr>
        <p:spPr>
          <a:xfrm xmlns:a="http://schemas.openxmlformats.org/drawingml/2006/main">
            <a:off x="723900" y="2343150"/>
            <a:ext cx="32956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593"/>
          </a:bodyPr>
          <a:lstStyle xmlns:a="http://schemas.openxmlformats.org/drawingml/2006/main"/>
          <a:p xmlns:a="http://schemas.openxmlformats.org/drawingml/2006/main">
            <a:pPr algn="l">
              <a:defRPr sz="2475" b="1" i="0">
                <a:solidFill>
                  <a:srgbClr val="10233D"/>
                </a:solidFill>
                <a:latin typeface="Helvetica Neue"/>
                <a:ea typeface="Helvetica Neue"/>
                <a:cs typeface="Helvetica Neue"/>
              </a:defRPr>
            </a:pPr>
            <a:r>
              <a:rPr sz="2475" b="1" i="0">
                <a:solidFill>
                  <a:srgbClr val="10233D"/>
                </a:solidFill>
                <a:latin typeface="Helvetica Neue"/>
                <a:ea typeface="Helvetica Neue"/>
                <a:cs typeface="Helvetica Neue"/>
              </a:rPr>
              <a:t>It does not simply record the world.</a:t>
            </a:r>
          </a:p>
          <a:p xmlns:a="http://schemas.openxmlformats.org/drawingml/2006/main">
            <a:pPr algn="l">
              <a:defRPr sz="2475" b="1" i="0">
                <a:solidFill>
                  <a:srgbClr val="10233D"/>
                </a:solidFill>
                <a:latin typeface="Helvetica Neue"/>
                <a:ea typeface="Helvetica Neue"/>
                <a:cs typeface="Helvetica Neue"/>
              </a:defRPr>
            </a:pPr>
            <a:r>
              <a:rPr sz="2475" b="1" i="0">
                <a:solidFill>
                  <a:srgbClr val="10233D"/>
                </a:solidFill>
                <a:latin typeface="Helvetica Neue"/>
                <a:ea typeface="Helvetica Neue"/>
                <a:cs typeface="Helvetica Neue"/>
              </a:rPr>
              <a:t>It organizes it.</a:t>
            </a:r>
          </a:p>
        </p:txBody>
      </p:sp>
      <p:sp>
        <p:nvSpPr>
          <p:cNvPr id="6" name="">
            <a:extLst xmlns:a="http://schemas.openxmlformats.org/drawingml/2006/main">
              <a:ext uri="{FF2B5EF4-FFF2-40B4-BE49-F238E27FC236}">
                <a16:creationId xmlns:a16="http://schemas.microsoft.com/office/drawing/2014/main" id="{0D33CDC5-719C-4206-80B6-17396F6D065C}"/>
              </a:ext>
            </a:extLst>
          </p:cNvPr>
          <p:cNvSpPr>
            <a:spLocks xmlns:a="http://schemas.openxmlformats.org/drawingml/2006/main" noGrp="1"/>
          </p:cNvSpPr>
          <p:nvPr/>
        </p:nvSpPr>
        <p:spPr>
          <a:xfrm xmlns:a="http://schemas.openxmlformats.org/drawingml/2006/main">
            <a:off x="723900" y="3924300"/>
            <a:ext cx="3238500" cy="1104900"/>
          </a:xfrm>
          <a:prstGeom xmlns:a="http://schemas.openxmlformats.org/drawingml/2006/main" prst="rect">
            <a:avLst/>
          </a:prstGeom>
          <a:solidFill xmlns:a="http://schemas.openxmlformats.org/drawingml/2006/main">
            <a:srgbClr val="FFF9EE">
              <a:alpha val="90980"/>
            </a:srgbClr>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E7D30A3-6C7F-4874-95C7-30754F13835A}"/>
              </a:ext>
            </a:extLst>
          </p:cNvPr>
          <p:cNvSpPr>
            <a:spLocks xmlns:a="http://schemas.openxmlformats.org/drawingml/2006/main" noGrp="1"/>
          </p:cNvSpPr>
          <p:nvPr/>
        </p:nvSpPr>
        <p:spPr>
          <a:xfrm xmlns:a="http://schemas.openxmlformats.org/drawingml/2006/main">
            <a:off x="952500" y="4171950"/>
            <a:ext cx="28003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889"/>
          </a:bodyPr>
          <a:lstStyle xmlns:a="http://schemas.openxmlformats.org/drawingml/2006/main"/>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Knowledge is built, then tested in action. Thinking helps shape what the child can know.</a:t>
            </a:r>
          </a:p>
        </p:txBody>
      </p:sp>
      <p:sp>
        <p:nvSpPr>
          <p:cNvPr id="8" name="">
            <a:extLst xmlns:a="http://schemas.openxmlformats.org/drawingml/2006/main">
              <a:ext uri="{FF2B5EF4-FFF2-40B4-BE49-F238E27FC236}">
                <a16:creationId xmlns:a16="http://schemas.microsoft.com/office/drawing/2014/main" id="{25C999E0-5474-4355-8F7B-C4E10020D941}"/>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D62BDD2-34E4-473F-976B-96795836360F}"/>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65. Slide wording is paraphrased.</a:t>
            </a:r>
          </a:p>
        </p:txBody>
      </p:sp>
      <p:sp>
        <p:nvSpPr>
          <p:cNvPr id="10" name="">
            <a:extLst xmlns:a="http://schemas.openxmlformats.org/drawingml/2006/main">
              <a:ext uri="{FF2B5EF4-FFF2-40B4-BE49-F238E27FC236}">
                <a16:creationId xmlns:a16="http://schemas.microsoft.com/office/drawing/2014/main" id="{6EE7C65D-9312-414E-91FE-6F31DDD7A19D}"/>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04</a:t>
            </a:r>
          </a:p>
        </p:txBody>
      </p:sp>
    </p:spTree>
    <p:extLst>
      <p:ext uri="{BB962C8B-B14F-4D97-AF65-F5344CB8AC3E}">
        <p14:creationId xmlns:p14="http://schemas.microsoft.com/office/powerpoint/2010/main" val="2103289954"/>
      </p:ext>
    </p:extLst>
  </p:cSld>
</p:sld>
</file>

<file path=ppt/slides/slide5.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59F621C-C450-46A8-813B-3A602C507742}"/>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4DD74F6F-C8A2-4C20-8D75-CD2B2B883776}"/>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04"/>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Piaget’s growth story: action becomes increasingly organized thought</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95c45e5093cc478d"/>
          <a:srcRect xmlns:a="http://schemas.openxmlformats.org/drawingml/2006/main" l="5147" t="0" r="5147" b="0"/>
          <a:stretch xmlns:a="http://schemas.openxmlformats.org/drawingml/2006/main">
            <a:fillRect l="0" t="0" r="0" b="0"/>
          </a:stretch>
        </p:blipFill>
        <p:spPr>
          <a:xfrm xmlns:a="http://schemas.openxmlformats.org/drawingml/2006/main">
            <a:off x="5619750" y="1619250"/>
            <a:ext cx="5981700" cy="37528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2EFB812-E1C0-4C70-AB84-2CB2A90F0693}"/>
              </a:ext>
            </a:extLst>
          </p:cNvPr>
          <p:cNvSpPr>
            <a:spLocks xmlns:a="http://schemas.openxmlformats.org/drawingml/2006/main" noGrp="1"/>
          </p:cNvSpPr>
          <p:nvPr/>
        </p:nvSpPr>
        <p:spPr>
          <a:xfrm xmlns:a="http://schemas.openxmlformats.org/drawingml/2006/main">
            <a:off x="742950" y="179070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i="0">
                <a:solidFill>
                  <a:srgbClr val="1F5FC9"/>
                </a:solidFill>
                <a:latin typeface="Helvetica Neue"/>
                <a:ea typeface="Helvetica Neue"/>
                <a:cs typeface="Helvetica Neue"/>
              </a:defRPr>
            </a:pPr>
            <a:r>
              <a:rPr sz="1650" b="1" i="0">
                <a:solidFill>
                  <a:srgbClr val="1F5FC9"/>
                </a:solidFill>
                <a:latin typeface="Helvetica Neue"/>
                <a:ea typeface="Helvetica Neue"/>
                <a:cs typeface="Helvetica Neue"/>
              </a:rPr>
              <a:t>01</a:t>
            </a:r>
          </a:p>
        </p:txBody>
      </p:sp>
      <p:sp>
        <p:nvSpPr>
          <p:cNvPr id="5" name="">
            <a:extLst xmlns:a="http://schemas.openxmlformats.org/drawingml/2006/main">
              <a:ext uri="{FF2B5EF4-FFF2-40B4-BE49-F238E27FC236}">
                <a16:creationId xmlns:a16="http://schemas.microsoft.com/office/drawing/2014/main" id="{4DC18E1E-C330-4EF0-859B-1F5F2644E0E0}"/>
              </a:ext>
            </a:extLst>
          </p:cNvPr>
          <p:cNvSpPr>
            <a:spLocks xmlns:a="http://schemas.openxmlformats.org/drawingml/2006/main" noGrp="1"/>
          </p:cNvSpPr>
          <p:nvPr/>
        </p:nvSpPr>
        <p:spPr>
          <a:xfrm xmlns:a="http://schemas.openxmlformats.org/drawingml/2006/main">
            <a:off x="1524000" y="1771650"/>
            <a:ext cx="295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Act on the world</a:t>
            </a:r>
          </a:p>
        </p:txBody>
      </p:sp>
      <p:sp>
        <p:nvSpPr>
          <p:cNvPr id="6" name="">
            <a:extLst xmlns:a="http://schemas.openxmlformats.org/drawingml/2006/main">
              <a:ext uri="{FF2B5EF4-FFF2-40B4-BE49-F238E27FC236}">
                <a16:creationId xmlns:a16="http://schemas.microsoft.com/office/drawing/2014/main" id="{C7F0D61B-9CBB-40DA-96CD-5C56EAB42FE3}"/>
              </a:ext>
            </a:extLst>
          </p:cNvPr>
          <p:cNvSpPr>
            <a:spLocks xmlns:a="http://schemas.openxmlformats.org/drawingml/2006/main" noGrp="1"/>
          </p:cNvSpPr>
          <p:nvPr/>
        </p:nvSpPr>
        <p:spPr>
          <a:xfrm xmlns:a="http://schemas.openxmlformats.org/drawingml/2006/main">
            <a:off x="1524000" y="2152650"/>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The child starts with concrete action.</a:t>
            </a:r>
          </a:p>
        </p:txBody>
      </p:sp>
      <p:sp>
        <p:nvSpPr>
          <p:cNvPr id="7" name="">
            <a:extLst xmlns:a="http://schemas.openxmlformats.org/drawingml/2006/main">
              <a:ext uri="{FF2B5EF4-FFF2-40B4-BE49-F238E27FC236}">
                <a16:creationId xmlns:a16="http://schemas.microsoft.com/office/drawing/2014/main" id="{89D049FA-6A1C-43FD-8DAD-42F84C026F7C}"/>
              </a:ext>
            </a:extLst>
          </p:cNvPr>
          <p:cNvSpPr>
            <a:spLocks xmlns:a="http://schemas.openxmlformats.org/drawingml/2006/main" noGrp="1"/>
          </p:cNvSpPr>
          <p:nvPr/>
        </p:nvSpPr>
        <p:spPr>
          <a:xfrm xmlns:a="http://schemas.openxmlformats.org/drawingml/2006/main">
            <a:off x="1524000" y="2628900"/>
            <a:ext cx="30670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A9EE9BB-C37B-438B-95E7-373CEE724987}"/>
              </a:ext>
            </a:extLst>
          </p:cNvPr>
          <p:cNvSpPr>
            <a:spLocks xmlns:a="http://schemas.openxmlformats.org/drawingml/2006/main" noGrp="1"/>
          </p:cNvSpPr>
          <p:nvPr/>
        </p:nvSpPr>
        <p:spPr>
          <a:xfrm xmlns:a="http://schemas.openxmlformats.org/drawingml/2006/main">
            <a:off x="742950" y="287655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i="0">
                <a:solidFill>
                  <a:srgbClr val="1F5FC9"/>
                </a:solidFill>
                <a:latin typeface="Helvetica Neue"/>
                <a:ea typeface="Helvetica Neue"/>
                <a:cs typeface="Helvetica Neue"/>
              </a:defRPr>
            </a:pPr>
            <a:r>
              <a:rPr sz="1650" b="1" i="0">
                <a:solidFill>
                  <a:srgbClr val="1F5FC9"/>
                </a:solidFill>
                <a:latin typeface="Helvetica Neue"/>
                <a:ea typeface="Helvetica Neue"/>
                <a:cs typeface="Helvetica Neue"/>
              </a:rPr>
              <a:t>02</a:t>
            </a:r>
          </a:p>
        </p:txBody>
      </p:sp>
      <p:sp>
        <p:nvSpPr>
          <p:cNvPr id="9" name="">
            <a:extLst xmlns:a="http://schemas.openxmlformats.org/drawingml/2006/main">
              <a:ext uri="{FF2B5EF4-FFF2-40B4-BE49-F238E27FC236}">
                <a16:creationId xmlns:a16="http://schemas.microsoft.com/office/drawing/2014/main" id="{027F0236-9438-46F6-90CE-79AAB90E3056}"/>
              </a:ext>
            </a:extLst>
          </p:cNvPr>
          <p:cNvSpPr>
            <a:spLocks xmlns:a="http://schemas.openxmlformats.org/drawingml/2006/main" noGrp="1"/>
          </p:cNvSpPr>
          <p:nvPr/>
        </p:nvSpPr>
        <p:spPr>
          <a:xfrm xmlns:a="http://schemas.openxmlformats.org/drawingml/2006/main">
            <a:off x="1524000" y="2857500"/>
            <a:ext cx="3333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Carry action into thought</a:t>
            </a:r>
          </a:p>
        </p:txBody>
      </p:sp>
      <p:sp>
        <p:nvSpPr>
          <p:cNvPr id="10" name="">
            <a:extLst xmlns:a="http://schemas.openxmlformats.org/drawingml/2006/main">
              <a:ext uri="{FF2B5EF4-FFF2-40B4-BE49-F238E27FC236}">
                <a16:creationId xmlns:a16="http://schemas.microsoft.com/office/drawing/2014/main" id="{35775635-6152-4559-BBD9-8BA49C99631E}"/>
              </a:ext>
            </a:extLst>
          </p:cNvPr>
          <p:cNvSpPr>
            <a:spLocks xmlns:a="http://schemas.openxmlformats.org/drawingml/2006/main" noGrp="1"/>
          </p:cNvSpPr>
          <p:nvPr/>
        </p:nvSpPr>
        <p:spPr>
          <a:xfrm xmlns:a="http://schemas.openxmlformats.org/drawingml/2006/main">
            <a:off x="1524000" y="3238500"/>
            <a:ext cx="3476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69"/>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Thought becomes less tied to the immediate view.</a:t>
            </a:r>
          </a:p>
        </p:txBody>
      </p:sp>
      <p:sp>
        <p:nvSpPr>
          <p:cNvPr id="11" name="">
            <a:extLst xmlns:a="http://schemas.openxmlformats.org/drawingml/2006/main">
              <a:ext uri="{FF2B5EF4-FFF2-40B4-BE49-F238E27FC236}">
                <a16:creationId xmlns:a16="http://schemas.microsoft.com/office/drawing/2014/main" id="{AE38409F-E49F-414D-8C21-FFA2E528F673}"/>
              </a:ext>
            </a:extLst>
          </p:cNvPr>
          <p:cNvSpPr>
            <a:spLocks xmlns:a="http://schemas.openxmlformats.org/drawingml/2006/main" noGrp="1"/>
          </p:cNvSpPr>
          <p:nvPr/>
        </p:nvSpPr>
        <p:spPr>
          <a:xfrm xmlns:a="http://schemas.openxmlformats.org/drawingml/2006/main">
            <a:off x="1524000" y="3714750"/>
            <a:ext cx="30670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42AC4B0-19EA-4752-AD39-E8E266DBBD9A}"/>
              </a:ext>
            </a:extLst>
          </p:cNvPr>
          <p:cNvSpPr>
            <a:spLocks xmlns:a="http://schemas.openxmlformats.org/drawingml/2006/main" noGrp="1"/>
          </p:cNvSpPr>
          <p:nvPr/>
        </p:nvSpPr>
        <p:spPr>
          <a:xfrm xmlns:a="http://schemas.openxmlformats.org/drawingml/2006/main">
            <a:off x="742950" y="396240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i="0">
                <a:solidFill>
                  <a:srgbClr val="1F5FC9"/>
                </a:solidFill>
                <a:latin typeface="Helvetica Neue"/>
                <a:ea typeface="Helvetica Neue"/>
                <a:cs typeface="Helvetica Neue"/>
              </a:defRPr>
            </a:pPr>
            <a:r>
              <a:rPr sz="1650" b="1" i="0">
                <a:solidFill>
                  <a:srgbClr val="1F5FC9"/>
                </a:solidFill>
                <a:latin typeface="Helvetica Neue"/>
                <a:ea typeface="Helvetica Neue"/>
                <a:cs typeface="Helvetica Neue"/>
              </a:rPr>
              <a:t>03</a:t>
            </a:r>
          </a:p>
        </p:txBody>
      </p:sp>
      <p:sp>
        <p:nvSpPr>
          <p:cNvPr id="13" name="">
            <a:extLst xmlns:a="http://schemas.openxmlformats.org/drawingml/2006/main">
              <a:ext uri="{FF2B5EF4-FFF2-40B4-BE49-F238E27FC236}">
                <a16:creationId xmlns:a16="http://schemas.microsoft.com/office/drawing/2014/main" id="{2E8A9BC7-E691-4DBC-A5FE-48DA5CB2527B}"/>
              </a:ext>
            </a:extLst>
          </p:cNvPr>
          <p:cNvSpPr>
            <a:spLocks xmlns:a="http://schemas.openxmlformats.org/drawingml/2006/main" noGrp="1"/>
          </p:cNvSpPr>
          <p:nvPr/>
        </p:nvSpPr>
        <p:spPr>
          <a:xfrm xmlns:a="http://schemas.openxmlformats.org/drawingml/2006/main">
            <a:off x="1524000" y="3943350"/>
            <a:ext cx="3333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Reflect on thought itself</a:t>
            </a:r>
          </a:p>
        </p:txBody>
      </p:sp>
      <p:sp>
        <p:nvSpPr>
          <p:cNvPr id="14" name="">
            <a:extLst xmlns:a="http://schemas.openxmlformats.org/drawingml/2006/main">
              <a:ext uri="{FF2B5EF4-FFF2-40B4-BE49-F238E27FC236}">
                <a16:creationId xmlns:a16="http://schemas.microsoft.com/office/drawing/2014/main" id="{4AF24442-AD98-48B8-B593-B5A31903D748}"/>
              </a:ext>
            </a:extLst>
          </p:cNvPr>
          <p:cNvSpPr>
            <a:spLocks xmlns:a="http://schemas.openxmlformats.org/drawingml/2006/main" noGrp="1"/>
          </p:cNvSpPr>
          <p:nvPr/>
        </p:nvSpPr>
        <p:spPr>
          <a:xfrm xmlns:a="http://schemas.openxmlformats.org/drawingml/2006/main">
            <a:off x="1524000" y="4324350"/>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Formal operations make thought an object of thought.</a:t>
            </a:r>
          </a:p>
        </p:txBody>
      </p:sp>
      <p:sp>
        <p:nvSpPr>
          <p:cNvPr id="15" name="">
            <a:extLst xmlns:a="http://schemas.openxmlformats.org/drawingml/2006/main">
              <a:ext uri="{FF2B5EF4-FFF2-40B4-BE49-F238E27FC236}">
                <a16:creationId xmlns:a16="http://schemas.microsoft.com/office/drawing/2014/main" id="{06CA0D98-918C-4B00-B30C-F1BABC3B49C3}"/>
              </a:ext>
            </a:extLst>
          </p:cNvPr>
          <p:cNvSpPr>
            <a:spLocks xmlns:a="http://schemas.openxmlformats.org/drawingml/2006/main" noGrp="1"/>
          </p:cNvSpPr>
          <p:nvPr/>
        </p:nvSpPr>
        <p:spPr>
          <a:xfrm xmlns:a="http://schemas.openxmlformats.org/drawingml/2006/main">
            <a:off x="590550" y="5486400"/>
            <a:ext cx="11010900" cy="55245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4606BB9-46C6-40A2-9DF6-D5963C3EFCE0}"/>
              </a:ext>
            </a:extLst>
          </p:cNvPr>
          <p:cNvSpPr>
            <a:spLocks xmlns:a="http://schemas.openxmlformats.org/drawingml/2006/main" noGrp="1"/>
          </p:cNvSpPr>
          <p:nvPr/>
        </p:nvSpPr>
        <p:spPr>
          <a:xfrm xmlns:a="http://schemas.openxmlformats.org/drawingml/2006/main">
            <a:off x="857250" y="56388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A86500"/>
                </a:solidFill>
                <a:latin typeface="Helvetica Neue"/>
                <a:ea typeface="Helvetica Neue"/>
                <a:cs typeface="Helvetica Neue"/>
              </a:defRPr>
            </a:pPr>
            <a:r>
              <a:rPr sz="1500" b="1" i="0">
                <a:solidFill>
                  <a:srgbClr val="A86500"/>
                </a:solidFill>
                <a:latin typeface="Helvetica Neue"/>
                <a:ea typeface="Helvetica Neue"/>
                <a:cs typeface="Helvetica Neue"/>
              </a:rPr>
              <a:t>Disequilibration</a:t>
            </a:r>
          </a:p>
        </p:txBody>
      </p:sp>
      <p:sp>
        <p:nvSpPr>
          <p:cNvPr id="17" name="">
            <a:extLst xmlns:a="http://schemas.openxmlformats.org/drawingml/2006/main">
              <a:ext uri="{FF2B5EF4-FFF2-40B4-BE49-F238E27FC236}">
                <a16:creationId xmlns:a16="http://schemas.microsoft.com/office/drawing/2014/main" id="{D294EE5B-6707-4091-AAE9-C42754BDFDBF}"/>
              </a:ext>
            </a:extLst>
          </p:cNvPr>
          <p:cNvSpPr>
            <a:spLocks xmlns:a="http://schemas.openxmlformats.org/drawingml/2006/main" noGrp="1"/>
          </p:cNvSpPr>
          <p:nvPr/>
        </p:nvSpPr>
        <p:spPr>
          <a:xfrm xmlns:a="http://schemas.openxmlformats.org/drawingml/2006/main">
            <a:off x="2952750" y="5638800"/>
            <a:ext cx="781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1909"/>
          </a:bodyPr>
          <a:lstStyle xmlns:a="http://schemas.openxmlformats.org/drawingml/2006/main"/>
          <a:p xmlns:a="http://schemas.openxmlformats.org/drawingml/2006/main">
            <a:pPr algn="l">
              <a:defRPr sz="1275" b="0" i="0">
                <a:solidFill>
                  <a:srgbClr val="10233D"/>
                </a:solidFill>
                <a:latin typeface="Helvetica Neue"/>
                <a:ea typeface="Helvetica Neue"/>
                <a:cs typeface="Helvetica Neue"/>
              </a:defRPr>
            </a:pPr>
            <a:r>
              <a:rPr sz="1275" b="0" i="0">
                <a:solidFill>
                  <a:srgbClr val="10233D"/>
                </a:solidFill>
                <a:latin typeface="Helvetica Neue"/>
                <a:ea typeface="Helvetica Neue"/>
                <a:cs typeface="Helvetica Neue"/>
              </a:rPr>
              <a:t>Piaget says growth comes from the pull between fitting experience into an old structure and changing the structure to fit experience.</a:t>
            </a:r>
          </a:p>
        </p:txBody>
      </p:sp>
      <p:sp>
        <p:nvSpPr>
          <p:cNvPr id="18" name="">
            <a:extLst xmlns:a="http://schemas.openxmlformats.org/drawingml/2006/main">
              <a:ext uri="{FF2B5EF4-FFF2-40B4-BE49-F238E27FC236}">
                <a16:creationId xmlns:a16="http://schemas.microsoft.com/office/drawing/2014/main" id="{99696F54-F87F-41E4-B10B-51D570D07631}"/>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12F410C-B41B-4882-95A8-B175853D8551}"/>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65–66. Slide wording is paraphrased.</a:t>
            </a:r>
          </a:p>
        </p:txBody>
      </p:sp>
      <p:sp>
        <p:nvSpPr>
          <p:cNvPr id="20" name="">
            <a:extLst xmlns:a="http://schemas.openxmlformats.org/drawingml/2006/main">
              <a:ext uri="{FF2B5EF4-FFF2-40B4-BE49-F238E27FC236}">
                <a16:creationId xmlns:a16="http://schemas.microsoft.com/office/drawing/2014/main" id="{764C51C1-5205-4F7F-B949-415EFB2102BC}"/>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05</a:t>
            </a:r>
          </a:p>
        </p:txBody>
      </p:sp>
    </p:spTree>
    <p:extLst>
      <p:ext uri="{BB962C8B-B14F-4D97-AF65-F5344CB8AC3E}">
        <p14:creationId xmlns:p14="http://schemas.microsoft.com/office/powerpoint/2010/main" val="495688581"/>
      </p:ext>
    </p:extLst>
  </p:cSld>
</p:sld>
</file>

<file path=ppt/slides/slide6.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1D0DBF3-753A-4362-BE6F-5D7686725383}"/>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C64DBC21-E5D0-4821-BAF8-9A132CD55BBF}"/>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37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 maps a stable direction of growth better than its causes</a:t>
            </a:r>
          </a:p>
        </p:txBody>
      </p:sp>
      <p:sp>
        <p:nvSpPr>
          <p:cNvPr id="3" name="">
            <a:extLst xmlns:a="http://schemas.openxmlformats.org/drawingml/2006/main">
              <a:ext uri="{FF2B5EF4-FFF2-40B4-BE49-F238E27FC236}">
                <a16:creationId xmlns:a16="http://schemas.microsoft.com/office/drawing/2014/main" id="{BC24C4C0-F4C7-4693-B256-FD10F4DE64F0}"/>
              </a:ext>
            </a:extLst>
          </p:cNvPr>
          <p:cNvSpPr>
            <a:spLocks xmlns:a="http://schemas.openxmlformats.org/drawingml/2006/main" noGrp="1"/>
          </p:cNvSpPr>
          <p:nvPr/>
        </p:nvSpPr>
        <p:spPr>
          <a:xfrm xmlns:a="http://schemas.openxmlformats.org/drawingml/2006/main">
            <a:off x="590550" y="1809750"/>
            <a:ext cx="5143500" cy="2952750"/>
          </a:xfrm>
          <a:prstGeom xmlns:a="http://schemas.openxmlformats.org/drawingml/2006/main" prst="rect">
            <a:avLst/>
          </a:prstGeom>
          <a:solidFill xmlns:a="http://schemas.openxmlformats.org/drawingml/2006/main">
            <a:srgbClr val="E4EE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F0DBD77-2387-49DD-9F69-BA1CE697D0D7}"/>
              </a:ext>
            </a:extLst>
          </p:cNvPr>
          <p:cNvSpPr>
            <a:spLocks xmlns:a="http://schemas.openxmlformats.org/drawingml/2006/main" noGrp="1"/>
          </p:cNvSpPr>
          <p:nvPr/>
        </p:nvSpPr>
        <p:spPr>
          <a:xfrm xmlns:a="http://schemas.openxmlformats.org/drawingml/2006/main">
            <a:off x="990600" y="21907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ABUNDANTLY CLEAR</a:t>
            </a:r>
          </a:p>
        </p:txBody>
      </p:sp>
      <p:sp>
        <p:nvSpPr>
          <p:cNvPr id="5" name="">
            <a:extLst xmlns:a="http://schemas.openxmlformats.org/drawingml/2006/main">
              <a:ext uri="{FF2B5EF4-FFF2-40B4-BE49-F238E27FC236}">
                <a16:creationId xmlns:a16="http://schemas.microsoft.com/office/drawing/2014/main" id="{D4EBC378-E7AB-4B89-A2F0-86A03A96F725}"/>
              </a:ext>
            </a:extLst>
          </p:cNvPr>
          <p:cNvSpPr>
            <a:spLocks xmlns:a="http://schemas.openxmlformats.org/drawingml/2006/main" noGrp="1"/>
          </p:cNvSpPr>
          <p:nvPr/>
        </p:nvSpPr>
        <p:spPr>
          <a:xfrm xmlns:a="http://schemas.openxmlformats.org/drawingml/2006/main">
            <a:off x="990600" y="2647950"/>
            <a:ext cx="36385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550" b="1" i="0">
                <a:solidFill>
                  <a:srgbClr val="10233D"/>
                </a:solidFill>
                <a:latin typeface="Helvetica Neue"/>
                <a:ea typeface="Helvetica Neue"/>
                <a:cs typeface="Helvetica Neue"/>
              </a:defRPr>
            </a:pPr>
            <a:r>
              <a:rPr sz="2550" b="1" i="0">
                <a:solidFill>
                  <a:srgbClr val="10233D"/>
                </a:solidFill>
                <a:latin typeface="Helvetica Neue"/>
                <a:ea typeface="Helvetica Neue"/>
                <a:cs typeface="Helvetica Neue"/>
              </a:rPr>
              <a:t>Development follows an invariant course.</a:t>
            </a:r>
          </a:p>
        </p:txBody>
      </p:sp>
      <p:sp>
        <p:nvSpPr>
          <p:cNvPr id="6" name="">
            <a:extLst xmlns:a="http://schemas.openxmlformats.org/drawingml/2006/main">
              <a:ext uri="{FF2B5EF4-FFF2-40B4-BE49-F238E27FC236}">
                <a16:creationId xmlns:a16="http://schemas.microsoft.com/office/drawing/2014/main" id="{D3726C0F-D891-4D8C-B42E-B8710E791342}"/>
              </a:ext>
            </a:extLst>
          </p:cNvPr>
          <p:cNvSpPr>
            <a:spLocks xmlns:a="http://schemas.openxmlformats.org/drawingml/2006/main" noGrp="1"/>
          </p:cNvSpPr>
          <p:nvPr/>
        </p:nvSpPr>
        <p:spPr>
          <a:xfrm xmlns:a="http://schemas.openxmlformats.org/drawingml/2006/main">
            <a:off x="990600" y="3848100"/>
            <a:ext cx="3638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596678"/>
                </a:solidFill>
                <a:latin typeface="Helvetica Neue"/>
                <a:ea typeface="Helvetica Neue"/>
                <a:cs typeface="Helvetica Neue"/>
              </a:defRPr>
            </a:pPr>
            <a:r>
              <a:rPr sz="1500" b="0" i="0">
                <a:solidFill>
                  <a:srgbClr val="596678"/>
                </a:solidFill>
                <a:latin typeface="Helvetica Neue"/>
                <a:ea typeface="Helvetica Neue"/>
                <a:cs typeface="Helvetica Neue"/>
              </a:rPr>
              <a:t>Piaget is strongest on the direction and systematicity of growth.</a:t>
            </a:r>
          </a:p>
        </p:txBody>
      </p:sp>
      <p:sp>
        <p:nvSpPr>
          <p:cNvPr id="7" name="">
            <a:extLst xmlns:a="http://schemas.openxmlformats.org/drawingml/2006/main">
              <a:ext uri="{FF2B5EF4-FFF2-40B4-BE49-F238E27FC236}">
                <a16:creationId xmlns:a16="http://schemas.microsoft.com/office/drawing/2014/main" id="{E0251E87-109C-4596-8996-7D0F0068E633}"/>
              </a:ext>
            </a:extLst>
          </p:cNvPr>
          <p:cNvSpPr>
            <a:spLocks xmlns:a="http://schemas.openxmlformats.org/drawingml/2006/main" noGrp="1"/>
          </p:cNvSpPr>
          <p:nvPr/>
        </p:nvSpPr>
        <p:spPr>
          <a:xfrm xmlns:a="http://schemas.openxmlformats.org/drawingml/2006/main">
            <a:off x="6457950" y="1809750"/>
            <a:ext cx="5143500" cy="295275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9827291-3DC9-4162-92E4-A1EB77A2E92E}"/>
              </a:ext>
            </a:extLst>
          </p:cNvPr>
          <p:cNvSpPr>
            <a:spLocks xmlns:a="http://schemas.openxmlformats.org/drawingml/2006/main" noGrp="1"/>
          </p:cNvSpPr>
          <p:nvPr/>
        </p:nvSpPr>
        <p:spPr>
          <a:xfrm xmlns:a="http://schemas.openxmlformats.org/drawingml/2006/main">
            <a:off x="6858000" y="219075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A86500"/>
                </a:solidFill>
                <a:latin typeface="Helvetica Neue"/>
                <a:ea typeface="Helvetica Neue"/>
                <a:cs typeface="Helvetica Neue"/>
              </a:defRPr>
            </a:pPr>
            <a:r>
              <a:rPr sz="1125" b="1" i="0">
                <a:solidFill>
                  <a:srgbClr val="A86500"/>
                </a:solidFill>
                <a:latin typeface="Helvetica Neue"/>
                <a:ea typeface="Helvetica Neue"/>
                <a:cs typeface="Helvetica Neue"/>
              </a:rPr>
              <a:t>LESS CLEAR OR NEGLECTED</a:t>
            </a:r>
          </a:p>
        </p:txBody>
      </p:sp>
      <p:sp>
        <p:nvSpPr>
          <p:cNvPr id="9" name="">
            <a:extLst xmlns:a="http://schemas.openxmlformats.org/drawingml/2006/main">
              <a:ext uri="{FF2B5EF4-FFF2-40B4-BE49-F238E27FC236}">
                <a16:creationId xmlns:a16="http://schemas.microsoft.com/office/drawing/2014/main" id="{CFF542FA-65E0-4140-A378-CFB696562D25}"/>
              </a:ext>
            </a:extLst>
          </p:cNvPr>
          <p:cNvSpPr>
            <a:spLocks xmlns:a="http://schemas.openxmlformats.org/drawingml/2006/main" noGrp="1"/>
          </p:cNvSpPr>
          <p:nvPr/>
        </p:nvSpPr>
        <p:spPr>
          <a:xfrm xmlns:a="http://schemas.openxmlformats.org/drawingml/2006/main">
            <a:off x="6858000" y="2647950"/>
            <a:ext cx="3905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22"/>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What moves development forward — and how other people and culture matter.</a:t>
            </a:r>
          </a:p>
        </p:txBody>
      </p:sp>
      <p:sp>
        <p:nvSpPr>
          <p:cNvPr id="10" name="">
            <a:extLst xmlns:a="http://schemas.openxmlformats.org/drawingml/2006/main">
              <a:ext uri="{FF2B5EF4-FFF2-40B4-BE49-F238E27FC236}">
                <a16:creationId xmlns:a16="http://schemas.microsoft.com/office/drawing/2014/main" id="{A8636305-E325-49CE-8A61-92F225E3C86B}"/>
              </a:ext>
            </a:extLst>
          </p:cNvPr>
          <p:cNvSpPr>
            <a:spLocks xmlns:a="http://schemas.openxmlformats.org/drawingml/2006/main" noGrp="1"/>
          </p:cNvSpPr>
          <p:nvPr/>
        </p:nvSpPr>
        <p:spPr>
          <a:xfrm xmlns:a="http://schemas.openxmlformats.org/drawingml/2006/main">
            <a:off x="6858000" y="3848100"/>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866"/>
          </a:bodyPr>
          <a:lstStyle xmlns:a="http://schemas.openxmlformats.org/drawingml/2006/main"/>
          <a:p xmlns:a="http://schemas.openxmlformats.org/drawingml/2006/main">
            <a:pPr algn="l">
              <a:defRPr sz="1425" b="0" i="0">
                <a:solidFill>
                  <a:srgbClr val="596678"/>
                </a:solidFill>
                <a:latin typeface="Helvetica Neue"/>
                <a:ea typeface="Helvetica Neue"/>
                <a:cs typeface="Helvetica Neue"/>
              </a:defRPr>
            </a:pPr>
            <a:r>
              <a:rPr sz="1425" b="0" i="0">
                <a:solidFill>
                  <a:srgbClr val="596678"/>
                </a:solidFill>
                <a:latin typeface="Helvetica Neue"/>
                <a:ea typeface="Helvetica Neue"/>
                <a:cs typeface="Helvetica Neue"/>
              </a:rPr>
              <a:t>Bruner names intersubjectivity, instruction, negotiation, and cultural interpretation as the missing territory.</a:t>
            </a:r>
          </a:p>
        </p:txBody>
      </p:sp>
      <p:sp>
        <p:nvSpPr>
          <p:cNvPr id="11" name="">
            <a:extLst xmlns:a="http://schemas.openxmlformats.org/drawingml/2006/main">
              <a:ext uri="{FF2B5EF4-FFF2-40B4-BE49-F238E27FC236}">
                <a16:creationId xmlns:a16="http://schemas.microsoft.com/office/drawing/2014/main" id="{60D86E0A-A376-449B-8D64-C32A7A641BBA}"/>
              </a:ext>
            </a:extLst>
          </p:cNvPr>
          <p:cNvSpPr>
            <a:spLocks xmlns:a="http://schemas.openxmlformats.org/drawingml/2006/main" noGrp="1"/>
          </p:cNvSpPr>
          <p:nvPr/>
        </p:nvSpPr>
        <p:spPr>
          <a:xfrm xmlns:a="http://schemas.openxmlformats.org/drawingml/2006/main">
            <a:off x="590550" y="5372100"/>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0233D"/>
                </a:solidFill>
                <a:latin typeface="Helvetica Neue"/>
                <a:ea typeface="Helvetica Neue"/>
                <a:cs typeface="Helvetica Neue"/>
              </a:defRPr>
            </a:pPr>
            <a:r>
              <a:rPr sz="1650" b="0" i="1">
                <a:solidFill>
                  <a:srgbClr val="10233D"/>
                </a:solidFill>
                <a:latin typeface="Helvetica Neue"/>
                <a:ea typeface="Helvetica Neue"/>
                <a:cs typeface="Helvetica Neue"/>
              </a:rPr>
              <a:t>Bridge: If development cannot be understood only inside one individual mind, where should we look next?</a:t>
            </a:r>
          </a:p>
        </p:txBody>
      </p:sp>
      <p:sp>
        <p:nvSpPr>
          <p:cNvPr id="12" name="">
            <a:extLst xmlns:a="http://schemas.openxmlformats.org/drawingml/2006/main">
              <a:ext uri="{FF2B5EF4-FFF2-40B4-BE49-F238E27FC236}">
                <a16:creationId xmlns:a16="http://schemas.microsoft.com/office/drawing/2014/main" id="{109BF540-3731-48A3-814F-42F422326670}"/>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4ACD7E4-CF64-4E0A-AAD1-03826BA34B53}"/>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66–67. Slide wording is paraphrased.</a:t>
            </a:r>
          </a:p>
        </p:txBody>
      </p:sp>
      <p:sp>
        <p:nvSpPr>
          <p:cNvPr id="14" name="">
            <a:extLst xmlns:a="http://schemas.openxmlformats.org/drawingml/2006/main">
              <a:ext uri="{FF2B5EF4-FFF2-40B4-BE49-F238E27FC236}">
                <a16:creationId xmlns:a16="http://schemas.microsoft.com/office/drawing/2014/main" id="{A4B9EC3E-9E36-4745-801F-3DE1912C6A92}"/>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06</a:t>
            </a:r>
          </a:p>
        </p:txBody>
      </p:sp>
    </p:spTree>
    <p:extLst>
      <p:ext uri="{BB962C8B-B14F-4D97-AF65-F5344CB8AC3E}">
        <p14:creationId xmlns:p14="http://schemas.microsoft.com/office/powerpoint/2010/main" val="1015327543"/>
      </p:ext>
    </p:extLst>
  </p:cSld>
</p:sld>
</file>

<file path=ppt/slides/slide7.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A20E6DD-1A59-4713-91E2-93379367D1F3}"/>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CF391D58-7F45-4CB8-918F-5C9568F7BE21}"/>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Vygotsky starts with meaning, not a mental calculus</a:t>
            </a:r>
          </a:p>
        </p:txBody>
      </p:sp>
      <p:sp>
        <p:nvSpPr>
          <p:cNvPr id="3" name="">
            <a:extLst xmlns:a="http://schemas.openxmlformats.org/drawingml/2006/main">
              <a:ext uri="{FF2B5EF4-FFF2-40B4-BE49-F238E27FC236}">
                <a16:creationId xmlns:a16="http://schemas.microsoft.com/office/drawing/2014/main" id="{FB6A6BB1-70C0-461E-8F3A-02BC9F3721EE}"/>
              </a:ext>
            </a:extLst>
          </p:cNvPr>
          <p:cNvSpPr>
            <a:spLocks xmlns:a="http://schemas.openxmlformats.org/drawingml/2006/main" noGrp="1"/>
          </p:cNvSpPr>
          <p:nvPr/>
        </p:nvSpPr>
        <p:spPr>
          <a:xfrm xmlns:a="http://schemas.openxmlformats.org/drawingml/2006/main">
            <a:off x="590550" y="1733550"/>
            <a:ext cx="3371850" cy="29146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2FE387F-6138-4F7B-A6F2-1BE0E40CB135}"/>
              </a:ext>
            </a:extLst>
          </p:cNvPr>
          <p:cNvSpPr>
            <a:spLocks xmlns:a="http://schemas.openxmlformats.org/drawingml/2006/main" noGrp="1"/>
          </p:cNvSpPr>
          <p:nvPr/>
        </p:nvSpPr>
        <p:spPr>
          <a:xfrm xmlns:a="http://schemas.openxmlformats.org/drawingml/2006/main">
            <a:off x="933450" y="2095500"/>
            <a:ext cx="190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MIND</a:t>
            </a:r>
          </a:p>
        </p:txBody>
      </p:sp>
      <p:sp>
        <p:nvSpPr>
          <p:cNvPr id="5" name="">
            <a:extLst xmlns:a="http://schemas.openxmlformats.org/drawingml/2006/main">
              <a:ext uri="{FF2B5EF4-FFF2-40B4-BE49-F238E27FC236}">
                <a16:creationId xmlns:a16="http://schemas.microsoft.com/office/drawing/2014/main" id="{D85447B7-92F2-4BB3-A69B-F0FB15DFA31B}"/>
              </a:ext>
            </a:extLst>
          </p:cNvPr>
          <p:cNvSpPr>
            <a:spLocks xmlns:a="http://schemas.openxmlformats.org/drawingml/2006/main" noGrp="1"/>
          </p:cNvSpPr>
          <p:nvPr/>
        </p:nvSpPr>
        <p:spPr>
          <a:xfrm xmlns:a="http://schemas.openxmlformats.org/drawingml/2006/main">
            <a:off x="933450" y="2533650"/>
            <a:ext cx="23050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814"/>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A process for giving experience meaning.</a:t>
            </a:r>
          </a:p>
        </p:txBody>
      </p:sp>
      <p:sp>
        <p:nvSpPr>
          <p:cNvPr id="6" name="">
            <a:extLst xmlns:a="http://schemas.openxmlformats.org/drawingml/2006/main">
              <a:ext uri="{FF2B5EF4-FFF2-40B4-BE49-F238E27FC236}">
                <a16:creationId xmlns:a16="http://schemas.microsoft.com/office/drawing/2014/main" id="{658C3957-A299-482A-B8B9-D95BAD9E05F2}"/>
              </a:ext>
            </a:extLst>
          </p:cNvPr>
          <p:cNvSpPr>
            <a:spLocks xmlns:a="http://schemas.openxmlformats.org/drawingml/2006/main" noGrp="1"/>
          </p:cNvSpPr>
          <p:nvPr/>
        </p:nvSpPr>
        <p:spPr>
          <a:xfrm xmlns:a="http://schemas.openxmlformats.org/drawingml/2006/main">
            <a:off x="933450" y="3829050"/>
            <a:ext cx="2305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06"/>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Meaning needs language — and the cultural context in which language is used.</a:t>
            </a:r>
          </a:p>
        </p:txBody>
      </p:sp>
      <p:sp>
        <p:nvSpPr>
          <p:cNvPr id="7" name="">
            <a:extLst xmlns:a="http://schemas.openxmlformats.org/drawingml/2006/main">
              <a:ext uri="{FF2B5EF4-FFF2-40B4-BE49-F238E27FC236}">
                <a16:creationId xmlns:a16="http://schemas.microsoft.com/office/drawing/2014/main" id="{14B3525E-6213-4CBD-BE0D-DBC51AAA5D87}"/>
              </a:ext>
            </a:extLst>
          </p:cNvPr>
          <p:cNvSpPr>
            <a:spLocks xmlns:a="http://schemas.openxmlformats.org/drawingml/2006/main" noGrp="1"/>
          </p:cNvSpPr>
          <p:nvPr/>
        </p:nvSpPr>
        <p:spPr>
          <a:xfrm xmlns:a="http://schemas.openxmlformats.org/drawingml/2006/main">
            <a:off x="4143375" y="2838450"/>
            <a:ext cx="647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56"/>
          </a:bodyPr>
          <a:lstStyle xmlns:a="http://schemas.openxmlformats.org/drawingml/2006/main"/>
          <a:p xmlns:a="http://schemas.openxmlformats.org/drawingml/2006/main">
            <a:pPr algn="ctr">
              <a:defRPr sz="3450" b="1" i="0">
                <a:solidFill>
                  <a:srgbClr val="B44D3A"/>
                </a:solidFill>
                <a:latin typeface="Helvetica Neue"/>
                <a:ea typeface="Helvetica Neue"/>
                <a:cs typeface="Helvetica Neue"/>
              </a:defRPr>
            </a:pPr>
            <a:r>
              <a:rPr sz="3450" b="1" i="0">
                <a:solidFill>
                  <a:srgbClr val="B44D3A"/>
                </a:solidFill>
                <a:latin typeface="Helvetica Neue"/>
                <a:ea typeface="Helvetica Neue"/>
                <a:cs typeface="Helvetica Neue"/>
              </a:rPr>
              <a:t>→</a:t>
            </a:r>
          </a:p>
        </p:txBody>
      </p:sp>
      <p:sp>
        <p:nvSpPr>
          <p:cNvPr id="8" name="">
            <a:extLst xmlns:a="http://schemas.openxmlformats.org/drawingml/2006/main">
              <a:ext uri="{FF2B5EF4-FFF2-40B4-BE49-F238E27FC236}">
                <a16:creationId xmlns:a16="http://schemas.microsoft.com/office/drawing/2014/main" id="{E1B84328-14ED-4C1D-9A11-A0EC84A27023}"/>
              </a:ext>
            </a:extLst>
          </p:cNvPr>
          <p:cNvSpPr>
            <a:spLocks xmlns:a="http://schemas.openxmlformats.org/drawingml/2006/main" noGrp="1"/>
          </p:cNvSpPr>
          <p:nvPr/>
        </p:nvSpPr>
        <p:spPr>
          <a:xfrm xmlns:a="http://schemas.openxmlformats.org/drawingml/2006/main">
            <a:off x="5086350" y="1733550"/>
            <a:ext cx="3276600" cy="2914650"/>
          </a:xfrm>
          <a:prstGeom xmlns:a="http://schemas.openxmlformats.org/drawingml/2006/main" prst="rect">
            <a:avLst/>
          </a:prstGeom>
          <a:solidFill xmlns:a="http://schemas.openxmlformats.org/drawingml/2006/main">
            <a:srgbClr val="F2E8D9"/>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73F9CD0-2AE0-4197-A2B6-2D838E4B9514}"/>
              </a:ext>
            </a:extLst>
          </p:cNvPr>
          <p:cNvSpPr>
            <a:spLocks xmlns:a="http://schemas.openxmlformats.org/drawingml/2006/main" noGrp="1"/>
          </p:cNvSpPr>
          <p:nvPr/>
        </p:nvSpPr>
        <p:spPr>
          <a:xfrm xmlns:a="http://schemas.openxmlformats.org/drawingml/2006/main">
            <a:off x="5429250" y="2095500"/>
            <a:ext cx="219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596678"/>
                </a:solidFill>
                <a:latin typeface="Helvetica Neue"/>
                <a:ea typeface="Helvetica Neue"/>
                <a:cs typeface="Helvetica Neue"/>
              </a:defRPr>
            </a:pPr>
            <a:r>
              <a:rPr sz="1125" b="1" i="0">
                <a:solidFill>
                  <a:srgbClr val="596678"/>
                </a:solidFill>
                <a:latin typeface="Helvetica Neue"/>
                <a:ea typeface="Helvetica Neue"/>
                <a:cs typeface="Helvetica Neue"/>
              </a:rPr>
              <a:t>DEVELOPMENT</a:t>
            </a:r>
          </a:p>
        </p:txBody>
      </p:sp>
      <p:sp>
        <p:nvSpPr>
          <p:cNvPr id="10" name="">
            <a:extLst xmlns:a="http://schemas.openxmlformats.org/drawingml/2006/main">
              <a:ext uri="{FF2B5EF4-FFF2-40B4-BE49-F238E27FC236}">
                <a16:creationId xmlns:a16="http://schemas.microsoft.com/office/drawing/2014/main" id="{BD670270-38BD-4B44-82BA-B0F145AF91B8}"/>
              </a:ext>
            </a:extLst>
          </p:cNvPr>
          <p:cNvSpPr>
            <a:spLocks xmlns:a="http://schemas.openxmlformats.org/drawingml/2006/main" noGrp="1"/>
          </p:cNvSpPr>
          <p:nvPr/>
        </p:nvSpPr>
        <p:spPr>
          <a:xfrm xmlns:a="http://schemas.openxmlformats.org/drawingml/2006/main">
            <a:off x="5429250" y="2533650"/>
            <a:ext cx="2333625"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814"/>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Mastery of higher-order symbolic systems.</a:t>
            </a:r>
          </a:p>
        </p:txBody>
      </p:sp>
      <p:sp>
        <p:nvSpPr>
          <p:cNvPr id="11" name="">
            <a:extLst xmlns:a="http://schemas.openxmlformats.org/drawingml/2006/main">
              <a:ext uri="{FF2B5EF4-FFF2-40B4-BE49-F238E27FC236}">
                <a16:creationId xmlns:a16="http://schemas.microsoft.com/office/drawing/2014/main" id="{BFED7E0F-84EE-4642-9BE2-8F35B8876347}"/>
              </a:ext>
            </a:extLst>
          </p:cNvPr>
          <p:cNvSpPr>
            <a:spLocks xmlns:a="http://schemas.openxmlformats.org/drawingml/2006/main" noGrp="1"/>
          </p:cNvSpPr>
          <p:nvPr/>
        </p:nvSpPr>
        <p:spPr>
          <a:xfrm xmlns:a="http://schemas.openxmlformats.org/drawingml/2006/main">
            <a:off x="5429250" y="3829050"/>
            <a:ext cx="2333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06"/>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A new system can reorganize earlier ideas — like algebra reorganizing arithmetic.</a:t>
            </a:r>
          </a:p>
        </p:txBody>
      </p:sp>
      <p:sp>
        <p:nvSpPr>
          <p:cNvPr id="12" name="">
            <a:extLst xmlns:a="http://schemas.openxmlformats.org/drawingml/2006/main">
              <a:ext uri="{FF2B5EF4-FFF2-40B4-BE49-F238E27FC236}">
                <a16:creationId xmlns:a16="http://schemas.microsoft.com/office/drawing/2014/main" id="{B9F5EC1A-9C5A-4706-9E28-F7FECB4D355E}"/>
              </a:ext>
            </a:extLst>
          </p:cNvPr>
          <p:cNvSpPr>
            <a:spLocks xmlns:a="http://schemas.openxmlformats.org/drawingml/2006/main" noGrp="1"/>
          </p:cNvSpPr>
          <p:nvPr/>
        </p:nvSpPr>
        <p:spPr>
          <a:xfrm xmlns:a="http://schemas.openxmlformats.org/drawingml/2006/main">
            <a:off x="9144000" y="2838450"/>
            <a:ext cx="647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56"/>
          </a:bodyPr>
          <a:lstStyle xmlns:a="http://schemas.openxmlformats.org/drawingml/2006/main"/>
          <a:p xmlns:a="http://schemas.openxmlformats.org/drawingml/2006/main">
            <a:pPr algn="ctr">
              <a:defRPr sz="3450" b="1" i="0">
                <a:solidFill>
                  <a:srgbClr val="B44D3A"/>
                </a:solidFill>
                <a:latin typeface="Helvetica Neue"/>
                <a:ea typeface="Helvetica Neue"/>
                <a:cs typeface="Helvetica Neue"/>
              </a:defRPr>
            </a:pPr>
            <a:r>
              <a:rPr sz="3450" b="1" i="0">
                <a:solidFill>
                  <a:srgbClr val="B44D3A"/>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7BE68296-D4D4-45F2-8B3D-26E34B8C9B96}"/>
              </a:ext>
            </a:extLst>
          </p:cNvPr>
          <p:cNvSpPr>
            <a:spLocks xmlns:a="http://schemas.openxmlformats.org/drawingml/2006/main" noGrp="1"/>
          </p:cNvSpPr>
          <p:nvPr/>
        </p:nvSpPr>
        <p:spPr>
          <a:xfrm xmlns:a="http://schemas.openxmlformats.org/drawingml/2006/main">
            <a:off x="10096500" y="1733550"/>
            <a:ext cx="1504950" cy="29146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04D7269-FBE6-4380-9507-61A2A5567F4C}"/>
              </a:ext>
            </a:extLst>
          </p:cNvPr>
          <p:cNvSpPr>
            <a:spLocks xmlns:a="http://schemas.openxmlformats.org/drawingml/2006/main" noGrp="1"/>
          </p:cNvSpPr>
          <p:nvPr/>
        </p:nvSpPr>
        <p:spPr>
          <a:xfrm xmlns:a="http://schemas.openxmlformats.org/drawingml/2006/main">
            <a:off x="10325100" y="2095500"/>
            <a:ext cx="1028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SOURCE</a:t>
            </a:r>
          </a:p>
        </p:txBody>
      </p:sp>
      <p:sp>
        <p:nvSpPr>
          <p:cNvPr id="15" name="">
            <a:extLst xmlns:a="http://schemas.openxmlformats.org/drawingml/2006/main">
              <a:ext uri="{FF2B5EF4-FFF2-40B4-BE49-F238E27FC236}">
                <a16:creationId xmlns:a16="http://schemas.microsoft.com/office/drawing/2014/main" id="{902EA334-6737-41F2-8CC5-F2D34E5C8B57}"/>
              </a:ext>
            </a:extLst>
          </p:cNvPr>
          <p:cNvSpPr>
            <a:spLocks xmlns:a="http://schemas.openxmlformats.org/drawingml/2006/main" noGrp="1"/>
          </p:cNvSpPr>
          <p:nvPr/>
        </p:nvSpPr>
        <p:spPr>
          <a:xfrm xmlns:a="http://schemas.openxmlformats.org/drawingml/2006/main">
            <a:off x="10210800" y="2686050"/>
            <a:ext cx="12382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500" b="1" i="0">
                <a:solidFill>
                  <a:srgbClr val="10233D"/>
                </a:solidFill>
                <a:latin typeface="Helvetica Neue"/>
                <a:ea typeface="Helvetica Neue"/>
                <a:cs typeface="Helvetica Neue"/>
              </a:defRPr>
            </a:pPr>
            <a:r>
              <a:rPr sz="1500" b="1" i="0">
                <a:solidFill>
                  <a:srgbClr val="10233D"/>
                </a:solidFill>
                <a:latin typeface="Helvetica Neue"/>
                <a:ea typeface="Helvetica Neue"/>
                <a:cs typeface="Helvetica Neue"/>
              </a:rPr>
              <a:t>Culture +</a:t>
            </a:r>
          </a:p>
          <a:p xmlns:a="http://schemas.openxmlformats.org/drawingml/2006/main">
            <a:pPr algn="ctr">
              <a:defRPr sz="1500" b="1" i="0">
                <a:solidFill>
                  <a:srgbClr val="10233D"/>
                </a:solidFill>
                <a:latin typeface="Helvetica Neue"/>
                <a:ea typeface="Helvetica Neue"/>
                <a:cs typeface="Helvetica Neue"/>
              </a:defRPr>
            </a:pPr>
            <a:r>
              <a:rPr sz="1500" b="1" i="0">
                <a:solidFill>
                  <a:srgbClr val="10233D"/>
                </a:solidFill>
                <a:latin typeface="Helvetica Neue"/>
                <a:ea typeface="Helvetica Neue"/>
                <a:cs typeface="Helvetica Neue"/>
              </a:rPr>
              <a:t>social</a:t>
            </a:r>
          </a:p>
          <a:p xmlns:a="http://schemas.openxmlformats.org/drawingml/2006/main">
            <a:pPr algn="ctr">
              <a:defRPr sz="1500" b="1" i="0">
                <a:solidFill>
                  <a:srgbClr val="10233D"/>
                </a:solidFill>
                <a:latin typeface="Helvetica Neue"/>
                <a:ea typeface="Helvetica Neue"/>
                <a:cs typeface="Helvetica Neue"/>
              </a:defRPr>
            </a:pPr>
            <a:r>
              <a:rPr sz="1500" b="1" i="0">
                <a:solidFill>
                  <a:srgbClr val="10233D"/>
                </a:solidFill>
                <a:latin typeface="Helvetica Neue"/>
                <a:ea typeface="Helvetica Neue"/>
                <a:cs typeface="Helvetica Neue"/>
              </a:rPr>
              <a:t>interaction</a:t>
            </a:r>
          </a:p>
        </p:txBody>
      </p:sp>
      <p:sp>
        <p:nvSpPr>
          <p:cNvPr id="16" name="">
            <a:extLst xmlns:a="http://schemas.openxmlformats.org/drawingml/2006/main">
              <a:ext uri="{FF2B5EF4-FFF2-40B4-BE49-F238E27FC236}">
                <a16:creationId xmlns:a16="http://schemas.microsoft.com/office/drawing/2014/main" id="{278D85E1-D984-4CB9-9132-9A57AEC02527}"/>
              </a:ext>
            </a:extLst>
          </p:cNvPr>
          <p:cNvSpPr>
            <a:spLocks xmlns:a="http://schemas.openxmlformats.org/drawingml/2006/main" noGrp="1"/>
          </p:cNvSpPr>
          <p:nvPr/>
        </p:nvSpPr>
        <p:spPr>
          <a:xfrm xmlns:a="http://schemas.openxmlformats.org/drawingml/2006/main">
            <a:off x="590550" y="5286375"/>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0233D"/>
                </a:solidFill>
                <a:latin typeface="Helvetica Neue"/>
                <a:ea typeface="Helvetica Neue"/>
                <a:cs typeface="Helvetica Neue"/>
              </a:defRPr>
            </a:pPr>
            <a:r>
              <a:rPr sz="1650" b="0" i="1">
                <a:solidFill>
                  <a:srgbClr val="10233D"/>
                </a:solidFill>
                <a:latin typeface="Helvetica Neue"/>
                <a:ea typeface="Helvetica Neue"/>
                <a:cs typeface="Helvetica Neue"/>
              </a:rPr>
              <a:t>The central problem: How do these tools get from outside to inside?</a:t>
            </a:r>
          </a:p>
        </p:txBody>
      </p:sp>
      <p:sp>
        <p:nvSpPr>
          <p:cNvPr id="17" name="">
            <a:extLst xmlns:a="http://schemas.openxmlformats.org/drawingml/2006/main">
              <a:ext uri="{FF2B5EF4-FFF2-40B4-BE49-F238E27FC236}">
                <a16:creationId xmlns:a16="http://schemas.microsoft.com/office/drawing/2014/main" id="{2CC43605-5BBF-40A8-A4D9-F15DD3B3B86B}"/>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AE8BC4C-3608-4A85-885F-3C31E1024198}"/>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68. Slide wording is paraphrased.</a:t>
            </a:r>
          </a:p>
        </p:txBody>
      </p:sp>
      <p:sp>
        <p:nvSpPr>
          <p:cNvPr id="19" name="">
            <a:extLst xmlns:a="http://schemas.openxmlformats.org/drawingml/2006/main">
              <a:ext uri="{FF2B5EF4-FFF2-40B4-BE49-F238E27FC236}">
                <a16:creationId xmlns:a16="http://schemas.microsoft.com/office/drawing/2014/main" id="{960BE018-A0C9-4668-99F7-3F5B1C6ED516}"/>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07</a:t>
            </a:r>
          </a:p>
        </p:txBody>
      </p:sp>
    </p:spTree>
    <p:extLst>
      <p:ext uri="{BB962C8B-B14F-4D97-AF65-F5344CB8AC3E}">
        <p14:creationId xmlns:p14="http://schemas.microsoft.com/office/powerpoint/2010/main" val="1899893594"/>
      </p:ext>
    </p:extLst>
  </p:cSld>
</p:sld>
</file>

<file path=ppt/slides/slide8.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8C80859-C20E-4A94-8B72-06B43A188AD9}"/>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D32C0396-3F67-4BA2-9B57-788D08E17A83}"/>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Social interaction is how culture enters thought</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6178a8801d834e07"/>
          <a:srcRect xmlns:a="http://schemas.openxmlformats.org/drawingml/2006/main" l="0" t="1517" r="0" b="1517"/>
          <a:stretch xmlns:a="http://schemas.openxmlformats.org/drawingml/2006/main">
            <a:fillRect l="0" t="0" r="0" b="0"/>
          </a:stretch>
        </p:blipFill>
        <p:spPr>
          <a:xfrm xmlns:a="http://schemas.openxmlformats.org/drawingml/2006/main">
            <a:off x="5143500" y="1619250"/>
            <a:ext cx="6457950" cy="35242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5D13F8E-47D6-4EEF-9C6A-B9DD0A21159A}"/>
              </a:ext>
            </a:extLst>
          </p:cNvPr>
          <p:cNvSpPr>
            <a:spLocks xmlns:a="http://schemas.openxmlformats.org/drawingml/2006/main" noGrp="1"/>
          </p:cNvSpPr>
          <p:nvPr/>
        </p:nvSpPr>
        <p:spPr>
          <a:xfrm xmlns:a="http://schemas.openxmlformats.org/drawingml/2006/main">
            <a:off x="7429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B44D3A"/>
                </a:solidFill>
                <a:latin typeface="Helvetica Neue"/>
                <a:ea typeface="Helvetica Neue"/>
                <a:cs typeface="Helvetica Neue"/>
              </a:defRPr>
            </a:pPr>
            <a:r>
              <a:rPr sz="1500" b="1" i="0">
                <a:solidFill>
                  <a:srgbClr val="B44D3A"/>
                </a:solidFill>
                <a:latin typeface="Helvetica Neue"/>
                <a:ea typeface="Helvetica Neue"/>
                <a:cs typeface="Helvetica Neue"/>
              </a:rPr>
              <a:t>Outside</a:t>
            </a:r>
          </a:p>
        </p:txBody>
      </p:sp>
      <p:sp>
        <p:nvSpPr>
          <p:cNvPr id="5" name="">
            <a:extLst xmlns:a="http://schemas.openxmlformats.org/drawingml/2006/main">
              <a:ext uri="{FF2B5EF4-FFF2-40B4-BE49-F238E27FC236}">
                <a16:creationId xmlns:a16="http://schemas.microsoft.com/office/drawing/2014/main" id="{70DCEBA0-CAE2-400D-8866-416D200E60DD}"/>
              </a:ext>
            </a:extLst>
          </p:cNvPr>
          <p:cNvSpPr>
            <a:spLocks xmlns:a="http://schemas.openxmlformats.org/drawingml/2006/main" noGrp="1"/>
          </p:cNvSpPr>
          <p:nvPr/>
        </p:nvSpPr>
        <p:spPr>
          <a:xfrm xmlns:a="http://schemas.openxmlformats.org/drawingml/2006/main">
            <a:off x="742950" y="2266950"/>
            <a:ext cx="361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22"/>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People act and talk together.</a:t>
            </a:r>
          </a:p>
        </p:txBody>
      </p:sp>
      <p:sp>
        <p:nvSpPr>
          <p:cNvPr id="6" name="">
            <a:extLst xmlns:a="http://schemas.openxmlformats.org/drawingml/2006/main">
              <a:ext uri="{FF2B5EF4-FFF2-40B4-BE49-F238E27FC236}">
                <a16:creationId xmlns:a16="http://schemas.microsoft.com/office/drawing/2014/main" id="{D1DB5312-3668-4580-9AAB-5309D80AC93C}"/>
              </a:ext>
            </a:extLst>
          </p:cNvPr>
          <p:cNvSpPr>
            <a:spLocks xmlns:a="http://schemas.openxmlformats.org/drawingml/2006/main" noGrp="1"/>
          </p:cNvSpPr>
          <p:nvPr/>
        </p:nvSpPr>
        <p:spPr>
          <a:xfrm xmlns:a="http://schemas.openxmlformats.org/drawingml/2006/main">
            <a:off x="742950" y="2990850"/>
            <a:ext cx="36766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FD02CAE-21B7-43C1-9A4D-7DADFC3203A8}"/>
              </a:ext>
            </a:extLst>
          </p:cNvPr>
          <p:cNvSpPr>
            <a:spLocks xmlns:a="http://schemas.openxmlformats.org/drawingml/2006/main" noGrp="1"/>
          </p:cNvSpPr>
          <p:nvPr/>
        </p:nvSpPr>
        <p:spPr>
          <a:xfrm xmlns:a="http://schemas.openxmlformats.org/drawingml/2006/main">
            <a:off x="742950" y="32575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B44D3A"/>
                </a:solidFill>
                <a:latin typeface="Helvetica Neue"/>
                <a:ea typeface="Helvetica Neue"/>
                <a:cs typeface="Helvetica Neue"/>
              </a:defRPr>
            </a:pPr>
            <a:r>
              <a:rPr sz="1500" b="1" i="0">
                <a:solidFill>
                  <a:srgbClr val="B44D3A"/>
                </a:solidFill>
                <a:latin typeface="Helvetica Neue"/>
                <a:ea typeface="Helvetica Neue"/>
                <a:cs typeface="Helvetica Neue"/>
              </a:rPr>
              <a:t>Between</a:t>
            </a:r>
          </a:p>
        </p:txBody>
      </p:sp>
      <p:sp>
        <p:nvSpPr>
          <p:cNvPr id="8" name="">
            <a:extLst xmlns:a="http://schemas.openxmlformats.org/drawingml/2006/main">
              <a:ext uri="{FF2B5EF4-FFF2-40B4-BE49-F238E27FC236}">
                <a16:creationId xmlns:a16="http://schemas.microsoft.com/office/drawing/2014/main" id="{1619AEC8-857B-42A1-B6D7-B5C2A52F5080}"/>
              </a:ext>
            </a:extLst>
          </p:cNvPr>
          <p:cNvSpPr>
            <a:spLocks xmlns:a="http://schemas.openxmlformats.org/drawingml/2006/main" noGrp="1"/>
          </p:cNvSpPr>
          <p:nvPr/>
        </p:nvSpPr>
        <p:spPr>
          <a:xfrm xmlns:a="http://schemas.openxmlformats.org/drawingml/2006/main">
            <a:off x="742950" y="3600450"/>
            <a:ext cx="361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805"/>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Speech carries shared meanings.</a:t>
            </a:r>
          </a:p>
        </p:txBody>
      </p:sp>
      <p:sp>
        <p:nvSpPr>
          <p:cNvPr id="9" name="">
            <a:extLst xmlns:a="http://schemas.openxmlformats.org/drawingml/2006/main">
              <a:ext uri="{FF2B5EF4-FFF2-40B4-BE49-F238E27FC236}">
                <a16:creationId xmlns:a16="http://schemas.microsoft.com/office/drawing/2014/main" id="{8A955891-2273-4997-B181-86E46AD0C4CC}"/>
              </a:ext>
            </a:extLst>
          </p:cNvPr>
          <p:cNvSpPr>
            <a:spLocks xmlns:a="http://schemas.openxmlformats.org/drawingml/2006/main" noGrp="1"/>
          </p:cNvSpPr>
          <p:nvPr/>
        </p:nvSpPr>
        <p:spPr>
          <a:xfrm xmlns:a="http://schemas.openxmlformats.org/drawingml/2006/main">
            <a:off x="742950" y="4324350"/>
            <a:ext cx="36766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F0CEB10-80C7-47DD-8969-A7BAF8369D3E}"/>
              </a:ext>
            </a:extLst>
          </p:cNvPr>
          <p:cNvSpPr>
            <a:spLocks xmlns:a="http://schemas.openxmlformats.org/drawingml/2006/main" noGrp="1"/>
          </p:cNvSpPr>
          <p:nvPr/>
        </p:nvSpPr>
        <p:spPr>
          <a:xfrm xmlns:a="http://schemas.openxmlformats.org/drawingml/2006/main">
            <a:off x="742950" y="4591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B44D3A"/>
                </a:solidFill>
                <a:latin typeface="Helvetica Neue"/>
                <a:ea typeface="Helvetica Neue"/>
                <a:cs typeface="Helvetica Neue"/>
              </a:defRPr>
            </a:pPr>
            <a:r>
              <a:rPr sz="1500" b="1" i="0">
                <a:solidFill>
                  <a:srgbClr val="B44D3A"/>
                </a:solidFill>
                <a:latin typeface="Helvetica Neue"/>
                <a:ea typeface="Helvetica Neue"/>
                <a:cs typeface="Helvetica Neue"/>
              </a:rPr>
              <a:t>Inside</a:t>
            </a:r>
          </a:p>
        </p:txBody>
      </p:sp>
      <p:sp>
        <p:nvSpPr>
          <p:cNvPr id="11" name="">
            <a:extLst xmlns:a="http://schemas.openxmlformats.org/drawingml/2006/main">
              <a:ext uri="{FF2B5EF4-FFF2-40B4-BE49-F238E27FC236}">
                <a16:creationId xmlns:a16="http://schemas.microsoft.com/office/drawing/2014/main" id="{FEE59E82-B87E-4E4C-82E5-587E51913796}"/>
              </a:ext>
            </a:extLst>
          </p:cNvPr>
          <p:cNvSpPr>
            <a:spLocks xmlns:a="http://schemas.openxmlformats.org/drawingml/2006/main" noGrp="1"/>
          </p:cNvSpPr>
          <p:nvPr/>
        </p:nvSpPr>
        <p:spPr>
          <a:xfrm xmlns:a="http://schemas.openxmlformats.org/drawingml/2006/main">
            <a:off x="742950" y="4933950"/>
            <a:ext cx="3857625"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889"/>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Those meanings become tools for thinking.</a:t>
            </a:r>
          </a:p>
        </p:txBody>
      </p:sp>
      <p:sp>
        <p:nvSpPr>
          <p:cNvPr id="12" name="">
            <a:extLst xmlns:a="http://schemas.openxmlformats.org/drawingml/2006/main">
              <a:ext uri="{FF2B5EF4-FFF2-40B4-BE49-F238E27FC236}">
                <a16:creationId xmlns:a16="http://schemas.microsoft.com/office/drawing/2014/main" id="{99854CC2-36C2-43B1-BD46-1455C044EBE5}"/>
              </a:ext>
            </a:extLst>
          </p:cNvPr>
          <p:cNvSpPr>
            <a:spLocks xmlns:a="http://schemas.openxmlformats.org/drawingml/2006/main" noGrp="1"/>
          </p:cNvSpPr>
          <p:nvPr/>
        </p:nvSpPr>
        <p:spPr>
          <a:xfrm xmlns:a="http://schemas.openxmlformats.org/drawingml/2006/main">
            <a:off x="5143500" y="5410200"/>
            <a:ext cx="6457950" cy="57150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DCB10E6-1965-4742-A8C3-DE7D13E234E3}"/>
              </a:ext>
            </a:extLst>
          </p:cNvPr>
          <p:cNvSpPr>
            <a:spLocks xmlns:a="http://schemas.openxmlformats.org/drawingml/2006/main" noGrp="1"/>
          </p:cNvSpPr>
          <p:nvPr/>
        </p:nvSpPr>
        <p:spPr>
          <a:xfrm xmlns:a="http://schemas.openxmlformats.org/drawingml/2006/main">
            <a:off x="5448300" y="5562600"/>
            <a:ext cx="575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3408"/>
          </a:bodyPr>
          <a:lstStyle xmlns:a="http://schemas.openxmlformats.org/drawingml/2006/main"/>
          <a:p xmlns:a="http://schemas.openxmlformats.org/drawingml/2006/main">
            <a:pPr algn="l">
              <a:defRPr sz="1350" b="1" i="0">
                <a:solidFill>
                  <a:srgbClr val="10233D"/>
                </a:solidFill>
                <a:latin typeface="Helvetica Neue"/>
                <a:ea typeface="Helvetica Neue"/>
                <a:cs typeface="Helvetica Neue"/>
              </a:defRPr>
            </a:pPr>
            <a:r>
              <a:rPr sz="1350" b="1" i="0">
                <a:solidFill>
                  <a:srgbClr val="10233D"/>
                </a:solidFill>
                <a:latin typeface="Helvetica Neue"/>
                <a:ea typeface="Helvetica Neue"/>
                <a:cs typeface="Helvetica Neue"/>
              </a:rPr>
              <a:t>Internalization is not copying. It is culture becoming a resource within the person’s own thought.</a:t>
            </a:r>
          </a:p>
        </p:txBody>
      </p:sp>
      <p:sp>
        <p:nvSpPr>
          <p:cNvPr id="14" name="">
            <a:extLst xmlns:a="http://schemas.openxmlformats.org/drawingml/2006/main">
              <a:ext uri="{FF2B5EF4-FFF2-40B4-BE49-F238E27FC236}">
                <a16:creationId xmlns:a16="http://schemas.microsoft.com/office/drawing/2014/main" id="{EB20160A-6C67-450C-B0A4-9328B34D7C36}"/>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FE34434C-9D18-4E54-A1DC-B08B887E4A8F}"/>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68. Slide wording is paraphrased.</a:t>
            </a:r>
          </a:p>
        </p:txBody>
      </p:sp>
      <p:sp>
        <p:nvSpPr>
          <p:cNvPr id="16" name="">
            <a:extLst xmlns:a="http://schemas.openxmlformats.org/drawingml/2006/main">
              <a:ext uri="{FF2B5EF4-FFF2-40B4-BE49-F238E27FC236}">
                <a16:creationId xmlns:a16="http://schemas.microsoft.com/office/drawing/2014/main" id="{673095ED-2B6D-4A1E-A819-D95A701A63B0}"/>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08</a:t>
            </a:r>
          </a:p>
        </p:txBody>
      </p:sp>
    </p:spTree>
    <p:extLst>
      <p:ext uri="{BB962C8B-B14F-4D97-AF65-F5344CB8AC3E}">
        <p14:creationId xmlns:p14="http://schemas.microsoft.com/office/powerpoint/2010/main" val="1935703164"/>
      </p:ext>
    </p:extLst>
  </p:cSld>
</p:sld>
</file>

<file path=ppt/slides/slide9.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D6B3E85-E1AD-47EB-945B-ABCA8C9B8373}"/>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825C0408-641F-4D1B-8F5B-EDD06E77BCB0}"/>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The ZPD shows what guided help makes possible</a:t>
            </a:r>
          </a:p>
        </p:txBody>
      </p:sp>
      <p:sp>
        <p:nvSpPr>
          <p:cNvPr id="3" name="">
            <a:extLst xmlns:a="http://schemas.openxmlformats.org/drawingml/2006/main">
              <a:ext uri="{FF2B5EF4-FFF2-40B4-BE49-F238E27FC236}">
                <a16:creationId xmlns:a16="http://schemas.microsoft.com/office/drawing/2014/main" id="{A7393CD7-6E90-44D3-A902-19B51420CD31}"/>
              </a:ext>
            </a:extLst>
          </p:cNvPr>
          <p:cNvSpPr>
            <a:spLocks xmlns:a="http://schemas.openxmlformats.org/drawingml/2006/main" noGrp="1"/>
          </p:cNvSpPr>
          <p:nvPr/>
        </p:nvSpPr>
        <p:spPr>
          <a:xfrm xmlns:a="http://schemas.openxmlformats.org/drawingml/2006/main">
            <a:off x="590550" y="1352550"/>
            <a:ext cx="1076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011"/>
          </a:bodyPr>
          <a:lstStyle xmlns:a="http://schemas.openxmlformats.org/drawingml/2006/main"/>
          <a:p xmlns:a="http://schemas.openxmlformats.org/drawingml/2006/main">
            <a:pPr algn="l">
              <a:defRPr sz="1650" b="0" i="0">
                <a:solidFill>
                  <a:srgbClr val="596678"/>
                </a:solidFill>
                <a:latin typeface="Helvetica Neue"/>
                <a:ea typeface="Helvetica Neue"/>
                <a:cs typeface="Helvetica Neue"/>
              </a:defRPr>
            </a:pPr>
            <a:r>
              <a:rPr sz="1650" b="0" i="0">
                <a:solidFill>
                  <a:srgbClr val="596678"/>
                </a:solidFill>
                <a:latin typeface="Helvetica Neue"/>
                <a:ea typeface="Helvetica Neue"/>
                <a:cs typeface="Helvetica Neue"/>
              </a:rPr>
              <a:t>The zone of proximal development is the gap between what you can do alone and what you can do with well-matched help.</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6ea78195028f4757"/>
          <a:srcRect xmlns:a="http://schemas.openxmlformats.org/drawingml/2006/main" l="2648" t="0" r="2648" b="0"/>
          <a:stretch xmlns:a="http://schemas.openxmlformats.org/drawingml/2006/main">
            <a:fillRect l="0" t="0" r="0" b="0"/>
          </a:stretch>
        </p:blipFill>
        <p:spPr>
          <a:xfrm xmlns:a="http://schemas.openxmlformats.org/drawingml/2006/main">
            <a:off x="5286375" y="1828800"/>
            <a:ext cx="6315075" cy="37528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D05C9D9-7FDC-4957-AFDC-C75E76DBD7E0}"/>
              </a:ext>
            </a:extLst>
          </p:cNvPr>
          <p:cNvSpPr>
            <a:spLocks xmlns:a="http://schemas.openxmlformats.org/drawingml/2006/main" noGrp="1"/>
          </p:cNvSpPr>
          <p:nvPr/>
        </p:nvSpPr>
        <p:spPr>
          <a:xfrm xmlns:a="http://schemas.openxmlformats.org/drawingml/2006/main">
            <a:off x="742950" y="213360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i="0">
                <a:solidFill>
                  <a:srgbClr val="596678"/>
                </a:solidFill>
                <a:latin typeface="Helvetica Neue"/>
                <a:ea typeface="Helvetica Neue"/>
                <a:cs typeface="Helvetica Neue"/>
              </a:defRPr>
            </a:pPr>
            <a:r>
              <a:rPr sz="1425" b="1" i="0">
                <a:solidFill>
                  <a:srgbClr val="596678"/>
                </a:solidFill>
                <a:latin typeface="Helvetica Neue"/>
                <a:ea typeface="Helvetica Neue"/>
                <a:cs typeface="Helvetica Neue"/>
              </a:rPr>
              <a:t>Already possible</a:t>
            </a:r>
          </a:p>
        </p:txBody>
      </p:sp>
      <p:sp>
        <p:nvSpPr>
          <p:cNvPr id="6" name="">
            <a:extLst xmlns:a="http://schemas.openxmlformats.org/drawingml/2006/main">
              <a:ext uri="{FF2B5EF4-FFF2-40B4-BE49-F238E27FC236}">
                <a16:creationId xmlns:a16="http://schemas.microsoft.com/office/drawing/2014/main" id="{14AB3A2D-52FE-4A99-A3CE-FD91E0410AD7}"/>
              </a:ext>
            </a:extLst>
          </p:cNvPr>
          <p:cNvSpPr>
            <a:spLocks xmlns:a="http://schemas.openxmlformats.org/drawingml/2006/main" noGrp="1"/>
          </p:cNvSpPr>
          <p:nvPr/>
        </p:nvSpPr>
        <p:spPr>
          <a:xfrm xmlns:a="http://schemas.openxmlformats.org/drawingml/2006/main">
            <a:off x="742950" y="2514600"/>
            <a:ext cx="36766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354"/>
          </a:bodyPr>
          <a:lstStyle xmlns:a="http://schemas.openxmlformats.org/drawingml/2006/main"/>
          <a:p xmlns:a="http://schemas.openxmlformats.org/drawingml/2006/main">
            <a:pPr algn="l">
              <a:defRPr sz="2400" b="1" i="0">
                <a:solidFill>
                  <a:srgbClr val="10233D"/>
                </a:solidFill>
                <a:latin typeface="Helvetica Neue"/>
                <a:ea typeface="Helvetica Neue"/>
                <a:cs typeface="Helvetica Neue"/>
              </a:defRPr>
            </a:pPr>
            <a:r>
              <a:rPr sz="2400" b="1" i="0">
                <a:solidFill>
                  <a:srgbClr val="10233D"/>
                </a:solidFill>
                <a:latin typeface="Helvetica Neue"/>
                <a:ea typeface="Helvetica Neue"/>
                <a:cs typeface="Helvetica Neue"/>
              </a:rPr>
              <a:t>What the learner can do alone</a:t>
            </a:r>
          </a:p>
        </p:txBody>
      </p:sp>
      <p:sp>
        <p:nvSpPr>
          <p:cNvPr id="7" name="">
            <a:extLst xmlns:a="http://schemas.openxmlformats.org/drawingml/2006/main">
              <a:ext uri="{FF2B5EF4-FFF2-40B4-BE49-F238E27FC236}">
                <a16:creationId xmlns:a16="http://schemas.microsoft.com/office/drawing/2014/main" id="{C903B426-695F-47C8-AB81-009DACC7C8A5}"/>
              </a:ext>
            </a:extLst>
          </p:cNvPr>
          <p:cNvSpPr>
            <a:spLocks xmlns:a="http://schemas.openxmlformats.org/drawingml/2006/main" noGrp="1"/>
          </p:cNvSpPr>
          <p:nvPr/>
        </p:nvSpPr>
        <p:spPr>
          <a:xfrm xmlns:a="http://schemas.openxmlformats.org/drawingml/2006/main">
            <a:off x="742950" y="3467100"/>
            <a:ext cx="3752850" cy="19050"/>
          </a:xfrm>
          <a:prstGeom xmlns:a="http://schemas.openxmlformats.org/drawingml/2006/main" prst="rect">
            <a:avLst/>
          </a:prstGeom>
          <a:solidFill xmlns:a="http://schemas.openxmlformats.org/drawingml/2006/main">
            <a:srgbClr val="A8650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356A87D-2CDE-4A62-93C0-3F956E4016B7}"/>
              </a:ext>
            </a:extLst>
          </p:cNvPr>
          <p:cNvSpPr>
            <a:spLocks xmlns:a="http://schemas.openxmlformats.org/drawingml/2006/main" noGrp="1"/>
          </p:cNvSpPr>
          <p:nvPr/>
        </p:nvSpPr>
        <p:spPr>
          <a:xfrm xmlns:a="http://schemas.openxmlformats.org/drawingml/2006/main">
            <a:off x="742950" y="37909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i="0">
                <a:solidFill>
                  <a:srgbClr val="B44D3A"/>
                </a:solidFill>
                <a:latin typeface="Helvetica Neue"/>
                <a:ea typeface="Helvetica Neue"/>
                <a:cs typeface="Helvetica Neue"/>
              </a:defRPr>
            </a:pPr>
            <a:r>
              <a:rPr sz="1425" b="1" i="0">
                <a:solidFill>
                  <a:srgbClr val="B44D3A"/>
                </a:solidFill>
                <a:latin typeface="Helvetica Neue"/>
                <a:ea typeface="Helvetica Neue"/>
                <a:cs typeface="Helvetica Neue"/>
              </a:rPr>
              <a:t>The ZPD</a:t>
            </a:r>
          </a:p>
        </p:txBody>
      </p:sp>
      <p:sp>
        <p:nvSpPr>
          <p:cNvPr id="9" name="">
            <a:extLst xmlns:a="http://schemas.openxmlformats.org/drawingml/2006/main">
              <a:ext uri="{FF2B5EF4-FFF2-40B4-BE49-F238E27FC236}">
                <a16:creationId xmlns:a16="http://schemas.microsoft.com/office/drawing/2014/main" id="{4D7F8536-630C-4EC9-8426-2FD9890DB967}"/>
              </a:ext>
            </a:extLst>
          </p:cNvPr>
          <p:cNvSpPr>
            <a:spLocks xmlns:a="http://schemas.openxmlformats.org/drawingml/2006/main" noGrp="1"/>
          </p:cNvSpPr>
          <p:nvPr/>
        </p:nvSpPr>
        <p:spPr>
          <a:xfrm xmlns:a="http://schemas.openxmlformats.org/drawingml/2006/main">
            <a:off x="742950" y="4171950"/>
            <a:ext cx="3905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595"/>
          </a:bodyPr>
          <a:lstStyle xmlns:a="http://schemas.openxmlformats.org/drawingml/2006/main"/>
          <a:p xmlns:a="http://schemas.openxmlformats.org/drawingml/2006/main">
            <a:pPr algn="l">
              <a:defRPr sz="2400" b="1" i="0">
                <a:solidFill>
                  <a:srgbClr val="10233D"/>
                </a:solidFill>
                <a:latin typeface="Helvetica Neue"/>
                <a:ea typeface="Helvetica Neue"/>
                <a:cs typeface="Helvetica Neue"/>
              </a:defRPr>
            </a:pPr>
            <a:r>
              <a:rPr sz="2400" b="1" i="0">
                <a:solidFill>
                  <a:srgbClr val="10233D"/>
                </a:solidFill>
                <a:latin typeface="Helvetica Neue"/>
                <a:ea typeface="Helvetica Neue"/>
                <a:cs typeface="Helvetica Neue"/>
              </a:rPr>
              <a:t>The next step that becomes possible with help</a:t>
            </a:r>
          </a:p>
        </p:txBody>
      </p:sp>
      <p:sp>
        <p:nvSpPr>
          <p:cNvPr id="10" name="">
            <a:extLst xmlns:a="http://schemas.openxmlformats.org/drawingml/2006/main">
              <a:ext uri="{FF2B5EF4-FFF2-40B4-BE49-F238E27FC236}">
                <a16:creationId xmlns:a16="http://schemas.microsoft.com/office/drawing/2014/main" id="{1D36FE9E-74EB-44CA-8245-59D9BB6F77AC}"/>
              </a:ext>
            </a:extLst>
          </p:cNvPr>
          <p:cNvSpPr>
            <a:spLocks xmlns:a="http://schemas.openxmlformats.org/drawingml/2006/main" noGrp="1"/>
          </p:cNvSpPr>
          <p:nvPr/>
        </p:nvSpPr>
        <p:spPr>
          <a:xfrm xmlns:a="http://schemas.openxmlformats.org/drawingml/2006/main">
            <a:off x="742950" y="5162550"/>
            <a:ext cx="3905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Hints, sequencing, and shared attention make the help fit the learner.</a:t>
            </a:r>
          </a:p>
        </p:txBody>
      </p:sp>
      <p:sp>
        <p:nvSpPr>
          <p:cNvPr id="11" name="">
            <a:extLst xmlns:a="http://schemas.openxmlformats.org/drawingml/2006/main">
              <a:ext uri="{FF2B5EF4-FFF2-40B4-BE49-F238E27FC236}">
                <a16:creationId xmlns:a16="http://schemas.microsoft.com/office/drawing/2014/main" id="{58899128-4182-4737-85C9-8EE3F740E2D4}"/>
              </a:ext>
            </a:extLst>
          </p:cNvPr>
          <p:cNvSpPr>
            <a:spLocks xmlns:a="http://schemas.openxmlformats.org/drawingml/2006/main" noGrp="1"/>
          </p:cNvSpPr>
          <p:nvPr/>
        </p:nvSpPr>
        <p:spPr>
          <a:xfrm xmlns:a="http://schemas.openxmlformats.org/drawingml/2006/main">
            <a:off x="5286375" y="5638800"/>
            <a:ext cx="6315075" cy="40005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131AB4F-7CB0-414A-97BC-8144397A03B3}"/>
              </a:ext>
            </a:extLst>
          </p:cNvPr>
          <p:cNvSpPr>
            <a:spLocks xmlns:a="http://schemas.openxmlformats.org/drawingml/2006/main" noGrp="1"/>
          </p:cNvSpPr>
          <p:nvPr/>
        </p:nvSpPr>
        <p:spPr>
          <a:xfrm xmlns:a="http://schemas.openxmlformats.org/drawingml/2006/main">
            <a:off x="5553075" y="5734050"/>
            <a:ext cx="581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21"/>
          </a:bodyPr>
          <a:lstStyle xmlns:a="http://schemas.openxmlformats.org/drawingml/2006/main"/>
          <a:p xmlns:a="http://schemas.openxmlformats.org/drawingml/2006/main">
            <a:pPr algn="l">
              <a:defRPr sz="1275" b="1" i="0">
                <a:solidFill>
                  <a:srgbClr val="10233D"/>
                </a:solidFill>
                <a:latin typeface="Helvetica Neue"/>
                <a:ea typeface="Helvetica Neue"/>
                <a:cs typeface="Helvetica Neue"/>
              </a:defRPr>
            </a:pPr>
            <a:r>
              <a:rPr sz="1275" b="1" i="0">
                <a:solidFill>
                  <a:srgbClr val="10233D"/>
                </a:solidFill>
                <a:latin typeface="Helvetica Neue"/>
                <a:ea typeface="Helvetica Neue"/>
                <a:cs typeface="Helvetica Neue"/>
              </a:rPr>
              <a:t>The tutor helps with the next possible step; the learner still does the learning.</a:t>
            </a:r>
          </a:p>
        </p:txBody>
      </p:sp>
      <p:sp>
        <p:nvSpPr>
          <p:cNvPr id="13" name="">
            <a:extLst xmlns:a="http://schemas.openxmlformats.org/drawingml/2006/main">
              <a:ext uri="{FF2B5EF4-FFF2-40B4-BE49-F238E27FC236}">
                <a16:creationId xmlns:a16="http://schemas.microsoft.com/office/drawing/2014/main" id="{2CE05DFA-CBE1-436C-BEAE-605070B10809}"/>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8C7DC78-3326-4ADB-8058-1584B45B56A0}"/>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68–69. Slide wording is paraphrased.</a:t>
            </a:r>
          </a:p>
        </p:txBody>
      </p:sp>
      <p:sp>
        <p:nvSpPr>
          <p:cNvPr id="15" name="">
            <a:extLst xmlns:a="http://schemas.openxmlformats.org/drawingml/2006/main">
              <a:ext uri="{FF2B5EF4-FFF2-40B4-BE49-F238E27FC236}">
                <a16:creationId xmlns:a16="http://schemas.microsoft.com/office/drawing/2014/main" id="{DB2A552A-CAB7-4A7B-90DC-B2E421E8A7C7}"/>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09</a:t>
            </a:r>
          </a:p>
        </p:txBody>
      </p:sp>
    </p:spTree>
    <p:extLst>
      <p:ext uri="{BB962C8B-B14F-4D97-AF65-F5344CB8AC3E}">
        <p14:creationId xmlns:p14="http://schemas.microsoft.com/office/powerpoint/2010/main" val="1738976486"/>
      </p:ext>
    </p:extLst>
  </p:cSld>
</p:sld>
</file>

<file path=ppt/slides/slide10.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9C61A82-8BDE-4175-8FE8-68225699A984}"/>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C64C9A4E-3303-4136-8370-DFF9B79657EA}"/>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955"/>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 is closer to traditional cognitive science; Vygotsky to situated cognition</a:t>
            </a:r>
          </a:p>
        </p:txBody>
      </p:sp>
      <p:sp>
        <p:nvSpPr>
          <p:cNvPr id="3" name="">
            <a:extLst xmlns:a="http://schemas.openxmlformats.org/drawingml/2006/main">
              <a:ext uri="{FF2B5EF4-FFF2-40B4-BE49-F238E27FC236}">
                <a16:creationId xmlns:a16="http://schemas.microsoft.com/office/drawing/2014/main" id="{4D1C0C06-6A02-4EBD-8B20-27A671A9466F}"/>
              </a:ext>
            </a:extLst>
          </p:cNvPr>
          <p:cNvSpPr>
            <a:spLocks xmlns:a="http://schemas.openxmlformats.org/drawingml/2006/main" noGrp="1"/>
          </p:cNvSpPr>
          <p:nvPr/>
        </p:nvSpPr>
        <p:spPr>
          <a:xfrm xmlns:a="http://schemas.openxmlformats.org/drawingml/2006/main">
            <a:off x="590550" y="1828800"/>
            <a:ext cx="5143500" cy="3067050"/>
          </a:xfrm>
          <a:prstGeom xmlns:a="http://schemas.openxmlformats.org/drawingml/2006/main" prst="rect">
            <a:avLst/>
          </a:prstGeom>
          <a:solidFill xmlns:a="http://schemas.openxmlformats.org/drawingml/2006/main">
            <a:srgbClr val="E4EE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0D7993B-1FD1-4D58-BF3C-F878B1549069}"/>
              </a:ext>
            </a:extLst>
          </p:cNvPr>
          <p:cNvSpPr>
            <a:spLocks xmlns:a="http://schemas.openxmlformats.org/drawingml/2006/main" noGrp="1"/>
          </p:cNvSpPr>
          <p:nvPr/>
        </p:nvSpPr>
        <p:spPr>
          <a:xfrm xmlns:a="http://schemas.openxmlformats.org/drawingml/2006/main">
            <a:off x="971550" y="220980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PIAGET</a:t>
            </a:r>
          </a:p>
        </p:txBody>
      </p:sp>
      <p:sp>
        <p:nvSpPr>
          <p:cNvPr id="5" name="">
            <a:extLst xmlns:a="http://schemas.openxmlformats.org/drawingml/2006/main">
              <a:ext uri="{FF2B5EF4-FFF2-40B4-BE49-F238E27FC236}">
                <a16:creationId xmlns:a16="http://schemas.microsoft.com/office/drawing/2014/main" id="{7C52266E-1F3D-476B-A965-630CEAEDCC4B}"/>
              </a:ext>
            </a:extLst>
          </p:cNvPr>
          <p:cNvSpPr>
            <a:spLocks xmlns:a="http://schemas.openxmlformats.org/drawingml/2006/main" noGrp="1"/>
          </p:cNvSpPr>
          <p:nvPr/>
        </p:nvSpPr>
        <p:spPr>
          <a:xfrm xmlns:a="http://schemas.openxmlformats.org/drawingml/2006/main">
            <a:off x="971550" y="2647950"/>
            <a:ext cx="3714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676"/>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Traditional cognitive science</a:t>
            </a:r>
          </a:p>
        </p:txBody>
      </p:sp>
      <p:sp>
        <p:nvSpPr>
          <p:cNvPr id="6" name="">
            <a:extLst xmlns:a="http://schemas.openxmlformats.org/drawingml/2006/main">
              <a:ext uri="{FF2B5EF4-FFF2-40B4-BE49-F238E27FC236}">
                <a16:creationId xmlns:a16="http://schemas.microsoft.com/office/drawing/2014/main" id="{1D33F15D-A16B-4DF9-9278-F3AF50E18E66}"/>
              </a:ext>
            </a:extLst>
          </p:cNvPr>
          <p:cNvSpPr>
            <a:spLocks xmlns:a="http://schemas.openxmlformats.org/drawingml/2006/main" noGrp="1"/>
          </p:cNvSpPr>
          <p:nvPr/>
        </p:nvSpPr>
        <p:spPr>
          <a:xfrm xmlns:a="http://schemas.openxmlformats.org/drawingml/2006/main">
            <a:off x="990600" y="3371850"/>
            <a:ext cx="3810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General, logic-like structures</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Individual operations</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Explanation, verification, and invariant development</a:t>
            </a:r>
          </a:p>
        </p:txBody>
      </p:sp>
      <p:sp>
        <p:nvSpPr>
          <p:cNvPr id="7" name="">
            <a:extLst xmlns:a="http://schemas.openxmlformats.org/drawingml/2006/main">
              <a:ext uri="{FF2B5EF4-FFF2-40B4-BE49-F238E27FC236}">
                <a16:creationId xmlns:a16="http://schemas.microsoft.com/office/drawing/2014/main" id="{0A62504E-B8C5-4DCA-9582-F02BEDAD5FFD}"/>
              </a:ext>
            </a:extLst>
          </p:cNvPr>
          <p:cNvSpPr>
            <a:spLocks xmlns:a="http://schemas.openxmlformats.org/drawingml/2006/main" noGrp="1"/>
          </p:cNvSpPr>
          <p:nvPr/>
        </p:nvSpPr>
        <p:spPr>
          <a:xfrm xmlns:a="http://schemas.openxmlformats.org/drawingml/2006/main">
            <a:off x="6457950" y="1828800"/>
            <a:ext cx="5143500" cy="30670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F115FC1-54EB-467D-A097-B59E4EAAD6B4}"/>
              </a:ext>
            </a:extLst>
          </p:cNvPr>
          <p:cNvSpPr>
            <a:spLocks xmlns:a="http://schemas.openxmlformats.org/drawingml/2006/main" noGrp="1"/>
          </p:cNvSpPr>
          <p:nvPr/>
        </p:nvSpPr>
        <p:spPr>
          <a:xfrm xmlns:a="http://schemas.openxmlformats.org/drawingml/2006/main">
            <a:off x="6838950" y="220980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VYGOTSKY</a:t>
            </a:r>
          </a:p>
        </p:txBody>
      </p:sp>
      <p:sp>
        <p:nvSpPr>
          <p:cNvPr id="9" name="">
            <a:extLst xmlns:a="http://schemas.openxmlformats.org/drawingml/2006/main">
              <a:ext uri="{FF2B5EF4-FFF2-40B4-BE49-F238E27FC236}">
                <a16:creationId xmlns:a16="http://schemas.microsoft.com/office/drawing/2014/main" id="{68CEE36D-22A3-4A01-AE76-9C7FDC72E37B}"/>
              </a:ext>
            </a:extLst>
          </p:cNvPr>
          <p:cNvSpPr>
            <a:spLocks xmlns:a="http://schemas.openxmlformats.org/drawingml/2006/main" noGrp="1"/>
          </p:cNvSpPr>
          <p:nvPr/>
        </p:nvSpPr>
        <p:spPr>
          <a:xfrm xmlns:a="http://schemas.openxmlformats.org/drawingml/2006/main">
            <a:off x="6838950" y="2647950"/>
            <a:ext cx="3714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Situated cognitive science</a:t>
            </a:r>
          </a:p>
        </p:txBody>
      </p:sp>
      <p:sp>
        <p:nvSpPr>
          <p:cNvPr id="10" name="">
            <a:extLst xmlns:a="http://schemas.openxmlformats.org/drawingml/2006/main">
              <a:ext uri="{FF2B5EF4-FFF2-40B4-BE49-F238E27FC236}">
                <a16:creationId xmlns:a16="http://schemas.microsoft.com/office/drawing/2014/main" id="{A26AA1AC-22E5-4CA7-8045-82FDA219EC54}"/>
              </a:ext>
            </a:extLst>
          </p:cNvPr>
          <p:cNvSpPr>
            <a:spLocks xmlns:a="http://schemas.openxmlformats.org/drawingml/2006/main" noGrp="1"/>
          </p:cNvSpPr>
          <p:nvPr/>
        </p:nvSpPr>
        <p:spPr>
          <a:xfrm xmlns:a="http://schemas.openxmlformats.org/drawingml/2006/main">
            <a:off x="6858000" y="3371850"/>
            <a:ext cx="3810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Meaning in language and culture</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Social interaction and context</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Interpretation and situated understanding</a:t>
            </a:r>
          </a:p>
        </p:txBody>
      </p:sp>
      <p:sp>
        <p:nvSpPr>
          <p:cNvPr id="11" name="">
            <a:extLst xmlns:a="http://schemas.openxmlformats.org/drawingml/2006/main">
              <a:ext uri="{FF2B5EF4-FFF2-40B4-BE49-F238E27FC236}">
                <a16:creationId xmlns:a16="http://schemas.microsoft.com/office/drawing/2014/main" id="{42C044D5-E734-425D-9332-FD73DDE917AA}"/>
              </a:ext>
            </a:extLst>
          </p:cNvPr>
          <p:cNvSpPr>
            <a:spLocks xmlns:a="http://schemas.openxmlformats.org/drawingml/2006/main" noGrp="1"/>
          </p:cNvSpPr>
          <p:nvPr/>
        </p:nvSpPr>
        <p:spPr>
          <a:xfrm xmlns:a="http://schemas.openxmlformats.org/drawingml/2006/main">
            <a:off x="590550" y="5362575"/>
            <a:ext cx="990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1">
                <a:solidFill>
                  <a:srgbClr val="596678"/>
                </a:solidFill>
                <a:latin typeface="Helvetica Neue"/>
                <a:ea typeface="Helvetica Neue"/>
                <a:cs typeface="Helvetica Neue"/>
              </a:defRPr>
            </a:pPr>
            <a:r>
              <a:rPr sz="1500" b="0" i="1">
                <a:solidFill>
                  <a:srgbClr val="596678"/>
                </a:solidFill>
                <a:latin typeface="Helvetica Neue"/>
                <a:ea typeface="Helvetica Neue"/>
                <a:cs typeface="Helvetica Neue"/>
              </a:rPr>
              <a:t>This is a rough mapping, not a claim that either thinker fits only one box.</a:t>
            </a:r>
          </a:p>
        </p:txBody>
      </p:sp>
      <p:sp>
        <p:nvSpPr>
          <p:cNvPr id="12" name="">
            <a:extLst xmlns:a="http://schemas.openxmlformats.org/drawingml/2006/main">
              <a:ext uri="{FF2B5EF4-FFF2-40B4-BE49-F238E27FC236}">
                <a16:creationId xmlns:a16="http://schemas.microsoft.com/office/drawing/2014/main" id="{BDD3273C-D46E-45A4-9DFD-6264E8E817BE}"/>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DF52205-D9DA-409A-A3DB-A6BC283D41E4}"/>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70–72. The cognitive-science labels are interpretive applications of Bruner’s contrast.</a:t>
            </a:r>
          </a:p>
        </p:txBody>
      </p:sp>
      <p:sp>
        <p:nvSpPr>
          <p:cNvPr id="14" name="">
            <a:extLst xmlns:a="http://schemas.openxmlformats.org/drawingml/2006/main">
              <a:ext uri="{FF2B5EF4-FFF2-40B4-BE49-F238E27FC236}">
                <a16:creationId xmlns:a16="http://schemas.microsoft.com/office/drawing/2014/main" id="{0B31FC57-23F4-481A-8774-1ABBE934F867}"/>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10</a:t>
            </a:r>
          </a:p>
        </p:txBody>
      </p:sp>
    </p:spTree>
    <p:extLst>
      <p:ext uri="{BB962C8B-B14F-4D97-AF65-F5344CB8AC3E}">
        <p14:creationId xmlns:p14="http://schemas.microsoft.com/office/powerpoint/2010/main" val="365203772"/>
      </p:ext>
    </p:extLst>
  </p:cSld>
</p:sld>
</file>

<file path=ppt/slides/slide11.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FB0A745-0EC6-4120-9FD2-B58DFAD0CD2F}"/>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09C55EC6-438F-4434-B12B-F9E8984AE5C9}"/>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42"/>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Their divergence gives us two useful questions about development</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999a1f8813494ed5"/>
          <a:srcRect xmlns:a="http://schemas.openxmlformats.org/drawingml/2006/main" l="0" t="15570" r="0" b="15570"/>
          <a:stretch xmlns:a="http://schemas.openxmlformats.org/drawingml/2006/main">
            <a:fillRect l="0" t="0" r="0" b="0"/>
          </a:stretch>
        </p:blipFill>
        <p:spPr>
          <a:xfrm xmlns:a="http://schemas.openxmlformats.org/drawingml/2006/main">
            <a:off x="590550" y="1504950"/>
            <a:ext cx="11010900" cy="42672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A03DFDA-C42B-49C2-978F-4D534B42913C}"/>
              </a:ext>
            </a:extLst>
          </p:cNvPr>
          <p:cNvSpPr>
            <a:spLocks xmlns:a="http://schemas.openxmlformats.org/drawingml/2006/main" noGrp="1"/>
          </p:cNvSpPr>
          <p:nvPr/>
        </p:nvSpPr>
        <p:spPr>
          <a:xfrm xmlns:a="http://schemas.openxmlformats.org/drawingml/2006/main">
            <a:off x="857250" y="1790700"/>
            <a:ext cx="3181350" cy="1200150"/>
          </a:xfrm>
          <a:prstGeom xmlns:a="http://schemas.openxmlformats.org/drawingml/2006/main" prst="rect">
            <a:avLst/>
          </a:prstGeom>
          <a:solidFill xmlns:a="http://schemas.openxmlformats.org/drawingml/2006/main">
            <a:srgbClr val="E4EEFF">
              <a:alpha val="90980"/>
            </a:srgbClr>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20260BE-CEDB-49BF-9014-4D5731827E08}"/>
              </a:ext>
            </a:extLst>
          </p:cNvPr>
          <p:cNvSpPr>
            <a:spLocks xmlns:a="http://schemas.openxmlformats.org/drawingml/2006/main" noGrp="1"/>
          </p:cNvSpPr>
          <p:nvPr/>
        </p:nvSpPr>
        <p:spPr>
          <a:xfrm xmlns:a="http://schemas.openxmlformats.org/drawingml/2006/main">
            <a:off x="1066800" y="1981200"/>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PIAGET’S QUESTION</a:t>
            </a:r>
          </a:p>
        </p:txBody>
      </p:sp>
      <p:sp>
        <p:nvSpPr>
          <p:cNvPr id="6" name="">
            <a:extLst xmlns:a="http://schemas.openxmlformats.org/drawingml/2006/main">
              <a:ext uri="{FF2B5EF4-FFF2-40B4-BE49-F238E27FC236}">
                <a16:creationId xmlns:a16="http://schemas.microsoft.com/office/drawing/2014/main" id="{3150019A-3486-4B41-B763-72E4F0CC6EB9}"/>
              </a:ext>
            </a:extLst>
          </p:cNvPr>
          <p:cNvSpPr>
            <a:spLocks xmlns:a="http://schemas.openxmlformats.org/drawingml/2006/main" noGrp="1"/>
          </p:cNvSpPr>
          <p:nvPr/>
        </p:nvSpPr>
        <p:spPr>
          <a:xfrm xmlns:a="http://schemas.openxmlformats.org/drawingml/2006/main">
            <a:off x="1066800" y="2305050"/>
            <a:ext cx="2590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6667"/>
          </a:bodyPr>
          <a:lstStyle xmlns:a="http://schemas.openxmlformats.org/drawingml/2006/main"/>
          <a:p xmlns:a="http://schemas.openxmlformats.org/drawingml/2006/main">
            <a:pPr algn="l">
              <a:defRPr sz="1875" b="1" i="0">
                <a:solidFill>
                  <a:srgbClr val="10233D"/>
                </a:solidFill>
                <a:latin typeface="Helvetica Neue"/>
                <a:ea typeface="Helvetica Neue"/>
                <a:cs typeface="Helvetica Neue"/>
              </a:defRPr>
            </a:pPr>
            <a:r>
              <a:rPr sz="1875" b="1" i="0">
                <a:solidFill>
                  <a:srgbClr val="10233D"/>
                </a:solidFill>
                <a:latin typeface="Helvetica Neue"/>
                <a:ea typeface="Helvetica Neue"/>
                <a:cs typeface="Helvetica Neue"/>
              </a:rPr>
              <a:t>Why is development often stable?</a:t>
            </a:r>
          </a:p>
        </p:txBody>
      </p:sp>
      <p:sp>
        <p:nvSpPr>
          <p:cNvPr id="7" name="">
            <a:extLst xmlns:a="http://schemas.openxmlformats.org/drawingml/2006/main">
              <a:ext uri="{FF2B5EF4-FFF2-40B4-BE49-F238E27FC236}">
                <a16:creationId xmlns:a16="http://schemas.microsoft.com/office/drawing/2014/main" id="{9269F537-B942-46C1-A825-23BBF5F3D47B}"/>
              </a:ext>
            </a:extLst>
          </p:cNvPr>
          <p:cNvSpPr>
            <a:spLocks xmlns:a="http://schemas.openxmlformats.org/drawingml/2006/main" noGrp="1"/>
          </p:cNvSpPr>
          <p:nvPr/>
        </p:nvSpPr>
        <p:spPr>
          <a:xfrm xmlns:a="http://schemas.openxmlformats.org/drawingml/2006/main">
            <a:off x="7734300" y="1790700"/>
            <a:ext cx="3181350" cy="1200150"/>
          </a:xfrm>
          <a:prstGeom xmlns:a="http://schemas.openxmlformats.org/drawingml/2006/main" prst="rect">
            <a:avLst/>
          </a:prstGeom>
          <a:solidFill xmlns:a="http://schemas.openxmlformats.org/drawingml/2006/main">
            <a:srgbClr val="F9E2DA">
              <a:alpha val="90980"/>
            </a:srgbClr>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9D2F8B1-7968-484C-A163-23C9824BDCA9}"/>
              </a:ext>
            </a:extLst>
          </p:cNvPr>
          <p:cNvSpPr>
            <a:spLocks xmlns:a="http://schemas.openxmlformats.org/drawingml/2006/main" noGrp="1"/>
          </p:cNvSpPr>
          <p:nvPr/>
        </p:nvSpPr>
        <p:spPr>
          <a:xfrm xmlns:a="http://schemas.openxmlformats.org/drawingml/2006/main">
            <a:off x="7943850" y="19812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B44D3A"/>
                </a:solidFill>
                <a:latin typeface="Helvetica Neue"/>
                <a:ea typeface="Helvetica Neue"/>
                <a:cs typeface="Helvetica Neue"/>
              </a:defRPr>
            </a:pPr>
            <a:r>
              <a:rPr sz="1050" b="1" i="0">
                <a:solidFill>
                  <a:srgbClr val="B44D3A"/>
                </a:solidFill>
                <a:latin typeface="Helvetica Neue"/>
                <a:ea typeface="Helvetica Neue"/>
                <a:cs typeface="Helvetica Neue"/>
              </a:rPr>
              <a:t>VYGOTSKY’S QUESTION</a:t>
            </a:r>
          </a:p>
        </p:txBody>
      </p:sp>
      <p:sp>
        <p:nvSpPr>
          <p:cNvPr id="9" name="">
            <a:extLst xmlns:a="http://schemas.openxmlformats.org/drawingml/2006/main">
              <a:ext uri="{FF2B5EF4-FFF2-40B4-BE49-F238E27FC236}">
                <a16:creationId xmlns:a16="http://schemas.microsoft.com/office/drawing/2014/main" id="{3A98AB6F-130B-4978-A01A-A9829F1B26A1}"/>
              </a:ext>
            </a:extLst>
          </p:cNvPr>
          <p:cNvSpPr>
            <a:spLocks xmlns:a="http://schemas.openxmlformats.org/drawingml/2006/main" noGrp="1"/>
          </p:cNvSpPr>
          <p:nvPr/>
        </p:nvSpPr>
        <p:spPr>
          <a:xfrm xmlns:a="http://schemas.openxmlformats.org/drawingml/2006/main">
            <a:off x="7943850" y="2305050"/>
            <a:ext cx="266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278"/>
          </a:bodyPr>
          <a:lstStyle xmlns:a="http://schemas.openxmlformats.org/drawingml/2006/main"/>
          <a:p xmlns:a="http://schemas.openxmlformats.org/drawingml/2006/main">
            <a:pPr algn="l">
              <a:defRPr sz="1800" b="1" i="0">
                <a:solidFill>
                  <a:srgbClr val="10233D"/>
                </a:solidFill>
                <a:latin typeface="Helvetica Neue"/>
                <a:ea typeface="Helvetica Neue"/>
                <a:cs typeface="Helvetica Neue"/>
              </a:defRPr>
            </a:pPr>
            <a:r>
              <a:rPr sz="1800" b="1" i="0">
                <a:solidFill>
                  <a:srgbClr val="10233D"/>
                </a:solidFill>
                <a:latin typeface="Helvetica Neue"/>
                <a:ea typeface="Helvetica Neue"/>
                <a:cs typeface="Helvetica Neue"/>
              </a:rPr>
              <a:t>When can collaboration open a new step?</a:t>
            </a:r>
          </a:p>
        </p:txBody>
      </p:sp>
      <p:sp>
        <p:nvSpPr>
          <p:cNvPr id="10" name="">
            <a:extLst xmlns:a="http://schemas.openxmlformats.org/drawingml/2006/main">
              <a:ext uri="{FF2B5EF4-FFF2-40B4-BE49-F238E27FC236}">
                <a16:creationId xmlns:a16="http://schemas.microsoft.com/office/drawing/2014/main" id="{732F1367-F1FA-43AE-8AFA-A4F1F22F66FC}"/>
              </a:ext>
            </a:extLst>
          </p:cNvPr>
          <p:cNvSpPr>
            <a:spLocks xmlns:a="http://schemas.openxmlformats.org/drawingml/2006/main" noGrp="1"/>
          </p:cNvSpPr>
          <p:nvPr/>
        </p:nvSpPr>
        <p:spPr>
          <a:xfrm xmlns:a="http://schemas.openxmlformats.org/drawingml/2006/main">
            <a:off x="590550" y="5905500"/>
            <a:ext cx="1038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i="1">
                <a:solidFill>
                  <a:srgbClr val="10233D"/>
                </a:solidFill>
                <a:latin typeface="Helvetica Neue"/>
                <a:ea typeface="Helvetica Neue"/>
                <a:cs typeface="Helvetica Neue"/>
              </a:defRPr>
            </a:pPr>
            <a:r>
              <a:rPr sz="1425" b="0" i="1">
                <a:solidFill>
                  <a:srgbClr val="10233D"/>
                </a:solidFill>
                <a:latin typeface="Helvetica Neue"/>
                <a:ea typeface="Helvetica Neue"/>
                <a:cs typeface="Helvetica Neue"/>
              </a:rPr>
              <a:t>Bruner’s conclusion: do not force a quick reconciliation — use the tension to ask better questions.</a:t>
            </a:r>
          </a:p>
        </p:txBody>
      </p:sp>
      <p:sp>
        <p:nvSpPr>
          <p:cNvPr id="11" name="">
            <a:extLst xmlns:a="http://schemas.openxmlformats.org/drawingml/2006/main">
              <a:ext uri="{FF2B5EF4-FFF2-40B4-BE49-F238E27FC236}">
                <a16:creationId xmlns:a16="http://schemas.microsoft.com/office/drawing/2014/main" id="{052FDAC7-9CDC-4C31-B331-A4B033DBA09A}"/>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0CEF630-8C67-48E7-A98E-4A45B7568CE5}"/>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70–72. Slide wording is paraphrased.</a:t>
            </a:r>
          </a:p>
        </p:txBody>
      </p:sp>
      <p:sp>
        <p:nvSpPr>
          <p:cNvPr id="13" name="">
            <a:extLst xmlns:a="http://schemas.openxmlformats.org/drawingml/2006/main">
              <a:ext uri="{FF2B5EF4-FFF2-40B4-BE49-F238E27FC236}">
                <a16:creationId xmlns:a16="http://schemas.microsoft.com/office/drawing/2014/main" id="{A2E3B301-0CF6-4052-ADCA-86AF6F11B453}"/>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11</a:t>
            </a:r>
          </a:p>
        </p:txBody>
      </p:sp>
    </p:spTree>
    <p:extLst>
      <p:ext uri="{BB962C8B-B14F-4D97-AF65-F5344CB8AC3E}">
        <p14:creationId xmlns:p14="http://schemas.microsoft.com/office/powerpoint/2010/main" val="1933739595"/>
      </p:ext>
    </p:extLst>
  </p:cSld>
</p:sld>
</file>

<file path=ppt/slides/slide12.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40825E6-307E-48BE-A280-870A23F1EA1D}"/>
              </a:ext>
            </a:extLst>
          </p:cNvPr>
          <p:cNvSpPr>
            <a:spLocks xmlns:a="http://schemas.openxmlformats.org/drawingml/2006/main" noGrp="1"/>
          </p:cNvSpPr>
          <p:nvPr/>
        </p:nvSpPr>
        <p:spPr>
          <a:xfrm xmlns:a="http://schemas.openxmlformats.org/drawingml/2006/main">
            <a:off x="590550" y="495300"/>
            <a:ext cx="2857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4F97500C-4A9C-43E9-8ECA-3D64B8FA635B}"/>
              </a:ext>
            </a:extLst>
          </p:cNvPr>
          <p:cNvSpPr>
            <a:spLocks xmlns:a="http://schemas.openxmlformats.org/drawingml/2006/main" noGrp="1"/>
          </p:cNvSpPr>
          <p:nvPr/>
        </p:nvSpPr>
        <p:spPr>
          <a:xfrm xmlns:a="http://schemas.openxmlformats.org/drawingml/2006/main">
            <a:off x="590550" y="1085850"/>
            <a:ext cx="73342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525" b="1" i="0">
                <a:solidFill>
                  <a:srgbClr val="10233D"/>
                </a:solidFill>
                <a:latin typeface="Helvetica Neue"/>
                <a:ea typeface="Helvetica Neue"/>
                <a:cs typeface="Helvetica Neue"/>
              </a:defRPr>
            </a:pPr>
            <a:r>
              <a:rPr sz="3525" b="1" i="0">
                <a:solidFill>
                  <a:srgbClr val="10233D"/>
                </a:solidFill>
                <a:latin typeface="Helvetica Neue"/>
                <a:ea typeface="Helvetica Neue"/>
                <a:cs typeface="Helvetica Neue"/>
              </a:rPr>
              <a:t>A growing mind is not explained</a:t>
            </a:r>
          </a:p>
          <a:p xmlns:a="http://schemas.openxmlformats.org/drawingml/2006/main">
            <a:pPr algn="l">
              <a:defRPr sz="3525" b="1" i="0">
                <a:solidFill>
                  <a:srgbClr val="10233D"/>
                </a:solidFill>
                <a:latin typeface="Helvetica Neue"/>
                <a:ea typeface="Helvetica Neue"/>
                <a:cs typeface="Helvetica Neue"/>
              </a:defRPr>
            </a:pPr>
            <a:r>
              <a:rPr sz="3525" b="1" i="0">
                <a:solidFill>
                  <a:srgbClr val="10233D"/>
                </a:solidFill>
                <a:latin typeface="Helvetica Neue"/>
                <a:ea typeface="Helvetica Neue"/>
                <a:cs typeface="Helvetica Neue"/>
              </a:rPr>
              <a:t>by logic alone — or culture alone.</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1aa2f16632f44e2e"/>
          <a:srcRect xmlns:a="http://schemas.openxmlformats.org/drawingml/2006/main" l="0" t="7171" r="0" b="7171"/>
          <a:stretch xmlns:a="http://schemas.openxmlformats.org/drawingml/2006/main">
            <a:fillRect l="0" t="0" r="0" b="0"/>
          </a:stretch>
        </p:blipFill>
        <p:spPr>
          <a:xfrm xmlns:a="http://schemas.openxmlformats.org/drawingml/2006/main">
            <a:off x="8572500" y="742950"/>
            <a:ext cx="2095500" cy="2571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5C61967-7BDE-4013-B29C-87CA3B5E550C}"/>
              </a:ext>
            </a:extLst>
          </p:cNvPr>
          <p:cNvSpPr>
            <a:spLocks xmlns:a="http://schemas.openxmlformats.org/drawingml/2006/main" noGrp="1"/>
          </p:cNvSpPr>
          <p:nvPr/>
        </p:nvSpPr>
        <p:spPr>
          <a:xfrm xmlns:a="http://schemas.openxmlformats.org/drawingml/2006/main">
            <a:off x="8572500" y="34290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050" b="1" i="0">
                <a:solidFill>
                  <a:srgbClr val="A86500"/>
                </a:solidFill>
                <a:latin typeface="Helvetica Neue"/>
                <a:ea typeface="Helvetica Neue"/>
                <a:cs typeface="Helvetica Neue"/>
              </a:defRPr>
            </a:pPr>
            <a:r>
              <a:rPr sz="1050" b="1" i="0">
                <a:solidFill>
                  <a:srgbClr val="A86500"/>
                </a:solidFill>
                <a:latin typeface="Helvetica Neue"/>
                <a:ea typeface="Helvetica Neue"/>
                <a:cs typeface="Helvetica Neue"/>
              </a:rPr>
              <a:t>JEROME BRUNER</a:t>
            </a:r>
          </a:p>
        </p:txBody>
      </p:sp>
      <p:sp>
        <p:nvSpPr>
          <p:cNvPr id="5" name="">
            <a:extLst xmlns:a="http://schemas.openxmlformats.org/drawingml/2006/main">
              <a:ext uri="{FF2B5EF4-FFF2-40B4-BE49-F238E27FC236}">
                <a16:creationId xmlns:a16="http://schemas.microsoft.com/office/drawing/2014/main" id="{6EE700F5-1AF8-4840-8CE9-FCE0EDCDCBEF}"/>
              </a:ext>
            </a:extLst>
          </p:cNvPr>
          <p:cNvSpPr>
            <a:spLocks xmlns:a="http://schemas.openxmlformats.org/drawingml/2006/main" noGrp="1"/>
          </p:cNvSpPr>
          <p:nvPr/>
        </p:nvSpPr>
        <p:spPr>
          <a:xfrm xmlns:a="http://schemas.openxmlformats.org/drawingml/2006/main">
            <a:off x="590550" y="2914650"/>
            <a:ext cx="7219950" cy="19050"/>
          </a:xfrm>
          <a:prstGeom xmlns:a="http://schemas.openxmlformats.org/drawingml/2006/main" prst="rect">
            <a:avLst/>
          </a:prstGeom>
          <a:solidFill xmlns:a="http://schemas.openxmlformats.org/drawingml/2006/main">
            <a:srgbClr val="1F5FC9"/>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B6A9171-F58A-4609-9113-95E4A4A9C73E}"/>
              </a:ext>
            </a:extLst>
          </p:cNvPr>
          <p:cNvSpPr>
            <a:spLocks xmlns:a="http://schemas.openxmlformats.org/drawingml/2006/main" noGrp="1"/>
          </p:cNvSpPr>
          <p:nvPr/>
        </p:nvSpPr>
        <p:spPr>
          <a:xfrm xmlns:a="http://schemas.openxmlformats.org/drawingml/2006/main">
            <a:off x="590550" y="3257550"/>
            <a:ext cx="6858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0" i="0">
                <a:solidFill>
                  <a:srgbClr val="10233D"/>
                </a:solidFill>
                <a:latin typeface="Helvetica Neue"/>
                <a:ea typeface="Helvetica Neue"/>
                <a:cs typeface="Helvetica Neue"/>
              </a:defRPr>
            </a:pPr>
            <a:r>
              <a:rPr sz="1875" b="0" i="0">
                <a:solidFill>
                  <a:srgbClr val="10233D"/>
                </a:solidFill>
                <a:latin typeface="Helvetica Neue"/>
                <a:ea typeface="Helvetica Neue"/>
                <a:cs typeface="Helvetica Neue"/>
              </a:rPr>
              <a:t>Piaget: thought becomes more organized.</a:t>
            </a:r>
          </a:p>
          <a:p xmlns:a="http://schemas.openxmlformats.org/drawingml/2006/main">
            <a:pPr algn="l">
              <a:defRPr sz="1875" b="0" i="0">
                <a:solidFill>
                  <a:srgbClr val="10233D"/>
                </a:solidFill>
                <a:latin typeface="Helvetica Neue"/>
                <a:ea typeface="Helvetica Neue"/>
                <a:cs typeface="Helvetica Neue"/>
              </a:defRPr>
            </a:pPr>
            <a:r>
              <a:rPr sz="1875" b="0" i="0">
                <a:solidFill>
                  <a:srgbClr val="10233D"/>
                </a:solidFill>
                <a:latin typeface="Helvetica Neue"/>
                <a:ea typeface="Helvetica Neue"/>
                <a:cs typeface="Helvetica Neue"/>
              </a:rPr>
              <a:t>Vygotsky: culture becomes a tool for thought.</a:t>
            </a:r>
          </a:p>
          <a:p xmlns:a="http://schemas.openxmlformats.org/drawingml/2006/main">
            <a:pPr algn="l">
              <a:defRPr sz="1875" b="0" i="0">
                <a:solidFill>
                  <a:srgbClr val="10233D"/>
                </a:solidFill>
                <a:latin typeface="Helvetica Neue"/>
                <a:ea typeface="Helvetica Neue"/>
                <a:cs typeface="Helvetica Neue"/>
              </a:defRPr>
            </a:pPr>
            <a:r>
              <a:rPr sz="1875" b="0" i="0">
                <a:solidFill>
                  <a:srgbClr val="10233D"/>
                </a:solidFill>
                <a:latin typeface="Helvetica Neue"/>
                <a:ea typeface="Helvetica Neue"/>
                <a:cs typeface="Helvetica Neue"/>
              </a:rPr>
              <a:t>Bruner: keep both questions alive.</a:t>
            </a:r>
          </a:p>
        </p:txBody>
      </p:sp>
      <p:sp>
        <p:nvSpPr>
          <p:cNvPr id="7" name="">
            <a:extLst xmlns:a="http://schemas.openxmlformats.org/drawingml/2006/main">
              <a:ext uri="{FF2B5EF4-FFF2-40B4-BE49-F238E27FC236}">
                <a16:creationId xmlns:a16="http://schemas.microsoft.com/office/drawing/2014/main" id="{00C20AD1-E122-45E2-85BD-73179EDE0C78}"/>
              </a:ext>
            </a:extLst>
          </p:cNvPr>
          <p:cNvSpPr>
            <a:spLocks xmlns:a="http://schemas.openxmlformats.org/drawingml/2006/main" noGrp="1"/>
          </p:cNvSpPr>
          <p:nvPr/>
        </p:nvSpPr>
        <p:spPr>
          <a:xfrm xmlns:a="http://schemas.openxmlformats.org/drawingml/2006/main">
            <a:off x="7734300" y="4000500"/>
            <a:ext cx="3295650" cy="194310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562710f0d61540a5"/>
          <a:stretch xmlns:a="http://schemas.openxmlformats.org/drawingml/2006/main"/>
        </p:blipFill>
        <p:spPr>
          <a:xfrm xmlns:a="http://schemas.openxmlformats.org/drawingml/2006/main">
            <a:off x="7943850" y="4171950"/>
            <a:ext cx="1562100" cy="15621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4825A53B-430C-4DA6-B969-E306E16CB306}"/>
              </a:ext>
            </a:extLst>
          </p:cNvPr>
          <p:cNvSpPr>
            <a:spLocks xmlns:a="http://schemas.openxmlformats.org/drawingml/2006/main" noGrp="1"/>
          </p:cNvSpPr>
          <p:nvPr/>
        </p:nvSpPr>
        <p:spPr>
          <a:xfrm xmlns:a="http://schemas.openxmlformats.org/drawingml/2006/main">
            <a:off x="9582150" y="436245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275" b="1" i="0">
                <a:solidFill>
                  <a:srgbClr val="10233D"/>
                </a:solidFill>
                <a:latin typeface="Helvetica Neue"/>
                <a:ea typeface="Helvetica Neue"/>
                <a:cs typeface="Helvetica Neue"/>
              </a:defRPr>
            </a:pPr>
            <a:r>
              <a:rPr sz="1275" b="1" i="0">
                <a:solidFill>
                  <a:srgbClr val="10233D"/>
                </a:solidFill>
                <a:latin typeface="Helvetica Neue"/>
                <a:ea typeface="Helvetica Neue"/>
                <a:cs typeface="Helvetica Neue"/>
              </a:rPr>
              <a:t>Scan for the</a:t>
            </a:r>
          </a:p>
          <a:p xmlns:a="http://schemas.openxmlformats.org/drawingml/2006/main">
            <a:pPr algn="ctr">
              <a:defRPr sz="1275" b="1" i="0">
                <a:solidFill>
                  <a:srgbClr val="10233D"/>
                </a:solidFill>
                <a:latin typeface="Helvetica Neue"/>
                <a:ea typeface="Helvetica Neue"/>
                <a:cs typeface="Helvetica Neue"/>
              </a:defRPr>
            </a:pPr>
            <a:r>
              <a:rPr sz="1275" b="1" i="0">
                <a:solidFill>
                  <a:srgbClr val="10233D"/>
                </a:solidFill>
                <a:latin typeface="Helvetica Neue"/>
                <a:ea typeface="Helvetica Neue"/>
                <a:cs typeface="Helvetica Neue"/>
              </a:rPr>
              <a:t>3-question quiz</a:t>
            </a:r>
          </a:p>
        </p:txBody>
      </p:sp>
      <p:sp>
        <p:nvSpPr>
          <p:cNvPr id="10" name="">
            <a:extLst xmlns:a="http://schemas.openxmlformats.org/drawingml/2006/main">
              <a:ext uri="{FF2B5EF4-FFF2-40B4-BE49-F238E27FC236}">
                <a16:creationId xmlns:a16="http://schemas.microsoft.com/office/drawing/2014/main" id="{EFA8C7DD-270A-472F-ABB8-AD2CC221D0B8}"/>
              </a:ext>
            </a:extLst>
          </p:cNvPr>
          <p:cNvSpPr>
            <a:spLocks xmlns:a="http://schemas.openxmlformats.org/drawingml/2006/main" noGrp="1"/>
          </p:cNvSpPr>
          <p:nvPr/>
        </p:nvSpPr>
        <p:spPr>
          <a:xfrm xmlns:a="http://schemas.openxmlformats.org/drawingml/2006/main">
            <a:off x="9563100" y="504825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900" b="0" i="0">
                <a:solidFill>
                  <a:srgbClr val="10233D"/>
                </a:solidFill>
                <a:latin typeface="Helvetica Neue"/>
                <a:ea typeface="Helvetica Neue"/>
                <a:cs typeface="Helvetica Neue"/>
              </a:defRPr>
            </a:pPr>
            <a:r>
              <a:rPr sz="900" b="0" i="0">
                <a:solidFill>
                  <a:srgbClr val="10233D"/>
                </a:solidFill>
                <a:latin typeface="Helvetica Neue"/>
                <a:ea typeface="Helvetica Neue"/>
                <a:cs typeface="Helvetica Neue"/>
              </a:rPr>
              <a:t>tinyurl.com/cogs100-group8-quiz</a:t>
            </a:r>
          </a:p>
        </p:txBody>
      </p:sp>
      <p:sp>
        <p:nvSpPr>
          <p:cNvPr id="11" name="">
            <a:extLst xmlns:a="http://schemas.openxmlformats.org/drawingml/2006/main">
              <a:ext uri="{FF2B5EF4-FFF2-40B4-BE49-F238E27FC236}">
                <a16:creationId xmlns:a16="http://schemas.microsoft.com/office/drawing/2014/main" id="{7C8B6970-5D5B-4FD9-ACBC-86B156F97319}"/>
              </a:ext>
            </a:extLst>
          </p:cNvPr>
          <p:cNvSpPr>
            <a:spLocks xmlns:a="http://schemas.openxmlformats.org/drawingml/2006/main" noGrp="1"/>
          </p:cNvSpPr>
          <p:nvPr/>
        </p:nvSpPr>
        <p:spPr>
          <a:xfrm xmlns:a="http://schemas.openxmlformats.org/drawingml/2006/main">
            <a:off x="590550" y="53340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175" b="1" i="0">
                <a:solidFill>
                  <a:srgbClr val="1F5FC9"/>
                </a:solidFill>
                <a:latin typeface="Helvetica Neue"/>
                <a:ea typeface="Helvetica Neue"/>
                <a:cs typeface="Helvetica Neue"/>
              </a:defRPr>
            </a:pPr>
            <a:r>
              <a:rPr sz="2175" b="1" i="0">
                <a:solidFill>
                  <a:srgbClr val="1F5FC9"/>
                </a:solidFill>
                <a:latin typeface="Helvetica Neue"/>
                <a:ea typeface="Helvetica Neue"/>
                <a:cs typeface="Helvetica Neue"/>
              </a:rPr>
              <a:t>Thank you</a:t>
            </a:r>
          </a:p>
        </p:txBody>
      </p:sp>
      <p:sp>
        <p:nvSpPr>
          <p:cNvPr id="12" name="">
            <a:extLst xmlns:a="http://schemas.openxmlformats.org/drawingml/2006/main">
              <a:ext uri="{FF2B5EF4-FFF2-40B4-BE49-F238E27FC236}">
                <a16:creationId xmlns:a16="http://schemas.microsoft.com/office/drawing/2014/main" id="{6CECF9EC-CFC8-4070-A54A-2152BB85CFA8}"/>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B266CCF-B676-4FE9-938E-6C5EECC27876}"/>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Reading: Bruner (1997). Bruner photo: Wikimedia Commons, public domain.</a:t>
            </a:r>
          </a:p>
        </p:txBody>
      </p:sp>
      <p:sp>
        <p:nvSpPr>
          <p:cNvPr id="14" name="">
            <a:extLst xmlns:a="http://schemas.openxmlformats.org/drawingml/2006/main">
              <a:ext uri="{FF2B5EF4-FFF2-40B4-BE49-F238E27FC236}">
                <a16:creationId xmlns:a16="http://schemas.microsoft.com/office/drawing/2014/main" id="{2240A13A-228D-487D-B890-68CE9759E4E3}"/>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12</a:t>
            </a:r>
          </a:p>
        </p:txBody>
      </p:sp>
    </p:spTree>
    <p:extLst>
      <p:ext uri="{BB962C8B-B14F-4D97-AF65-F5344CB8AC3E}">
        <p14:creationId xmlns:p14="http://schemas.microsoft.com/office/powerpoint/2010/main" val="1904416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2026-07-23T04:14:18.9220000Z</dcterms:created>
  <dcterms:modified xsi:type="dcterms:W3CDTF">2026-07-23T04:14:18.9220000Z</dcterms:modified>
</coreProperties>
</file>