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a291d8dcd842bc" /><Relationship Type="http://schemas.openxmlformats.org/officeDocument/2006/relationships/extended-properties" Target="/docProps/app.xml" Id="R441fecfc254e4ffc" /><Relationship Type="http://schemas.openxmlformats.org/officeDocument/2006/relationships/officeDocument" Target="/ppt/presentation.xml" Id="R44606753dd764797" /></Relationships>
</file>

<file path=ppt/presentation.xml><?xml version="1.0" encoding="utf-8"?>
<p:presentation xmlns:p="http://schemas.openxmlformats.org/presentationml/2006/main">
  <p:sldMasterIdLst>
    <p:sldMasterId xmlns:r="http://schemas.openxmlformats.org/officeDocument/2006/relationships" id="2147483648" r:id="Ra681af0f6e9743d4"/>
  </p:sldMasterIdLst>
  <p:notesMasterIdLst>
    <p:notesMasterId xmlns:r="http://schemas.openxmlformats.org/officeDocument/2006/relationships" r:id="Rd9f750a21dae4683"/>
  </p:notesMasterIdLst>
  <p:sldIdLst>
    <p:sldId xmlns:r="http://schemas.openxmlformats.org/officeDocument/2006/relationships" id="256" r:id="R5566144c79f4415f"/>
    <p:sldId xmlns:r="http://schemas.openxmlformats.org/officeDocument/2006/relationships" id="257" r:id="Rc7ea33f499974801"/>
    <p:sldId xmlns:r="http://schemas.openxmlformats.org/officeDocument/2006/relationships" id="258" r:id="Rabaee7558dfd4a6f"/>
    <p:sldId xmlns:r="http://schemas.openxmlformats.org/officeDocument/2006/relationships" id="259" r:id="R46c71b9f42c34c28"/>
    <p:sldId xmlns:r="http://schemas.openxmlformats.org/officeDocument/2006/relationships" id="260" r:id="Rf5253c1d269a429f"/>
    <p:sldId xmlns:r="http://schemas.openxmlformats.org/officeDocument/2006/relationships" id="261" r:id="Recab8e448bfe4dec"/>
    <p:sldId xmlns:r="http://schemas.openxmlformats.org/officeDocument/2006/relationships" id="262" r:id="R7820968ea0d0409e"/>
    <p:sldId xmlns:r="http://schemas.openxmlformats.org/officeDocument/2006/relationships" id="263" r:id="R4e6ffba04dbd4818"/>
    <p:sldId xmlns:r="http://schemas.openxmlformats.org/officeDocument/2006/relationships" id="264" r:id="R389bfa116a5f41cf"/>
    <p:sldId xmlns:r="http://schemas.openxmlformats.org/officeDocument/2006/relationships" id="265" r:id="R6d29dadfcef54b97"/>
    <p:sldId xmlns:r="http://schemas.openxmlformats.org/officeDocument/2006/relationships" id="266" r:id="R055cf56821e94c2e"/>
    <p:sldId xmlns:r="http://schemas.openxmlformats.org/officeDocument/2006/relationships" id="267" r:id="Rfc2b026788a148d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7b15fa099a4224" /><Relationship Type="http://schemas.openxmlformats.org/officeDocument/2006/relationships/slideMaster" Target="/ppt/slideMasters/slideMaster1.xml" Id="Ra681af0f6e9743d4" /><Relationship Type="http://schemas.openxmlformats.org/officeDocument/2006/relationships/notesMaster" Target="/ppt/notesMasters/notesMaster1.xml" Id="Rd9f750a21dae4683" /><Relationship Type="http://schemas.openxmlformats.org/officeDocument/2006/relationships/presProps" Target="/ppt/presProps.xml" Id="R494d71dc95c844a8" /><Relationship Type="http://schemas.openxmlformats.org/officeDocument/2006/relationships/tableStyles" Target="/ppt/tableStyles.xml" Id="R3ffe70822aea4866" /><Relationship Type="http://schemas.openxmlformats.org/officeDocument/2006/relationships/slide" Target="/ppt/slides/slide1.xml" Id="R5566144c79f4415f" /><Relationship Type="http://schemas.openxmlformats.org/officeDocument/2006/relationships/slide" Target="/ppt/slides/slide2.xml" Id="Rc7ea33f499974801" /><Relationship Type="http://schemas.openxmlformats.org/officeDocument/2006/relationships/slide" Target="/ppt/slides/slide3.xml" Id="Rabaee7558dfd4a6f" /><Relationship Type="http://schemas.openxmlformats.org/officeDocument/2006/relationships/slide" Target="/ppt/slides/slide4.xml" Id="R46c71b9f42c34c28" /><Relationship Type="http://schemas.openxmlformats.org/officeDocument/2006/relationships/slide" Target="/ppt/slides/slide5.xml" Id="Rf5253c1d269a429f" /><Relationship Type="http://schemas.openxmlformats.org/officeDocument/2006/relationships/slide" Target="/ppt/slides/slide6.xml" Id="Recab8e448bfe4dec" /><Relationship Type="http://schemas.openxmlformats.org/officeDocument/2006/relationships/slide" Target="/ppt/slides/slide7.xml" Id="R7820968ea0d0409e" /><Relationship Type="http://schemas.openxmlformats.org/officeDocument/2006/relationships/slide" Target="/ppt/slides/slide8.xml" Id="R4e6ffba04dbd4818" /><Relationship Type="http://schemas.openxmlformats.org/officeDocument/2006/relationships/slide" Target="/ppt/slides/slide9.xml" Id="R389bfa116a5f41cf" /><Relationship Type="http://schemas.openxmlformats.org/officeDocument/2006/relationships/slide" Target="/ppt/slides/slide10.xml" Id="R6d29dadfcef54b97" /><Relationship Type="http://schemas.openxmlformats.org/officeDocument/2006/relationships/slide" Target="/ppt/slides/slide11.xml" Id="R055cf56821e94c2e" /><Relationship Type="http://schemas.openxmlformats.org/officeDocument/2006/relationships/slide" Target="/ppt/slides/slide12.xml" Id="Rfc2b026788a148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80f08d691d47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7ef7e68dcd4551" /><Relationship Type="http://schemas.openxmlformats.org/officeDocument/2006/relationships/notesMaster" Target="/ppt/notesMasters/notesMaster1.xml" Id="Rb89cd6f3d9fa48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db898c729c4893" /><Relationship Type="http://schemas.openxmlformats.org/officeDocument/2006/relationships/notesMaster" Target="/ppt/notesMasters/notesMaster1.xml" Id="Rf75a93126de14f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cf3feb5d6d4664" /><Relationship Type="http://schemas.openxmlformats.org/officeDocument/2006/relationships/notesMaster" Target="/ppt/notesMasters/notesMaster1.xml" Id="R2c741c88119242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d362359dfd41ed" /><Relationship Type="http://schemas.openxmlformats.org/officeDocument/2006/relationships/notesMaster" Target="/ppt/notesMasters/notesMaster1.xml" Id="R294889ddc7084a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4fcc02e61a410f" /><Relationship Type="http://schemas.openxmlformats.org/officeDocument/2006/relationships/notesMaster" Target="/ppt/notesMasters/notesMaster1.xml" Id="Rf179eb6ee92d4d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93d71344af4d89" /><Relationship Type="http://schemas.openxmlformats.org/officeDocument/2006/relationships/notesMaster" Target="/ppt/notesMasters/notesMaster1.xml" Id="R272fdbe55e624f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16a734180c4ca6" /><Relationship Type="http://schemas.openxmlformats.org/officeDocument/2006/relationships/notesMaster" Target="/ppt/notesMasters/notesMaster1.xml" Id="Ra6365c35ecf548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0e604038ea4909" /><Relationship Type="http://schemas.openxmlformats.org/officeDocument/2006/relationships/notesMaster" Target="/ppt/notesMasters/notesMaster1.xml" Id="R86400384762d49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2439f53d354c98" /><Relationship Type="http://schemas.openxmlformats.org/officeDocument/2006/relationships/notesMaster" Target="/ppt/notesMasters/notesMaster1.xml" Id="R41eda224dd4644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a7fe7dac3e4a0e" /><Relationship Type="http://schemas.openxmlformats.org/officeDocument/2006/relationships/notesMaster" Target="/ppt/notesMasters/notesMaster1.xml" Id="R8597376e04aa47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87af77dde14aaa" /><Relationship Type="http://schemas.openxmlformats.org/officeDocument/2006/relationships/notesMaster" Target="/ppt/notesMasters/notesMaster1.xml" Id="R760273db63c645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45309f4fa34d5c" /><Relationship Type="http://schemas.openxmlformats.org/officeDocument/2006/relationships/notesMaster" Target="/ppt/notesMasters/notesMaster1.xml" Id="R52e45c9a82ff46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30 seconds</a:t>
            </a:r>
          </a:p>
          <a:p xmlns:a="http://schemas.openxmlformats.org/drawingml/2006/main">
            <a:r>
              <a:t/>
            </a:r>
          </a:p>
          <a:p xmlns:a="http://schemas.openxmlformats.org/drawingml/2006/main">
            <a:r>
              <a:t>Hi everyone, I’m Javen Cao, and this is our Group 8 presentation on Jerome Bruner’s “Celebrating Divergence: Piaget and Vygotsky.” Juqy and I will use one question to organize the reading: how does a mind grow? Piaget and Vygotsky both take the growing mind seriously, but they give very different answers. The quiz link is on this slide; every answer is stated during the presentation.</a:t>
            </a:r>
          </a:p>
          <a:p xmlns:a="http://schemas.openxmlformats.org/drawingml/2006/main">
            <a:r>
              <a:t/>
            </a:r>
          </a:p>
          <a:p xmlns:a="http://schemas.openxmlformats.org/drawingml/2006/main">
            <a:r>
              <a:t>Transition: Before comparing the two theories, we need Bruner’s starting point: what makes human cognition distinctive?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1 minute 30 seconds</a:t>
            </a:r>
          </a:p>
          <a:p xmlns:a="http://schemas.openxmlformats.org/drawingml/2006/main">
            <a:r>
              <a:t/>
            </a:r>
          </a:p>
          <a:p xmlns:a="http://schemas.openxmlformats.org/drawingml/2006/main">
            <a:r>
              <a:t>Bruner begins with a claim about human uniqueness. We are not unique merely because we adapt. Other organisms adapt too. What is distinctive is that we also make theories and stories about the world and about our own actions. Those accounts let us explain, argue, coordinate with other people, and sometimes even fight over competing views.</a:t>
            </a:r>
          </a:p>
          <a:p xmlns:a="http://schemas.openxmlformats.org/drawingml/2006/main">
            <a:r>
              <a:t/>
            </a:r>
          </a:p>
          <a:p xmlns:a="http://schemas.openxmlformats.org/drawingml/2006/main">
            <a:r>
              <a:t>That creates the developmental problem for both theorists: how does a child become capable of making these kinds of accounts? The rest of the paper contrasts two answers. Piaget emphasizes the logical organization of thought. Vygotsky emphasizes the cultural tools that make thought meaningful.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1 minute 20 seconds</a:t>
            </a:r>
          </a:p>
          <a:p xmlns:a="http://schemas.openxmlformats.org/drawingml/2006/main">
            <a:r>
              <a:t/>
            </a:r>
          </a:p>
          <a:p xmlns:a="http://schemas.openxmlformats.org/drawingml/2006/main">
            <a:r>
              <a:t>Both thinkers agree that the mind is a mediator. We do not simply receive the external world as raw information. But Piaget and Vygotsky disagree about what this mediator fundamentally is.</a:t>
            </a:r>
          </a:p>
          <a:p xmlns:a="http://schemas.openxmlformats.org/drawingml/2006/main">
            <a:r>
              <a:t/>
            </a:r>
          </a:p>
          <a:p xmlns:a="http://schemas.openxmlformats.org/drawingml/2006/main">
            <a:r>
              <a:t>For Piaget, the central achievement is logical organization: the child builds increasingly coherent systems for understanding the world. For Vygotsky, the central achievement is meaning-making with cultural tools: language and other symbolic systems, acquired through participation with other people.</a:t>
            </a:r>
          </a:p>
          <a:p xmlns:a="http://schemas.openxmlformats.org/drawingml/2006/main">
            <a:r>
              <a:t/>
            </a:r>
          </a:p>
          <a:p xmlns:a="http://schemas.openxmlformats.org/drawingml/2006/main">
            <a:r>
              <a:t>This is not just a disagreement about teaching methods. Bruner argues it may reflect two different ways of knowing: explaining through general, testable structures and interpreting meaning in a specific cultural setting. I’ll start with Piaget’s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2 minutes</a:t>
            </a:r>
          </a:p>
          <a:p xmlns:a="http://schemas.openxmlformats.org/drawingml/2006/main">
            <a:r>
              <a:t/>
            </a:r>
          </a:p>
          <a:p xmlns:a="http://schemas.openxmlformats.org/drawingml/2006/main">
            <a:r>
              <a:t>Piaget’s key move was to treat the mind as an organized group of logic-like operations. These operations mediate between the world and our knowledge of it. In this view, knowledge is not simply found waiting outside us. It is constructed by the mind and then tested by whether it works in action and whether it gives us understanding.</a:t>
            </a:r>
          </a:p>
          <a:p xmlns:a="http://schemas.openxmlformats.org/drawingml/2006/main">
            <a:r>
              <a:t/>
            </a:r>
          </a:p>
          <a:p xmlns:a="http://schemas.openxmlformats.org/drawingml/2006/main">
            <a:r>
              <a:t>The important word here is mediation. An experience does not automatically become knowledge. It has to be organized through the child’s operations. Piaget traces these operations back to action, but as they develop they become increasingly internal, decentered from the immediate situation, and capable of being reversed or reflected upon. That leads directly to his account of growth.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2 minutes</a:t>
            </a:r>
          </a:p>
          <a:p xmlns:a="http://schemas.openxmlformats.org/drawingml/2006/main">
            <a:r>
              <a:t/>
            </a:r>
          </a:p>
          <a:p xmlns:a="http://schemas.openxmlformats.org/drawingml/2006/main">
            <a:r>
              <a:t>For Piaget, mental growth is a move from simpler to more complex systems of operations. The route begins with action. Actions are internalized into thought; thought becomes less centered on what is immediately visible or done; and eventually thought can represent and examine itself as propositions.</a:t>
            </a:r>
          </a:p>
          <a:p xmlns:a="http://schemas.openxmlformats.org/drawingml/2006/main">
            <a:r>
              <a:t/>
            </a:r>
          </a:p>
          <a:p xmlns:a="http://schemas.openxmlformats.org/drawingml/2006/main">
            <a:r>
              <a:t>The usual name for the engine of this change is disequilibration. When a new experience arrives, the child can assimilate it — fit it into an existing structure — or accommodate by changing the structure. Neither process on its own gives a complete explanation. Bruner says the tension between them is supposed to create growth, although Piaget never made the actual dynamics fully clear.</a:t>
            </a:r>
          </a:p>
          <a:p xmlns:a="http://schemas.openxmlformats.org/drawingml/2006/main">
            <a:r>
              <a:t/>
            </a:r>
          </a:p>
          <a:p xmlns:a="http://schemas.openxmlformats.org/drawingml/2006/main">
            <a:r>
              <a:t>That gap matters, because it sets up the strongest criticism Bruner makes of Piaget.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JAVEN — about 2 minutes 20 seconds, then personal takeaway</a:t>
            </a:r>
          </a:p>
          <a:p xmlns:a="http://schemas.openxmlformats.org/drawingml/2006/main">
            <a:r>
              <a:t/>
            </a:r>
          </a:p>
          <a:p xmlns:a="http://schemas.openxmlformats.org/drawingml/2006/main">
            <a:r>
              <a:t>Bruner is careful: he does not dismiss Piaget. Piaget made development systematic rather than a random product of associations and reinforcement. And one thing is, in Bruner’s words, abundantly clear: Piagetian development follows an invariant course.</a:t>
            </a:r>
          </a:p>
          <a:p xmlns:a="http://schemas.openxmlformats.org/drawingml/2006/main">
            <a:r>
              <a:t/>
            </a:r>
          </a:p>
          <a:p xmlns:a="http://schemas.openxmlformats.org/drawingml/2006/main">
            <a:r>
              <a:t>But the theory specifies the direction of growth more clearly than its causes. What exactly pushes the child from one logical stage to the next? Bruner says that remains under-specified. He also identifies a larger omission: intersubjectivity. Piaget has little to say about how people understand one another well enough to teach, negotiate, and jointly construct a world. Culture appears mainly as a challenge to the individual, not as a shared resource.</a:t>
            </a:r>
          </a:p>
          <a:p xmlns:a="http://schemas.openxmlformats.org/drawingml/2006/main">
            <a:r>
              <a:t/>
            </a:r>
          </a:p>
          <a:p xmlns:a="http://schemas.openxmlformats.org/drawingml/2006/main">
            <a:r>
              <a:t>Personal learning statement — say naturally, not as a quotation: One thing I learned is that a theory can be very powerful at identifying the direction of development while still leaving open the mechanism that drives it.</a:t>
            </a:r>
          </a:p>
          <a:p xmlns:a="http://schemas.openxmlformats.org/drawingml/2006/main">
            <a:r>
              <a:t/>
            </a:r>
          </a:p>
          <a:p xmlns:a="http://schemas.openxmlformats.org/drawingml/2006/main">
            <a:r>
              <a:t>Transition to Juqy: That gap is precisely where Vygotsky begins. He asks how cultural tools and other people become part of an individual mind.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1 minute 40 seconds</a:t>
            </a:r>
          </a:p>
          <a:p xmlns:a="http://schemas.openxmlformats.org/drawingml/2006/main">
            <a:r>
              <a:t/>
            </a:r>
          </a:p>
          <a:p xmlns:a="http://schemas.openxmlformats.org/drawingml/2006/main">
            <a:r>
              <a:t>Vygotsky also treats the mind as a mediator, but he does not think of it as a logical calculus. For him, mind is a process for giving experience meaning. And meaning cannot be separated from language or from the cultural context in which language is used.</a:t>
            </a:r>
          </a:p>
          <a:p xmlns:a="http://schemas.openxmlformats.org/drawingml/2006/main">
            <a:r>
              <a:t/>
            </a:r>
          </a:p>
          <a:p xmlns:a="http://schemas.openxmlformats.org/drawingml/2006/main">
            <a:r>
              <a:t>Mental development, then, means mastering higher-order symbolic systems that are already embodied in culture. Bruner gives algebra and arithmetic as an example: a new symbolic system can absorb or reorganize an older one. This growth is not exclusively generated from within the child. It depends on cultural tools and continued interaction with other people.</a:t>
            </a:r>
          </a:p>
          <a:p xmlns:a="http://schemas.openxmlformats.org/drawingml/2006/main">
            <a:r>
              <a:t/>
            </a:r>
          </a:p>
          <a:p xmlns:a="http://schemas.openxmlformats.org/drawingml/2006/main">
            <a:r>
              <a:t>That produces Vygotsky’s central question: How do cultural tools that begin outside the individual become resources inside the individual’s thought?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2 minutes 10 seconds</a:t>
            </a:r>
          </a:p>
          <a:p xmlns:a="http://schemas.openxmlformats.org/drawingml/2006/main">
            <a:r>
              <a:t/>
            </a:r>
          </a:p>
          <a:p xmlns:a="http://schemas.openxmlformats.org/drawingml/2006/main">
            <a:r>
              <a:t>For Vygotsky, mental life first expresses itself in interaction with other people. Because interaction is largely mediated by speech, what the child takes in are the meanings and forms generated through verbal exchange. Those meanings are not private inventions. They are products of a broader cultural and historical system.</a:t>
            </a:r>
          </a:p>
          <a:p xmlns:a="http://schemas.openxmlformats.org/drawingml/2006/main">
            <a:r>
              <a:t/>
            </a:r>
          </a:p>
          <a:p xmlns:a="http://schemas.openxmlformats.org/drawingml/2006/main">
            <a:r>
              <a:t>Internalization is the term for this movement from outside to inside. Bruner notes that Vygotsky never fully explained the mechanism, but the idea is central. Importantly, internalization is not passive copying. Once a new structure enters thinking, it can reorganize earlier concepts and allow the person to go beyond the immediate social situation. So culture shapes the mind, but it does not simply imprison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2 minutes 10 seconds</a:t>
            </a:r>
          </a:p>
          <a:p xmlns:a="http://schemas.openxmlformats.org/drawingml/2006/main">
            <a:r>
              <a:t/>
            </a:r>
          </a:p>
          <a:p xmlns:a="http://schemas.openxmlformats.org/drawingml/2006/main">
            <a:r>
              <a:t>The Zone of Proximal Development, or ZPD, makes Vygotsky’s social view concrete. It is the gap between what a learner can do independently and what the learner can do with useful hints and help from a knowledgeable other.</a:t>
            </a:r>
          </a:p>
          <a:p xmlns:a="http://schemas.openxmlformats.org/drawingml/2006/main">
            <a:r>
              <a:t/>
            </a:r>
          </a:p>
          <a:p xmlns:a="http://schemas.openxmlformats.org/drawingml/2006/main">
            <a:r>
              <a:t>The point is not simply that help is good. The help has to be matched to the learner. Bruner lists ways pedagogy might work: shielding from distraction, foregrounding critical features, sequencing the steps, and encouraging negotiation. The tutor has to sense what the learner can almost do, and the culture has to provide shared expectations for teaching and learning.</a:t>
            </a:r>
          </a:p>
          <a:p xmlns:a="http://schemas.openxmlformats.org/drawingml/2006/main">
            <a:r>
              <a:t/>
            </a:r>
          </a:p>
          <a:p xmlns:a="http://schemas.openxmlformats.org/drawingml/2006/main">
            <a:r>
              <a:t>For Bruner, the ZPD also raises a deep evolutionary question: humans use teaching systematically. Vygotsky’s framework asks what makes teaching and being taught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2 minutes</a:t>
            </a:r>
          </a:p>
          <a:p xmlns:a="http://schemas.openxmlformats.org/drawingml/2006/main">
            <a:r>
              <a:t/>
            </a:r>
          </a:p>
          <a:p xmlns:a="http://schemas.openxmlformats.org/drawingml/2006/main">
            <a:r>
              <a:t>The learning outcome asks us to connect these theories to cognitive science. Piaget sounds closer to traditional cognitive science because he looks for formal, general operations inside an individual mind. His approach is nomothetic: it seeks general explanations that can be checked through logic and empirical testing.</a:t>
            </a:r>
          </a:p>
          <a:p xmlns:a="http://schemas.openxmlformats.org/drawingml/2006/main">
            <a:r>
              <a:t/>
            </a:r>
          </a:p>
          <a:p xmlns:a="http://schemas.openxmlformats.org/drawingml/2006/main">
            <a:r>
              <a:t>Vygotsky sounds closer to situated cognitive science because he treats meaning as inseparable from language, culture, history, and the particular interaction in which it occurs. His emphasis is interpretive rather than only explanatory.</a:t>
            </a:r>
          </a:p>
          <a:p xmlns:a="http://schemas.openxmlformats.org/drawingml/2006/main">
            <a:r>
              <a:t/>
            </a:r>
          </a:p>
          <a:p xmlns:a="http://schemas.openxmlformats.org/drawingml/2006/main">
            <a:r>
              <a:t>This should not become a caricature. Piaget did not deny cultural support, and Vygotsky did not deny development from concrete to abstract. The useful contrast is where each theory places its explanatory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1 minute 45 seconds</a:t>
            </a:r>
          </a:p>
          <a:p xmlns:a="http://schemas.openxmlformats.org/drawingml/2006/main">
            <a:r>
              <a:t/>
            </a:r>
          </a:p>
          <a:p xmlns:a="http://schemas.openxmlformats.org/drawingml/2006/main">
            <a:r>
              <a:t>Bruner does not think the right ending is to blend the two theories into one easy compromise. A good theory of development must explain two things. First, why development can be remarkably stable, resistant to even inspired instruction, and limited in transfer. Second, why it can sometimes move quickly and unexpectedly when learners have the right opportunities and collaboration.</a:t>
            </a:r>
          </a:p>
          <a:p xmlns:a="http://schemas.openxmlformats.org/drawingml/2006/main">
            <a:r>
              <a:t/>
            </a:r>
          </a:p>
          <a:p xmlns:a="http://schemas.openxmlformats.org/drawingml/2006/main">
            <a:r>
              <a:t>Piaget makes us investigate constraints and regularities. Vygotsky makes us investigate the levers of change: scaffolding, joint activity, and cultural opportunity. Bruner calls their difference fruitful because each perspective becomes a serious, informed challenge to the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JUQY — about 1 minute, then personal takeaway</a:t>
            </a:r>
          </a:p>
          <a:p xmlns:a="http://schemas.openxmlformats.org/drawingml/2006/main">
            <a:r>
              <a:t/>
            </a:r>
          </a:p>
          <a:p xmlns:a="http://schemas.openxmlformats.org/drawingml/2006/main">
            <a:r>
              <a:t>To close, Piaget gives us a powerful account of how a mind can become increasingly systematic and logically organized. Vygotsky gives us a powerful account of how a mind becomes possible through language, culture, and interaction with other people. Bruner’s point is not that one thinker cancels the other. Their divergence is productive because it prevents us from reducing development to only one kind of explanation.</a:t>
            </a:r>
          </a:p>
          <a:p xmlns:a="http://schemas.openxmlformats.org/drawingml/2006/main">
            <a:r>
              <a:t/>
            </a:r>
          </a:p>
          <a:p xmlns:a="http://schemas.openxmlformats.org/drawingml/2006/main">
            <a:r>
              <a:t>Personal learning statement — say naturally, not as a quotation: One thing I learned is that even very private thought can have a social history: language and cultural tools first appear between people and then become resources within the individual.</a:t>
            </a:r>
          </a:p>
          <a:p xmlns:a="http://schemas.openxmlformats.org/drawingml/2006/main">
            <a:r>
              <a:t/>
            </a:r>
          </a:p>
          <a:p xmlns:a="http://schemas.openxmlformats.org/drawingml/2006/main">
            <a:r>
              <a:t>Thank the audience, then remind them that the quiz link is on the first and final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e479abab064d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02f5cc07da4726" /><Relationship Type="http://schemas.openxmlformats.org/officeDocument/2006/relationships/slideLayout" Target="/ppt/slideLayouts/slideLayout1.xml" Id="Rcbdae52f821a47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dae52f821a47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96d835c76e49e1" /><Relationship Type="http://schemas.openxmlformats.org/officeDocument/2006/relationships/notesSlide" Target="/ppt/notesSlides/notesSlide1.xml" Id="Rd7b7633c9e5846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a7887c0f4e47bc" /><Relationship Type="http://schemas.openxmlformats.org/officeDocument/2006/relationships/notesSlide" Target="/ppt/notesSlides/notesSlide2.xml" Id="R24e98a2998c44f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92da5fd17144bd" /><Relationship Type="http://schemas.openxmlformats.org/officeDocument/2006/relationships/notesSlide" Target="/ppt/notesSlides/notesSlide3.xml" Id="Rb781d5379b0540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5af25984b5447c" /><Relationship Type="http://schemas.openxmlformats.org/officeDocument/2006/relationships/notesSlide" Target="/ppt/notesSlides/notesSlide4.xml" Id="Rcb06b416e47d48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e16a31d8be4a10" /><Relationship Type="http://schemas.openxmlformats.org/officeDocument/2006/relationships/notesSlide" Target="/ppt/notesSlides/notesSlide5.xml" Id="R30716e67522b45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e71d51edb24dc1" /><Relationship Type="http://schemas.openxmlformats.org/officeDocument/2006/relationships/notesSlide" Target="/ppt/notesSlides/notesSlide6.xml" Id="R08ac45905596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adff7fb3f3489d" /><Relationship Type="http://schemas.openxmlformats.org/officeDocument/2006/relationships/notesSlide" Target="/ppt/notesSlides/notesSlide7.xml" Id="R4a99822a0f6f4c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64b08628584609" /><Relationship Type="http://schemas.openxmlformats.org/officeDocument/2006/relationships/notesSlide" Target="/ppt/notesSlides/notesSlide8.xml" Id="R50f5390651da47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22640934c04eb1" /><Relationship Type="http://schemas.openxmlformats.org/officeDocument/2006/relationships/notesSlide" Target="/ppt/notesSlides/notesSlide9.xml" Id="Ra8ccc23a4aac44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e3b3a4312b4250" /><Relationship Type="http://schemas.openxmlformats.org/officeDocument/2006/relationships/notesSlide" Target="/ppt/notesSlides/notesSlide10.xml" Id="Re5cc368063f049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95285842e34024" /><Relationship Type="http://schemas.openxmlformats.org/officeDocument/2006/relationships/notesSlide" Target="/ppt/notesSlides/notesSlide11.xml" Id="R10d2b67996db49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3ea13d9951444a" /><Relationship Type="http://schemas.openxmlformats.org/officeDocument/2006/relationships/notesSlide" Target="/ppt/notesSlides/notesSlide12.xml" Id="Ra632d88d52ae4e0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3686CD-7741-43A9-A58D-FD30E61626F0}"/>
              </a:ext>
            </a:extLst>
          </p:cNvPr>
          <p:cNvSpPr>
            <a:spLocks xmlns:a="http://schemas.openxmlformats.org/drawingml/2006/main" noGrp="1"/>
          </p:cNvSpPr>
          <p:nvPr/>
        </p:nvSpPr>
        <p:spPr>
          <a:xfrm xmlns:a="http://schemas.openxmlformats.org/drawingml/2006/main">
            <a:off x="590550" y="5143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COGS 100 • WEEK 4 DAY 2 • READING 1</a:t>
            </a:r>
          </a:p>
        </p:txBody>
      </p:sp>
      <p:sp>
        <p:nvSpPr>
          <p:cNvPr id="2" name="">
            <a:extLst xmlns:a="http://schemas.openxmlformats.org/drawingml/2006/main">
              <a:ext uri="{FF2B5EF4-FFF2-40B4-BE49-F238E27FC236}">
                <a16:creationId xmlns:a16="http://schemas.microsoft.com/office/drawing/2014/main" id="{38053F9D-AE3F-4D01-BD1F-BE98E8772458}"/>
              </a:ext>
            </a:extLst>
          </p:cNvPr>
          <p:cNvSpPr>
            <a:spLocks xmlns:a="http://schemas.openxmlformats.org/drawingml/2006/main" noGrp="1"/>
          </p:cNvSpPr>
          <p:nvPr/>
        </p:nvSpPr>
        <p:spPr>
          <a:xfrm xmlns:a="http://schemas.openxmlformats.org/drawingml/2006/main">
            <a:off x="590550" y="1162050"/>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950" b="1" i="0">
                <a:solidFill>
                  <a:srgbClr val="111827"/>
                </a:solidFill>
                <a:latin typeface="Helvetica Neue"/>
                <a:ea typeface="Helvetica Neue"/>
                <a:cs typeface="Helvetica Neue"/>
              </a:defRPr>
            </a:pPr>
            <a:r>
              <a:rPr sz="4950" b="1" i="0">
                <a:solidFill>
                  <a:srgbClr val="111827"/>
                </a:solidFill>
                <a:latin typeface="Helvetica Neue"/>
                <a:ea typeface="Helvetica Neue"/>
                <a:cs typeface="Helvetica Neue"/>
              </a:rPr>
              <a:t>Celebrating</a:t>
            </a:r>
          </a:p>
          <a:p xmlns:a="http://schemas.openxmlformats.org/drawingml/2006/main">
            <a:pPr algn="l">
              <a:defRPr sz="4950" b="1" i="0">
                <a:solidFill>
                  <a:srgbClr val="111827"/>
                </a:solidFill>
                <a:latin typeface="Helvetica Neue"/>
                <a:ea typeface="Helvetica Neue"/>
                <a:cs typeface="Helvetica Neue"/>
              </a:defRPr>
            </a:pPr>
            <a:r>
              <a:rPr sz="4950" b="1" i="0">
                <a:solidFill>
                  <a:srgbClr val="111827"/>
                </a:solidFill>
                <a:latin typeface="Helvetica Neue"/>
                <a:ea typeface="Helvetica Neue"/>
                <a:cs typeface="Helvetica Neue"/>
              </a:rPr>
              <a:t>Divergence</a:t>
            </a:r>
          </a:p>
        </p:txBody>
      </p:sp>
      <p:sp>
        <p:nvSpPr>
          <p:cNvPr id="3" name="">
            <a:extLst xmlns:a="http://schemas.openxmlformats.org/drawingml/2006/main">
              <a:ext uri="{FF2B5EF4-FFF2-40B4-BE49-F238E27FC236}">
                <a16:creationId xmlns:a16="http://schemas.microsoft.com/office/drawing/2014/main" id="{BBF836F0-FB5F-4A7F-BC69-C6BB218EBB42}"/>
              </a:ext>
            </a:extLst>
          </p:cNvPr>
          <p:cNvSpPr>
            <a:spLocks xmlns:a="http://schemas.openxmlformats.org/drawingml/2006/main" noGrp="1"/>
          </p:cNvSpPr>
          <p:nvPr/>
        </p:nvSpPr>
        <p:spPr>
          <a:xfrm xmlns:a="http://schemas.openxmlformats.org/drawingml/2006/main">
            <a:off x="590550" y="3143250"/>
            <a:ext cx="590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0" i="0">
                <a:solidFill>
                  <a:srgbClr val="475569"/>
                </a:solidFill>
                <a:latin typeface="Helvetica Neue"/>
                <a:ea typeface="Helvetica Neue"/>
                <a:cs typeface="Helvetica Neue"/>
              </a:defRPr>
            </a:pPr>
            <a:r>
              <a:rPr sz="2100" b="0" i="0">
                <a:solidFill>
                  <a:srgbClr val="475569"/>
                </a:solidFill>
                <a:latin typeface="Helvetica Neue"/>
                <a:ea typeface="Helvetica Neue"/>
                <a:cs typeface="Helvetica Neue"/>
              </a:rPr>
              <a:t>Piaget and Vygotsky</a:t>
            </a:r>
          </a:p>
          <a:p xmlns:a="http://schemas.openxmlformats.org/drawingml/2006/main">
            <a:pPr algn="l">
              <a:defRPr sz="2100" b="0" i="0">
                <a:solidFill>
                  <a:srgbClr val="475569"/>
                </a:solidFill>
                <a:latin typeface="Helvetica Neue"/>
                <a:ea typeface="Helvetica Neue"/>
                <a:cs typeface="Helvetica Neue"/>
              </a:defRPr>
            </a:pPr>
            <a:r>
              <a:rPr sz="2100" b="0" i="0">
                <a:solidFill>
                  <a:srgbClr val="475569"/>
                </a:solidFill>
                <a:latin typeface="Helvetica Neue"/>
                <a:ea typeface="Helvetica Neue"/>
                <a:cs typeface="Helvetica Neue"/>
              </a:rPr>
              <a:t>Jerome Bruner</a:t>
            </a:r>
          </a:p>
        </p:txBody>
      </p:sp>
      <p:sp>
        <p:nvSpPr>
          <p:cNvPr id="4" name="">
            <a:extLst xmlns:a="http://schemas.openxmlformats.org/drawingml/2006/main">
              <a:ext uri="{FF2B5EF4-FFF2-40B4-BE49-F238E27FC236}">
                <a16:creationId xmlns:a16="http://schemas.microsoft.com/office/drawing/2014/main" id="{0CC795F1-CD81-4ACA-9DE7-6F4CD1F5EA5F}"/>
              </a:ext>
            </a:extLst>
          </p:cNvPr>
          <p:cNvSpPr>
            <a:spLocks xmlns:a="http://schemas.openxmlformats.org/drawingml/2006/main" noGrp="1"/>
          </p:cNvSpPr>
          <p:nvPr/>
        </p:nvSpPr>
        <p:spPr>
          <a:xfrm xmlns:a="http://schemas.openxmlformats.org/drawingml/2006/main">
            <a:off x="7886700" y="1009650"/>
            <a:ext cx="3143250" cy="411480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EE670F-F15D-44E7-BE60-212EA1E21B8A}"/>
              </a:ext>
            </a:extLst>
          </p:cNvPr>
          <p:cNvSpPr>
            <a:spLocks xmlns:a="http://schemas.openxmlformats.org/drawingml/2006/main" noGrp="1"/>
          </p:cNvSpPr>
          <p:nvPr/>
        </p:nvSpPr>
        <p:spPr>
          <a:xfrm xmlns:a="http://schemas.openxmlformats.org/drawingml/2006/main">
            <a:off x="8267700" y="14287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ONE QUESTION</a:t>
            </a:r>
          </a:p>
        </p:txBody>
      </p:sp>
      <p:sp>
        <p:nvSpPr>
          <p:cNvPr id="6" name="">
            <a:extLst xmlns:a="http://schemas.openxmlformats.org/drawingml/2006/main">
              <a:ext uri="{FF2B5EF4-FFF2-40B4-BE49-F238E27FC236}">
                <a16:creationId xmlns:a16="http://schemas.microsoft.com/office/drawing/2014/main" id="{3D6E4821-8139-472B-A88D-2BC998BA5900}"/>
              </a:ext>
            </a:extLst>
          </p:cNvPr>
          <p:cNvSpPr>
            <a:spLocks xmlns:a="http://schemas.openxmlformats.org/drawingml/2006/main" noGrp="1"/>
          </p:cNvSpPr>
          <p:nvPr/>
        </p:nvSpPr>
        <p:spPr>
          <a:xfrm xmlns:a="http://schemas.openxmlformats.org/drawingml/2006/main">
            <a:off x="8267700" y="1885950"/>
            <a:ext cx="2266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i="0">
                <a:solidFill>
                  <a:srgbClr val="111827"/>
                </a:solidFill>
                <a:latin typeface="Helvetica Neue"/>
                <a:ea typeface="Helvetica Neue"/>
                <a:cs typeface="Helvetica Neue"/>
              </a:defRPr>
            </a:pPr>
            <a:r>
              <a:rPr sz="2700" b="1" i="0">
                <a:solidFill>
                  <a:srgbClr val="111827"/>
                </a:solidFill>
                <a:latin typeface="Helvetica Neue"/>
                <a:ea typeface="Helvetica Neue"/>
                <a:cs typeface="Helvetica Neue"/>
              </a:rPr>
              <a:t>How does a mind grow?</a:t>
            </a:r>
          </a:p>
        </p:txBody>
      </p:sp>
      <p:sp>
        <p:nvSpPr>
          <p:cNvPr id="7" name="">
            <a:extLst xmlns:a="http://schemas.openxmlformats.org/drawingml/2006/main">
              <a:ext uri="{FF2B5EF4-FFF2-40B4-BE49-F238E27FC236}">
                <a16:creationId xmlns:a16="http://schemas.microsoft.com/office/drawing/2014/main" id="{C0EEBA61-B6F0-41E1-AE98-2FDB37DAA6BB}"/>
              </a:ext>
            </a:extLst>
          </p:cNvPr>
          <p:cNvSpPr>
            <a:spLocks xmlns:a="http://schemas.openxmlformats.org/drawingml/2006/main" noGrp="1"/>
          </p:cNvSpPr>
          <p:nvPr/>
        </p:nvSpPr>
        <p:spPr>
          <a:xfrm xmlns:a="http://schemas.openxmlformats.org/drawingml/2006/main">
            <a:off x="8267700" y="3409950"/>
            <a:ext cx="2190750"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76C790-80CB-4F3A-91B3-7690CDA7F4AC}"/>
              </a:ext>
            </a:extLst>
          </p:cNvPr>
          <p:cNvSpPr>
            <a:spLocks xmlns:a="http://schemas.openxmlformats.org/drawingml/2006/main" noGrp="1"/>
          </p:cNvSpPr>
          <p:nvPr/>
        </p:nvSpPr>
        <p:spPr>
          <a:xfrm xmlns:a="http://schemas.openxmlformats.org/drawingml/2006/main">
            <a:off x="8267700" y="3714750"/>
            <a:ext cx="2362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827"/>
                </a:solidFill>
                <a:latin typeface="Helvetica Neue"/>
                <a:ea typeface="Helvetica Neue"/>
                <a:cs typeface="Helvetica Neue"/>
              </a:defRPr>
            </a:pPr>
            <a:r>
              <a:rPr sz="1350" b="0" i="0">
                <a:solidFill>
                  <a:srgbClr val="111827"/>
                </a:solidFill>
                <a:latin typeface="Helvetica Neue"/>
                <a:ea typeface="Helvetica Neue"/>
                <a:cs typeface="Helvetica Neue"/>
              </a:rPr>
              <a:t>Group 8</a:t>
            </a:r>
          </a:p>
          <a:p xmlns:a="http://schemas.openxmlformats.org/drawingml/2006/main">
            <a:pPr algn="l">
              <a:defRPr sz="1350" b="0" i="0">
                <a:solidFill>
                  <a:srgbClr val="111827"/>
                </a:solidFill>
                <a:latin typeface="Helvetica Neue"/>
                <a:ea typeface="Helvetica Neue"/>
                <a:cs typeface="Helvetica Neue"/>
              </a:defRPr>
            </a:pPr>
            <a:r>
              <a:rPr sz="1350" b="0" i="0">
                <a:solidFill>
                  <a:srgbClr val="111827"/>
                </a:solidFill>
                <a:latin typeface="Helvetica Neue"/>
                <a:ea typeface="Helvetica Neue"/>
                <a:cs typeface="Helvetica Neue"/>
              </a:rPr>
              <a:t>Javen Cao — PID: [confirm]</a:t>
            </a:r>
          </a:p>
          <a:p xmlns:a="http://schemas.openxmlformats.org/drawingml/2006/main">
            <a:pPr algn="l">
              <a:defRPr sz="1350" b="0" i="0">
                <a:solidFill>
                  <a:srgbClr val="111827"/>
                </a:solidFill>
                <a:latin typeface="Helvetica Neue"/>
                <a:ea typeface="Helvetica Neue"/>
                <a:cs typeface="Helvetica Neue"/>
              </a:defRPr>
            </a:pPr>
            <a:r>
              <a:rPr sz="1350" b="0" i="0">
                <a:solidFill>
                  <a:srgbClr val="111827"/>
                </a:solidFill>
                <a:latin typeface="Helvetica Neue"/>
                <a:ea typeface="Helvetica Neue"/>
                <a:cs typeface="Helvetica Neue"/>
              </a:rPr>
              <a:t>Juqy Chen — PID: [confirm]</a:t>
            </a:r>
          </a:p>
        </p:txBody>
      </p:sp>
      <p:sp>
        <p:nvSpPr>
          <p:cNvPr id="9" name="">
            <a:extLst xmlns:a="http://schemas.openxmlformats.org/drawingml/2006/main">
              <a:ext uri="{FF2B5EF4-FFF2-40B4-BE49-F238E27FC236}">
                <a16:creationId xmlns:a16="http://schemas.microsoft.com/office/drawing/2014/main" id="{E0900B97-A365-42A2-B9A1-E860DB317D14}"/>
              </a:ext>
            </a:extLst>
          </p:cNvPr>
          <p:cNvSpPr>
            <a:spLocks xmlns:a="http://schemas.openxmlformats.org/drawingml/2006/main" noGrp="1"/>
          </p:cNvSpPr>
          <p:nvPr/>
        </p:nvSpPr>
        <p:spPr>
          <a:xfrm xmlns:a="http://schemas.openxmlformats.org/drawingml/2006/main">
            <a:off x="590550" y="5657850"/>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2563EB"/>
                </a:solidFill>
                <a:latin typeface="Helvetica Neue"/>
                <a:ea typeface="Helvetica Neue"/>
                <a:cs typeface="Helvetica Neue"/>
              </a:defRPr>
            </a:pPr>
            <a:r>
              <a:rPr sz="1350" b="1" i="0">
                <a:solidFill>
                  <a:srgbClr val="2563EB"/>
                </a:solidFill>
                <a:latin typeface="Helvetica Neue"/>
                <a:ea typeface="Helvetica Neue"/>
                <a:cs typeface="Helvetica Neue"/>
              </a:rPr>
              <a:t>Quiz: tinyurl.com/cogs100-group8-quiz</a:t>
            </a:r>
          </a:p>
        </p:txBody>
      </p:sp>
      <p:sp>
        <p:nvSpPr>
          <p:cNvPr id="10" name="">
            <a:extLst xmlns:a="http://schemas.openxmlformats.org/drawingml/2006/main">
              <a:ext uri="{FF2B5EF4-FFF2-40B4-BE49-F238E27FC236}">
                <a16:creationId xmlns:a16="http://schemas.microsoft.com/office/drawing/2014/main" id="{EFDF2CAA-DFC5-4B4C-B47A-4ED1B8767657}"/>
              </a:ext>
            </a:extLst>
          </p:cNvPr>
          <p:cNvSpPr>
            <a:spLocks xmlns:a="http://schemas.openxmlformats.org/drawingml/2006/main" noGrp="1"/>
          </p:cNvSpPr>
          <p:nvPr/>
        </p:nvSpPr>
        <p:spPr>
          <a:xfrm xmlns:a="http://schemas.openxmlformats.org/drawingml/2006/main">
            <a:off x="590550" y="5981700"/>
            <a:ext cx="542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475569"/>
                </a:solidFill>
                <a:latin typeface="Helvetica Neue"/>
                <a:ea typeface="Helvetica Neue"/>
                <a:cs typeface="Helvetica Neue"/>
              </a:defRPr>
            </a:pPr>
            <a:r>
              <a:rPr sz="1125" b="0" i="0">
                <a:solidFill>
                  <a:srgbClr val="475569"/>
                </a:solidFill>
                <a:latin typeface="Helvetica Neue"/>
                <a:ea typeface="Helvetica Neue"/>
                <a:cs typeface="Helvetica Neue"/>
              </a:rPr>
              <a:t>Quiz answers come directly from this presentation.</a:t>
            </a:r>
          </a:p>
        </p:txBody>
      </p:sp>
    </p:spTree>
    <p:extLst>
      <p:ext uri="{BB962C8B-B14F-4D97-AF65-F5344CB8AC3E}">
        <p14:creationId xmlns:p14="http://schemas.microsoft.com/office/powerpoint/2010/main" val="7400723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9BECD4-5E2D-4658-A1AD-3FDBE440B0F1}"/>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AE4BB69B-1DCA-4E04-89D7-700A2C87917C}"/>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958"/>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Humans do more than adapt — we make accounts of the world</a:t>
            </a:r>
          </a:p>
        </p:txBody>
      </p:sp>
      <p:sp>
        <p:nvSpPr>
          <p:cNvPr id="3" name="">
            <a:extLst xmlns:a="http://schemas.openxmlformats.org/drawingml/2006/main">
              <a:ext uri="{FF2B5EF4-FFF2-40B4-BE49-F238E27FC236}">
                <a16:creationId xmlns:a16="http://schemas.microsoft.com/office/drawing/2014/main" id="{20C55CCB-8D3E-4989-A447-B72D857B6D59}"/>
              </a:ext>
            </a:extLst>
          </p:cNvPr>
          <p:cNvSpPr>
            <a:spLocks xmlns:a="http://schemas.openxmlformats.org/drawingml/2006/main" noGrp="1"/>
          </p:cNvSpPr>
          <p:nvPr/>
        </p:nvSpPr>
        <p:spPr>
          <a:xfrm xmlns:a="http://schemas.openxmlformats.org/drawingml/2006/main">
            <a:off x="590550" y="1676400"/>
            <a:ext cx="4953000" cy="3143250"/>
          </a:xfrm>
          <a:prstGeom xmlns:a="http://schemas.openxmlformats.org/drawingml/2006/main" prst="rect">
            <a:avLst/>
          </a:prstGeom>
          <a:solidFill xmlns:a="http://schemas.openxmlformats.org/drawingml/2006/main">
            <a:srgbClr val="FEF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D460A6-62E6-4139-A897-659FB71759AA}"/>
              </a:ext>
            </a:extLst>
          </p:cNvPr>
          <p:cNvSpPr>
            <a:spLocks xmlns:a="http://schemas.openxmlformats.org/drawingml/2006/main" noGrp="1"/>
          </p:cNvSpPr>
          <p:nvPr/>
        </p:nvSpPr>
        <p:spPr>
          <a:xfrm xmlns:a="http://schemas.openxmlformats.org/drawingml/2006/main">
            <a:off x="952500" y="2038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A16207"/>
                </a:solidFill>
                <a:latin typeface="Helvetica Neue"/>
                <a:ea typeface="Helvetica Neue"/>
                <a:cs typeface="Helvetica Neue"/>
              </a:defRPr>
            </a:pPr>
            <a:r>
              <a:rPr sz="1125" b="1" i="0">
                <a:solidFill>
                  <a:srgbClr val="A16207"/>
                </a:solidFill>
                <a:latin typeface="Helvetica Neue"/>
                <a:ea typeface="Helvetica Neue"/>
                <a:cs typeface="Helvetica Neue"/>
              </a:rPr>
              <a:t>WE ADAPT</a:t>
            </a:r>
          </a:p>
        </p:txBody>
      </p:sp>
      <p:sp>
        <p:nvSpPr>
          <p:cNvPr id="5" name="">
            <a:extLst xmlns:a="http://schemas.openxmlformats.org/drawingml/2006/main">
              <a:ext uri="{FF2B5EF4-FFF2-40B4-BE49-F238E27FC236}">
                <a16:creationId xmlns:a16="http://schemas.microsoft.com/office/drawing/2014/main" id="{E739BF60-1BF3-4C2A-B32A-28B569B4635C}"/>
              </a:ext>
            </a:extLst>
          </p:cNvPr>
          <p:cNvSpPr>
            <a:spLocks xmlns:a="http://schemas.openxmlformats.org/drawingml/2006/main" noGrp="1"/>
          </p:cNvSpPr>
          <p:nvPr/>
        </p:nvSpPr>
        <p:spPr>
          <a:xfrm xmlns:a="http://schemas.openxmlformats.org/drawingml/2006/main">
            <a:off x="952500" y="2476500"/>
            <a:ext cx="3390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111827"/>
                </a:solidFill>
                <a:latin typeface="Helvetica Neue"/>
                <a:ea typeface="Helvetica Neue"/>
                <a:cs typeface="Helvetica Neue"/>
              </a:defRPr>
            </a:pPr>
            <a:r>
              <a:rPr sz="2550" b="1" i="0">
                <a:solidFill>
                  <a:srgbClr val="111827"/>
                </a:solidFill>
                <a:latin typeface="Helvetica Neue"/>
                <a:ea typeface="Helvetica Neue"/>
                <a:cs typeface="Helvetica Neue"/>
              </a:rPr>
              <a:t>We act in natural</a:t>
            </a:r>
          </a:p>
          <a:p xmlns:a="http://schemas.openxmlformats.org/drawingml/2006/main">
            <a:pPr algn="l">
              <a:defRPr sz="2550" b="1" i="0">
                <a:solidFill>
                  <a:srgbClr val="111827"/>
                </a:solidFill>
                <a:latin typeface="Helvetica Neue"/>
                <a:ea typeface="Helvetica Neue"/>
                <a:cs typeface="Helvetica Neue"/>
              </a:defRPr>
            </a:pPr>
            <a:r>
              <a:rPr sz="2550" b="1" i="0">
                <a:solidFill>
                  <a:srgbClr val="111827"/>
                </a:solidFill>
                <a:latin typeface="Helvetica Neue"/>
                <a:ea typeface="Helvetica Neue"/>
                <a:cs typeface="Helvetica Neue"/>
              </a:rPr>
              <a:t>and social worlds.</a:t>
            </a:r>
          </a:p>
        </p:txBody>
      </p:sp>
      <p:sp>
        <p:nvSpPr>
          <p:cNvPr id="6" name="">
            <a:extLst xmlns:a="http://schemas.openxmlformats.org/drawingml/2006/main">
              <a:ext uri="{FF2B5EF4-FFF2-40B4-BE49-F238E27FC236}">
                <a16:creationId xmlns:a16="http://schemas.microsoft.com/office/drawing/2014/main" id="{EBBE552C-2F56-4C50-B09B-53660A0C74B5}"/>
              </a:ext>
            </a:extLst>
          </p:cNvPr>
          <p:cNvSpPr>
            <a:spLocks xmlns:a="http://schemas.openxmlformats.org/drawingml/2006/main" noGrp="1"/>
          </p:cNvSpPr>
          <p:nvPr/>
        </p:nvSpPr>
        <p:spPr>
          <a:xfrm xmlns:a="http://schemas.openxmlformats.org/drawingml/2006/main">
            <a:off x="952500" y="382905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475569"/>
                </a:solidFill>
                <a:latin typeface="Helvetica Neue"/>
                <a:ea typeface="Helvetica Neue"/>
                <a:cs typeface="Helvetica Neue"/>
              </a:defRPr>
            </a:pPr>
            <a:r>
              <a:rPr sz="1500" b="0" i="0">
                <a:solidFill>
                  <a:srgbClr val="475569"/>
                </a:solidFill>
                <a:latin typeface="Helvetica Neue"/>
                <a:ea typeface="Helvetica Neue"/>
                <a:cs typeface="Helvetica Neue"/>
              </a:rPr>
              <a:t>Action helps us fit our behavior to the world around us.</a:t>
            </a:r>
          </a:p>
        </p:txBody>
      </p:sp>
      <p:sp>
        <p:nvSpPr>
          <p:cNvPr id="7" name="">
            <a:extLst xmlns:a="http://schemas.openxmlformats.org/drawingml/2006/main">
              <a:ext uri="{FF2B5EF4-FFF2-40B4-BE49-F238E27FC236}">
                <a16:creationId xmlns:a16="http://schemas.microsoft.com/office/drawing/2014/main" id="{087FCA68-7552-4DB3-AE36-7C5B952F81CF}"/>
              </a:ext>
            </a:extLst>
          </p:cNvPr>
          <p:cNvSpPr>
            <a:spLocks xmlns:a="http://schemas.openxmlformats.org/drawingml/2006/main" noGrp="1"/>
          </p:cNvSpPr>
          <p:nvPr/>
        </p:nvSpPr>
        <p:spPr>
          <a:xfrm xmlns:a="http://schemas.openxmlformats.org/drawingml/2006/main">
            <a:off x="6000750" y="1676400"/>
            <a:ext cx="5600700" cy="314325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E2E57C-E25A-4D66-8300-AA09DC8D94E9}"/>
              </a:ext>
            </a:extLst>
          </p:cNvPr>
          <p:cNvSpPr>
            <a:spLocks xmlns:a="http://schemas.openxmlformats.org/drawingml/2006/main" noGrp="1"/>
          </p:cNvSpPr>
          <p:nvPr/>
        </p:nvSpPr>
        <p:spPr>
          <a:xfrm xmlns:a="http://schemas.openxmlformats.org/drawingml/2006/main">
            <a:off x="6381750" y="20383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WE ALSO INTERPRET</a:t>
            </a:r>
          </a:p>
        </p:txBody>
      </p:sp>
      <p:sp>
        <p:nvSpPr>
          <p:cNvPr id="9" name="">
            <a:extLst xmlns:a="http://schemas.openxmlformats.org/drawingml/2006/main">
              <a:ext uri="{FF2B5EF4-FFF2-40B4-BE49-F238E27FC236}">
                <a16:creationId xmlns:a16="http://schemas.microsoft.com/office/drawing/2014/main" id="{0670DD45-387B-42BF-840F-CFE5AD5EE1D0}"/>
              </a:ext>
            </a:extLst>
          </p:cNvPr>
          <p:cNvSpPr>
            <a:spLocks xmlns:a="http://schemas.openxmlformats.org/drawingml/2006/main" noGrp="1"/>
          </p:cNvSpPr>
          <p:nvPr/>
        </p:nvSpPr>
        <p:spPr>
          <a:xfrm xmlns:a="http://schemas.openxmlformats.org/drawingml/2006/main">
            <a:off x="6381750" y="2476500"/>
            <a:ext cx="3886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111827"/>
                </a:solidFill>
                <a:latin typeface="Helvetica Neue"/>
                <a:ea typeface="Helvetica Neue"/>
                <a:cs typeface="Helvetica Neue"/>
              </a:defRPr>
            </a:pPr>
            <a:r>
              <a:rPr sz="2550" b="1" i="0">
                <a:solidFill>
                  <a:srgbClr val="111827"/>
                </a:solidFill>
                <a:latin typeface="Helvetica Neue"/>
                <a:ea typeface="Helvetica Neue"/>
                <a:cs typeface="Helvetica Neue"/>
              </a:rPr>
              <a:t>We build theories</a:t>
            </a:r>
          </a:p>
          <a:p xmlns:a="http://schemas.openxmlformats.org/drawingml/2006/main">
            <a:pPr algn="l">
              <a:defRPr sz="2550" b="1" i="0">
                <a:solidFill>
                  <a:srgbClr val="111827"/>
                </a:solidFill>
                <a:latin typeface="Helvetica Neue"/>
                <a:ea typeface="Helvetica Neue"/>
                <a:cs typeface="Helvetica Neue"/>
              </a:defRPr>
            </a:pPr>
            <a:r>
              <a:rPr sz="2550" b="1" i="0">
                <a:solidFill>
                  <a:srgbClr val="111827"/>
                </a:solidFill>
                <a:latin typeface="Helvetica Neue"/>
                <a:ea typeface="Helvetica Neue"/>
                <a:cs typeface="Helvetica Neue"/>
              </a:rPr>
              <a:t>and stories.</a:t>
            </a:r>
          </a:p>
        </p:txBody>
      </p:sp>
      <p:sp>
        <p:nvSpPr>
          <p:cNvPr id="10" name="">
            <a:extLst xmlns:a="http://schemas.openxmlformats.org/drawingml/2006/main">
              <a:ext uri="{FF2B5EF4-FFF2-40B4-BE49-F238E27FC236}">
                <a16:creationId xmlns:a16="http://schemas.microsoft.com/office/drawing/2014/main" id="{7BC03FEB-8593-4E89-B536-C9755F026E12}"/>
              </a:ext>
            </a:extLst>
          </p:cNvPr>
          <p:cNvSpPr>
            <a:spLocks xmlns:a="http://schemas.openxmlformats.org/drawingml/2006/main" noGrp="1"/>
          </p:cNvSpPr>
          <p:nvPr/>
        </p:nvSpPr>
        <p:spPr>
          <a:xfrm xmlns:a="http://schemas.openxmlformats.org/drawingml/2006/main">
            <a:off x="6381750" y="38290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475569"/>
                </a:solidFill>
                <a:latin typeface="Helvetica Neue"/>
                <a:ea typeface="Helvetica Neue"/>
                <a:cs typeface="Helvetica Neue"/>
              </a:defRPr>
            </a:pPr>
            <a:r>
              <a:rPr sz="1500" b="0" i="0">
                <a:solidFill>
                  <a:srgbClr val="475569"/>
                </a:solidFill>
                <a:latin typeface="Helvetica Neue"/>
                <a:ea typeface="Helvetica Neue"/>
                <a:cs typeface="Helvetica Neue"/>
              </a:rPr>
              <a:t>These help us understand and explain both the world and our own actions.</a:t>
            </a:r>
          </a:p>
        </p:txBody>
      </p:sp>
      <p:sp>
        <p:nvSpPr>
          <p:cNvPr id="11" name="">
            <a:extLst xmlns:a="http://schemas.openxmlformats.org/drawingml/2006/main">
              <a:ext uri="{FF2B5EF4-FFF2-40B4-BE49-F238E27FC236}">
                <a16:creationId xmlns:a16="http://schemas.microsoft.com/office/drawing/2014/main" id="{80ED7ED4-17A9-494D-A9CB-ADD2500C20D4}"/>
              </a:ext>
            </a:extLst>
          </p:cNvPr>
          <p:cNvSpPr>
            <a:spLocks xmlns:a="http://schemas.openxmlformats.org/drawingml/2006/main" noGrp="1"/>
          </p:cNvSpPr>
          <p:nvPr/>
        </p:nvSpPr>
        <p:spPr>
          <a:xfrm xmlns:a="http://schemas.openxmlformats.org/drawingml/2006/main">
            <a:off x="590550" y="53816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Bruner’s paper asks how development makes this second capacity possible.</a:t>
            </a:r>
          </a:p>
        </p:txBody>
      </p:sp>
      <p:sp>
        <p:nvSpPr>
          <p:cNvPr id="12" name="">
            <a:extLst xmlns:a="http://schemas.openxmlformats.org/drawingml/2006/main">
              <a:ext uri="{FF2B5EF4-FFF2-40B4-BE49-F238E27FC236}">
                <a16:creationId xmlns:a16="http://schemas.microsoft.com/office/drawing/2014/main" id="{CEF43E29-044A-4CA1-84E0-7BAE81860181}"/>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18B38C-A550-4337-A826-CBB24177E1C4}"/>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 64. Slide wording is paraphrased.</a:t>
            </a:r>
          </a:p>
        </p:txBody>
      </p:sp>
      <p:sp>
        <p:nvSpPr>
          <p:cNvPr id="14" name="">
            <a:extLst xmlns:a="http://schemas.openxmlformats.org/drawingml/2006/main">
              <a:ext uri="{FF2B5EF4-FFF2-40B4-BE49-F238E27FC236}">
                <a16:creationId xmlns:a16="http://schemas.microsoft.com/office/drawing/2014/main" id="{0C1DAAB0-D7B7-4EC3-9A14-BA859729F6E3}"/>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02</a:t>
            </a:r>
          </a:p>
        </p:txBody>
      </p:sp>
    </p:spTree>
    <p:extLst>
      <p:ext uri="{BB962C8B-B14F-4D97-AF65-F5344CB8AC3E}">
        <p14:creationId xmlns:p14="http://schemas.microsoft.com/office/powerpoint/2010/main" val="1060212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EF7E8C-6055-4D42-B641-D0B18F88E4BB}"/>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A2A0D2BC-0442-49C3-B22A-DB5079DDC1A3}"/>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Piaget and Vygotsky answer the same question differently</a:t>
            </a:r>
          </a:p>
        </p:txBody>
      </p:sp>
      <p:sp>
        <p:nvSpPr>
          <p:cNvPr id="3" name="">
            <a:extLst xmlns:a="http://schemas.openxmlformats.org/drawingml/2006/main">
              <a:ext uri="{FF2B5EF4-FFF2-40B4-BE49-F238E27FC236}">
                <a16:creationId xmlns:a16="http://schemas.microsoft.com/office/drawing/2014/main" id="{83732D94-A45A-4320-B1E7-8D1C61B6F6B4}"/>
              </a:ext>
            </a:extLst>
          </p:cNvPr>
          <p:cNvSpPr>
            <a:spLocks xmlns:a="http://schemas.openxmlformats.org/drawingml/2006/main" noGrp="1"/>
          </p:cNvSpPr>
          <p:nvPr/>
        </p:nvSpPr>
        <p:spPr>
          <a:xfrm xmlns:a="http://schemas.openxmlformats.org/drawingml/2006/main">
            <a:off x="590550" y="1352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475569"/>
                </a:solidFill>
                <a:latin typeface="Helvetica Neue"/>
                <a:ea typeface="Helvetica Neue"/>
                <a:cs typeface="Helvetica Neue"/>
              </a:defRPr>
            </a:pPr>
            <a:r>
              <a:rPr sz="1650" b="0" i="0">
                <a:solidFill>
                  <a:srgbClr val="475569"/>
                </a:solidFill>
                <a:latin typeface="Helvetica Neue"/>
                <a:ea typeface="Helvetica Neue"/>
                <a:cs typeface="Helvetica Neue"/>
              </a:rPr>
              <a:t>Shared premise: the mind mediates between the external world and individual experience.</a:t>
            </a:r>
          </a:p>
        </p:txBody>
      </p:sp>
      <p:sp>
        <p:nvSpPr>
          <p:cNvPr id="4" name="">
            <a:extLst xmlns:a="http://schemas.openxmlformats.org/drawingml/2006/main">
              <a:ext uri="{FF2B5EF4-FFF2-40B4-BE49-F238E27FC236}">
                <a16:creationId xmlns:a16="http://schemas.microsoft.com/office/drawing/2014/main" id="{C497A86C-3C02-4125-AB76-3D30E1D55F8D}"/>
              </a:ext>
            </a:extLst>
          </p:cNvPr>
          <p:cNvSpPr>
            <a:spLocks xmlns:a="http://schemas.openxmlformats.org/drawingml/2006/main" noGrp="1"/>
          </p:cNvSpPr>
          <p:nvPr/>
        </p:nvSpPr>
        <p:spPr>
          <a:xfrm xmlns:a="http://schemas.openxmlformats.org/drawingml/2006/main">
            <a:off x="590550" y="2152650"/>
            <a:ext cx="5048250" cy="272415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0D9891-9F3D-4CF1-85B9-0BC4073C3B91}"/>
              </a:ext>
            </a:extLst>
          </p:cNvPr>
          <p:cNvSpPr>
            <a:spLocks xmlns:a="http://schemas.openxmlformats.org/drawingml/2006/main" noGrp="1"/>
          </p:cNvSpPr>
          <p:nvPr/>
        </p:nvSpPr>
        <p:spPr>
          <a:xfrm xmlns:a="http://schemas.openxmlformats.org/drawingml/2006/main">
            <a:off x="971550" y="25336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PIAGET</a:t>
            </a:r>
          </a:p>
        </p:txBody>
      </p:sp>
      <p:sp>
        <p:nvSpPr>
          <p:cNvPr id="6" name="">
            <a:extLst xmlns:a="http://schemas.openxmlformats.org/drawingml/2006/main">
              <a:ext uri="{FF2B5EF4-FFF2-40B4-BE49-F238E27FC236}">
                <a16:creationId xmlns:a16="http://schemas.microsoft.com/office/drawing/2014/main" id="{DC64EA5F-C62F-4F6E-958A-84D08A97E292}"/>
              </a:ext>
            </a:extLst>
          </p:cNvPr>
          <p:cNvSpPr>
            <a:spLocks xmlns:a="http://schemas.openxmlformats.org/drawingml/2006/main" noGrp="1"/>
          </p:cNvSpPr>
          <p:nvPr/>
        </p:nvSpPr>
        <p:spPr>
          <a:xfrm xmlns:a="http://schemas.openxmlformats.org/drawingml/2006/main">
            <a:off x="971550" y="2971800"/>
            <a:ext cx="3429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88"/>
          </a:bodyPr>
          <a:lstStyle xmlns:a="http://schemas.openxmlformats.org/drawingml/2006/main"/>
          <a:p xmlns:a="http://schemas.openxmlformats.org/drawingml/2006/main">
            <a:pPr algn="l">
              <a:defRPr sz="2250" b="1" i="0">
                <a:solidFill>
                  <a:srgbClr val="111827"/>
                </a:solidFill>
                <a:latin typeface="Helvetica Neue"/>
                <a:ea typeface="Helvetica Neue"/>
                <a:cs typeface="Helvetica Neue"/>
              </a:defRPr>
            </a:pPr>
            <a:r>
              <a:rPr sz="2250" b="1" i="0">
                <a:solidFill>
                  <a:srgbClr val="111827"/>
                </a:solidFill>
                <a:latin typeface="Helvetica Neue"/>
                <a:ea typeface="Helvetica Neue"/>
                <a:cs typeface="Helvetica Neue"/>
              </a:rPr>
              <a:t>How do logic-like operations organize knowledge?</a:t>
            </a:r>
          </a:p>
        </p:txBody>
      </p:sp>
      <p:sp>
        <p:nvSpPr>
          <p:cNvPr id="7" name="">
            <a:extLst xmlns:a="http://schemas.openxmlformats.org/drawingml/2006/main">
              <a:ext uri="{FF2B5EF4-FFF2-40B4-BE49-F238E27FC236}">
                <a16:creationId xmlns:a16="http://schemas.microsoft.com/office/drawing/2014/main" id="{F265AAB7-7D70-4C49-85CE-99CC016F7DF2}"/>
              </a:ext>
            </a:extLst>
          </p:cNvPr>
          <p:cNvSpPr>
            <a:spLocks xmlns:a="http://schemas.openxmlformats.org/drawingml/2006/main" noGrp="1"/>
          </p:cNvSpPr>
          <p:nvPr/>
        </p:nvSpPr>
        <p:spPr>
          <a:xfrm xmlns:a="http://schemas.openxmlformats.org/drawingml/2006/main">
            <a:off x="971550" y="4095750"/>
            <a:ext cx="3543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475569"/>
                </a:solidFill>
                <a:latin typeface="Helvetica Neue"/>
                <a:ea typeface="Helvetica Neue"/>
                <a:cs typeface="Helvetica Neue"/>
              </a:defRPr>
            </a:pPr>
            <a:r>
              <a:rPr sz="1500" b="0" i="0">
                <a:solidFill>
                  <a:srgbClr val="475569"/>
                </a:solidFill>
                <a:latin typeface="Helvetica Neue"/>
                <a:ea typeface="Helvetica Neue"/>
                <a:cs typeface="Helvetica Neue"/>
              </a:rPr>
              <a:t>Development is the growth of more powerful structures of thought.</a:t>
            </a:r>
          </a:p>
        </p:txBody>
      </p:sp>
      <p:sp>
        <p:nvSpPr>
          <p:cNvPr id="8" name="">
            <a:extLst xmlns:a="http://schemas.openxmlformats.org/drawingml/2006/main">
              <a:ext uri="{FF2B5EF4-FFF2-40B4-BE49-F238E27FC236}">
                <a16:creationId xmlns:a16="http://schemas.microsoft.com/office/drawing/2014/main" id="{4727FB82-2361-4772-B5E6-FC8C6733DEDC}"/>
              </a:ext>
            </a:extLst>
          </p:cNvPr>
          <p:cNvSpPr>
            <a:spLocks xmlns:a="http://schemas.openxmlformats.org/drawingml/2006/main" noGrp="1"/>
          </p:cNvSpPr>
          <p:nvPr/>
        </p:nvSpPr>
        <p:spPr>
          <a:xfrm xmlns:a="http://schemas.openxmlformats.org/drawingml/2006/main">
            <a:off x="6553200" y="2152650"/>
            <a:ext cx="5048250" cy="272415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855B88-6FE6-4EEA-B628-7CB632D410A0}"/>
              </a:ext>
            </a:extLst>
          </p:cNvPr>
          <p:cNvSpPr>
            <a:spLocks xmlns:a="http://schemas.openxmlformats.org/drawingml/2006/main" noGrp="1"/>
          </p:cNvSpPr>
          <p:nvPr/>
        </p:nvSpPr>
        <p:spPr>
          <a:xfrm xmlns:a="http://schemas.openxmlformats.org/drawingml/2006/main">
            <a:off x="6934200" y="25336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VYGOTSKY</a:t>
            </a:r>
          </a:p>
        </p:txBody>
      </p:sp>
      <p:sp>
        <p:nvSpPr>
          <p:cNvPr id="10" name="">
            <a:extLst xmlns:a="http://schemas.openxmlformats.org/drawingml/2006/main">
              <a:ext uri="{FF2B5EF4-FFF2-40B4-BE49-F238E27FC236}">
                <a16:creationId xmlns:a16="http://schemas.microsoft.com/office/drawing/2014/main" id="{B5045C3F-A6C9-4B10-9977-E50B0F4BC007}"/>
              </a:ext>
            </a:extLst>
          </p:cNvPr>
          <p:cNvSpPr>
            <a:spLocks xmlns:a="http://schemas.openxmlformats.org/drawingml/2006/main" noGrp="1"/>
          </p:cNvSpPr>
          <p:nvPr/>
        </p:nvSpPr>
        <p:spPr>
          <a:xfrm xmlns:a="http://schemas.openxmlformats.org/drawingml/2006/main">
            <a:off x="6934200" y="2971800"/>
            <a:ext cx="352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495"/>
          </a:bodyPr>
          <a:lstStyle xmlns:a="http://schemas.openxmlformats.org/drawingml/2006/main"/>
          <a:p xmlns:a="http://schemas.openxmlformats.org/drawingml/2006/main">
            <a:pPr algn="l">
              <a:defRPr sz="2250" b="1" i="0">
                <a:solidFill>
                  <a:srgbClr val="111827"/>
                </a:solidFill>
                <a:latin typeface="Helvetica Neue"/>
                <a:ea typeface="Helvetica Neue"/>
                <a:cs typeface="Helvetica Neue"/>
              </a:defRPr>
            </a:pPr>
            <a:r>
              <a:rPr sz="2250" b="1" i="0">
                <a:solidFill>
                  <a:srgbClr val="111827"/>
                </a:solidFill>
                <a:latin typeface="Helvetica Neue"/>
                <a:ea typeface="Helvetica Neue"/>
                <a:cs typeface="Helvetica Neue"/>
              </a:rPr>
              <a:t>How do culture and language become tools of thought?</a:t>
            </a:r>
          </a:p>
        </p:txBody>
      </p:sp>
      <p:sp>
        <p:nvSpPr>
          <p:cNvPr id="11" name="">
            <a:extLst xmlns:a="http://schemas.openxmlformats.org/drawingml/2006/main">
              <a:ext uri="{FF2B5EF4-FFF2-40B4-BE49-F238E27FC236}">
                <a16:creationId xmlns:a16="http://schemas.microsoft.com/office/drawing/2014/main" id="{8C811E42-C9C0-4A82-8CA0-5F8D938B1377}"/>
              </a:ext>
            </a:extLst>
          </p:cNvPr>
          <p:cNvSpPr>
            <a:spLocks xmlns:a="http://schemas.openxmlformats.org/drawingml/2006/main" noGrp="1"/>
          </p:cNvSpPr>
          <p:nvPr/>
        </p:nvSpPr>
        <p:spPr>
          <a:xfrm xmlns:a="http://schemas.openxmlformats.org/drawingml/2006/main">
            <a:off x="6934200" y="409575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475569"/>
                </a:solidFill>
                <a:latin typeface="Helvetica Neue"/>
                <a:ea typeface="Helvetica Neue"/>
                <a:cs typeface="Helvetica Neue"/>
              </a:defRPr>
            </a:pPr>
            <a:r>
              <a:rPr sz="1500" b="0" i="0">
                <a:solidFill>
                  <a:srgbClr val="475569"/>
                </a:solidFill>
                <a:latin typeface="Helvetica Neue"/>
                <a:ea typeface="Helvetica Neue"/>
                <a:cs typeface="Helvetica Neue"/>
              </a:rPr>
              <a:t>Development is the mastery of culturally embodied symbolic systems.</a:t>
            </a:r>
          </a:p>
        </p:txBody>
      </p:sp>
      <p:sp>
        <p:nvSpPr>
          <p:cNvPr id="12" name="">
            <a:extLst xmlns:a="http://schemas.openxmlformats.org/drawingml/2006/main">
              <a:ext uri="{FF2B5EF4-FFF2-40B4-BE49-F238E27FC236}">
                <a16:creationId xmlns:a16="http://schemas.microsoft.com/office/drawing/2014/main" id="{CE69B2F5-E767-45E6-9E08-27F011B7507E}"/>
              </a:ext>
            </a:extLst>
          </p:cNvPr>
          <p:cNvSpPr>
            <a:spLocks xmlns:a="http://schemas.openxmlformats.org/drawingml/2006/main" noGrp="1"/>
          </p:cNvSpPr>
          <p:nvPr/>
        </p:nvSpPr>
        <p:spPr>
          <a:xfrm xmlns:a="http://schemas.openxmlformats.org/drawingml/2006/main">
            <a:off x="590550" y="53721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The disagreement is productive: it reveals two ways of studying development.</a:t>
            </a:r>
          </a:p>
        </p:txBody>
      </p:sp>
      <p:sp>
        <p:nvSpPr>
          <p:cNvPr id="13" name="">
            <a:extLst xmlns:a="http://schemas.openxmlformats.org/drawingml/2006/main">
              <a:ext uri="{FF2B5EF4-FFF2-40B4-BE49-F238E27FC236}">
                <a16:creationId xmlns:a16="http://schemas.microsoft.com/office/drawing/2014/main" id="{DC37D443-8B9B-4C72-84F0-2F36970ADE5B}"/>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551983-8C14-4500-8594-0148D81A4F89}"/>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65, 68, 70–72. Slide wording is paraphrased.</a:t>
            </a:r>
          </a:p>
        </p:txBody>
      </p:sp>
      <p:sp>
        <p:nvSpPr>
          <p:cNvPr id="15" name="">
            <a:extLst xmlns:a="http://schemas.openxmlformats.org/drawingml/2006/main">
              <a:ext uri="{FF2B5EF4-FFF2-40B4-BE49-F238E27FC236}">
                <a16:creationId xmlns:a16="http://schemas.microsoft.com/office/drawing/2014/main" id="{AF84BA51-F710-4EB2-B655-4961A3086D61}"/>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03</a:t>
            </a:r>
          </a:p>
        </p:txBody>
      </p:sp>
    </p:spTree>
    <p:extLst>
      <p:ext uri="{BB962C8B-B14F-4D97-AF65-F5344CB8AC3E}">
        <p14:creationId xmlns:p14="http://schemas.microsoft.com/office/powerpoint/2010/main" val="1789459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A0667A3-1E32-4345-B594-859682E5E65C}"/>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0010DE44-9111-42FC-AE9C-2341E5CB5A1F}"/>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047"/>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For Piaget, the mind organizes experience through logic-like operations</a:t>
            </a:r>
          </a:p>
        </p:txBody>
      </p:sp>
      <p:sp>
        <p:nvSpPr>
          <p:cNvPr id="3" name="">
            <a:extLst xmlns:a="http://schemas.openxmlformats.org/drawingml/2006/main">
              <a:ext uri="{FF2B5EF4-FFF2-40B4-BE49-F238E27FC236}">
                <a16:creationId xmlns:a16="http://schemas.microsoft.com/office/drawing/2014/main" id="{0D43AC9B-A11E-4F68-A32F-400E5E974A2E}"/>
              </a:ext>
            </a:extLst>
          </p:cNvPr>
          <p:cNvSpPr>
            <a:spLocks xmlns:a="http://schemas.openxmlformats.org/drawingml/2006/main" noGrp="1"/>
          </p:cNvSpPr>
          <p:nvPr/>
        </p:nvSpPr>
        <p:spPr>
          <a:xfrm xmlns:a="http://schemas.openxmlformats.org/drawingml/2006/main">
            <a:off x="590550" y="1809750"/>
            <a:ext cx="2609850" cy="16192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C23288-FC7E-4E66-BA74-FA4415B2669B}"/>
              </a:ext>
            </a:extLst>
          </p:cNvPr>
          <p:cNvSpPr>
            <a:spLocks xmlns:a="http://schemas.openxmlformats.org/drawingml/2006/main" noGrp="1"/>
          </p:cNvSpPr>
          <p:nvPr/>
        </p:nvSpPr>
        <p:spPr>
          <a:xfrm xmlns:a="http://schemas.openxmlformats.org/drawingml/2006/main">
            <a:off x="876300" y="2152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WORLD + ACTION</a:t>
            </a:r>
          </a:p>
        </p:txBody>
      </p:sp>
      <p:sp>
        <p:nvSpPr>
          <p:cNvPr id="5" name="">
            <a:extLst xmlns:a="http://schemas.openxmlformats.org/drawingml/2006/main">
              <a:ext uri="{FF2B5EF4-FFF2-40B4-BE49-F238E27FC236}">
                <a16:creationId xmlns:a16="http://schemas.microsoft.com/office/drawing/2014/main" id="{58BF50E2-31E8-4AE4-A7DE-8CDEA8101D1F}"/>
              </a:ext>
            </a:extLst>
          </p:cNvPr>
          <p:cNvSpPr>
            <a:spLocks xmlns:a="http://schemas.openxmlformats.org/drawingml/2006/main" noGrp="1"/>
          </p:cNvSpPr>
          <p:nvPr/>
        </p:nvSpPr>
        <p:spPr>
          <a:xfrm xmlns:a="http://schemas.openxmlformats.org/drawingml/2006/main">
            <a:off x="857250" y="257175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What happens</a:t>
            </a:r>
          </a:p>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out there</a:t>
            </a:r>
          </a:p>
        </p:txBody>
      </p:sp>
      <p:sp>
        <p:nvSpPr>
          <p:cNvPr id="6" name="">
            <a:extLst xmlns:a="http://schemas.openxmlformats.org/drawingml/2006/main">
              <a:ext uri="{FF2B5EF4-FFF2-40B4-BE49-F238E27FC236}">
                <a16:creationId xmlns:a16="http://schemas.microsoft.com/office/drawing/2014/main" id="{EBB058C0-4138-4F0D-91F1-A9D295D58019}"/>
              </a:ext>
            </a:extLst>
          </p:cNvPr>
          <p:cNvSpPr>
            <a:spLocks xmlns:a="http://schemas.openxmlformats.org/drawingml/2006/main" noGrp="1"/>
          </p:cNvSpPr>
          <p:nvPr/>
        </p:nvSpPr>
        <p:spPr>
          <a:xfrm xmlns:a="http://schemas.openxmlformats.org/drawingml/2006/main">
            <a:off x="3409950" y="2276475"/>
            <a:ext cx="74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900" b="1" i="0">
                <a:solidFill>
                  <a:srgbClr val="2563EB"/>
                </a:solidFill>
                <a:latin typeface="Helvetica Neue"/>
                <a:ea typeface="Helvetica Neue"/>
                <a:cs typeface="Helvetica Neue"/>
              </a:defRPr>
            </a:pPr>
            <a:r>
              <a:rPr sz="3900" b="1" i="0">
                <a:solidFill>
                  <a:srgbClr val="2563EB"/>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5CF3A6B9-E772-4AAC-A84D-4492D8538414}"/>
              </a:ext>
            </a:extLst>
          </p:cNvPr>
          <p:cNvSpPr>
            <a:spLocks xmlns:a="http://schemas.openxmlformats.org/drawingml/2006/main" noGrp="1"/>
          </p:cNvSpPr>
          <p:nvPr/>
        </p:nvSpPr>
        <p:spPr>
          <a:xfrm xmlns:a="http://schemas.openxmlformats.org/drawingml/2006/main">
            <a:off x="4457700" y="1809750"/>
            <a:ext cx="3257550" cy="161925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DBDE65-C321-463A-8DE8-A0B59C350CDB}"/>
              </a:ext>
            </a:extLst>
          </p:cNvPr>
          <p:cNvSpPr>
            <a:spLocks xmlns:a="http://schemas.openxmlformats.org/drawingml/2006/main" noGrp="1"/>
          </p:cNvSpPr>
          <p:nvPr/>
        </p:nvSpPr>
        <p:spPr>
          <a:xfrm xmlns:a="http://schemas.openxmlformats.org/drawingml/2006/main">
            <a:off x="4800600" y="21526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MENTAL OPERATIONS</a:t>
            </a:r>
          </a:p>
        </p:txBody>
      </p:sp>
      <p:sp>
        <p:nvSpPr>
          <p:cNvPr id="9" name="">
            <a:extLst xmlns:a="http://schemas.openxmlformats.org/drawingml/2006/main">
              <a:ext uri="{FF2B5EF4-FFF2-40B4-BE49-F238E27FC236}">
                <a16:creationId xmlns:a16="http://schemas.microsoft.com/office/drawing/2014/main" id="{B4C72FF5-F637-4D49-A13B-538EAE7CEBED}"/>
              </a:ext>
            </a:extLst>
          </p:cNvPr>
          <p:cNvSpPr>
            <a:spLocks xmlns:a="http://schemas.openxmlformats.org/drawingml/2006/main" noGrp="1"/>
          </p:cNvSpPr>
          <p:nvPr/>
        </p:nvSpPr>
        <p:spPr>
          <a:xfrm xmlns:a="http://schemas.openxmlformats.org/drawingml/2006/main">
            <a:off x="4791075" y="2571750"/>
            <a:ext cx="2590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A structured</a:t>
            </a:r>
          </a:p>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mental calculus</a:t>
            </a:r>
          </a:p>
        </p:txBody>
      </p:sp>
      <p:sp>
        <p:nvSpPr>
          <p:cNvPr id="10" name="">
            <a:extLst xmlns:a="http://schemas.openxmlformats.org/drawingml/2006/main">
              <a:ext uri="{FF2B5EF4-FFF2-40B4-BE49-F238E27FC236}">
                <a16:creationId xmlns:a16="http://schemas.microsoft.com/office/drawing/2014/main" id="{907903CE-5E14-4998-A461-82B3BDF1ABD3}"/>
              </a:ext>
            </a:extLst>
          </p:cNvPr>
          <p:cNvSpPr>
            <a:spLocks xmlns:a="http://schemas.openxmlformats.org/drawingml/2006/main" noGrp="1"/>
          </p:cNvSpPr>
          <p:nvPr/>
        </p:nvSpPr>
        <p:spPr>
          <a:xfrm xmlns:a="http://schemas.openxmlformats.org/drawingml/2006/main">
            <a:off x="8153400" y="2276475"/>
            <a:ext cx="74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900" b="1" i="0">
                <a:solidFill>
                  <a:srgbClr val="2563EB"/>
                </a:solidFill>
                <a:latin typeface="Helvetica Neue"/>
                <a:ea typeface="Helvetica Neue"/>
                <a:cs typeface="Helvetica Neue"/>
              </a:defRPr>
            </a:pPr>
            <a:r>
              <a:rPr sz="3900" b="1" i="0">
                <a:solidFill>
                  <a:srgbClr val="2563E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35F79A5A-1C98-47D4-A7A7-AEAF11F8FF58}"/>
              </a:ext>
            </a:extLst>
          </p:cNvPr>
          <p:cNvSpPr>
            <a:spLocks xmlns:a="http://schemas.openxmlformats.org/drawingml/2006/main" noGrp="1"/>
          </p:cNvSpPr>
          <p:nvPr/>
        </p:nvSpPr>
        <p:spPr>
          <a:xfrm xmlns:a="http://schemas.openxmlformats.org/drawingml/2006/main">
            <a:off x="9201150" y="1809750"/>
            <a:ext cx="2400300" cy="16192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BB20FE-1438-453B-8AEF-D840F596F357}"/>
              </a:ext>
            </a:extLst>
          </p:cNvPr>
          <p:cNvSpPr>
            <a:spLocks xmlns:a="http://schemas.openxmlformats.org/drawingml/2006/main" noGrp="1"/>
          </p:cNvSpPr>
          <p:nvPr/>
        </p:nvSpPr>
        <p:spPr>
          <a:xfrm xmlns:a="http://schemas.openxmlformats.org/drawingml/2006/main">
            <a:off x="9467850" y="21526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KNOWLEDGE</a:t>
            </a:r>
          </a:p>
        </p:txBody>
      </p:sp>
      <p:sp>
        <p:nvSpPr>
          <p:cNvPr id="13" name="">
            <a:extLst xmlns:a="http://schemas.openxmlformats.org/drawingml/2006/main">
              <a:ext uri="{FF2B5EF4-FFF2-40B4-BE49-F238E27FC236}">
                <a16:creationId xmlns:a16="http://schemas.microsoft.com/office/drawing/2014/main" id="{0A35A47A-41CE-48D9-80E7-B0B70B5BF4CA}"/>
              </a:ext>
            </a:extLst>
          </p:cNvPr>
          <p:cNvSpPr>
            <a:spLocks xmlns:a="http://schemas.openxmlformats.org/drawingml/2006/main" noGrp="1"/>
          </p:cNvSpPr>
          <p:nvPr/>
        </p:nvSpPr>
        <p:spPr>
          <a:xfrm xmlns:a="http://schemas.openxmlformats.org/drawingml/2006/main">
            <a:off x="9429750" y="25717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A constructed</a:t>
            </a:r>
          </a:p>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account</a:t>
            </a:r>
          </a:p>
        </p:txBody>
      </p:sp>
      <p:sp>
        <p:nvSpPr>
          <p:cNvPr id="14" name="">
            <a:extLst xmlns:a="http://schemas.openxmlformats.org/drawingml/2006/main">
              <a:ext uri="{FF2B5EF4-FFF2-40B4-BE49-F238E27FC236}">
                <a16:creationId xmlns:a16="http://schemas.microsoft.com/office/drawing/2014/main" id="{F0BAFD9C-6A60-4664-8B5B-E0A8A08BA1AE}"/>
              </a:ext>
            </a:extLst>
          </p:cNvPr>
          <p:cNvSpPr>
            <a:spLocks xmlns:a="http://schemas.openxmlformats.org/drawingml/2006/main" noGrp="1"/>
          </p:cNvSpPr>
          <p:nvPr/>
        </p:nvSpPr>
        <p:spPr>
          <a:xfrm xmlns:a="http://schemas.openxmlformats.org/drawingml/2006/main">
            <a:off x="590550" y="4152900"/>
            <a:ext cx="110109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EA846D99-C6F2-4889-8A49-39A57EAD4140}"/>
              </a:ext>
            </a:extLst>
          </p:cNvPr>
          <p:cNvSpPr>
            <a:spLocks xmlns:a="http://schemas.openxmlformats.org/drawingml/2006/main" noGrp="1"/>
          </p:cNvSpPr>
          <p:nvPr/>
        </p:nvSpPr>
        <p:spPr>
          <a:xfrm xmlns:a="http://schemas.openxmlformats.org/drawingml/2006/main">
            <a:off x="895350" y="4400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2563EB"/>
                </a:solidFill>
                <a:latin typeface="Helvetica Neue"/>
                <a:ea typeface="Helvetica Neue"/>
                <a:cs typeface="Helvetica Neue"/>
              </a:defRPr>
            </a:pPr>
            <a:r>
              <a:rPr sz="1350" b="1" i="0">
                <a:solidFill>
                  <a:srgbClr val="2563EB"/>
                </a:solidFill>
                <a:latin typeface="Helvetica Neue"/>
                <a:ea typeface="Helvetica Neue"/>
                <a:cs typeface="Helvetica Neue"/>
              </a:rPr>
              <a:t>Two consequences</a:t>
            </a:r>
          </a:p>
        </p:txBody>
      </p:sp>
      <p:sp>
        <p:nvSpPr>
          <p:cNvPr id="16" name="">
            <a:extLst xmlns:a="http://schemas.openxmlformats.org/drawingml/2006/main">
              <a:ext uri="{FF2B5EF4-FFF2-40B4-BE49-F238E27FC236}">
                <a16:creationId xmlns:a16="http://schemas.microsoft.com/office/drawing/2014/main" id="{D828E4FE-BB45-4A63-8641-C5F92C952C04}"/>
              </a:ext>
            </a:extLst>
          </p:cNvPr>
          <p:cNvSpPr>
            <a:spLocks xmlns:a="http://schemas.openxmlformats.org/drawingml/2006/main" noGrp="1"/>
          </p:cNvSpPr>
          <p:nvPr/>
        </p:nvSpPr>
        <p:spPr>
          <a:xfrm xmlns:a="http://schemas.openxmlformats.org/drawingml/2006/main">
            <a:off x="3257550" y="43243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57"/>
          </a:bodyPr>
          <a:lstStyle xmlns:a="http://schemas.openxmlformats.org/drawingml/2006/main"/>
          <a:p xmlns:a="http://schemas.openxmlformats.org/drawingml/2006/main">
            <a:pPr algn="l">
              <a:defRPr sz="1650" b="0" i="0">
                <a:solidFill>
                  <a:srgbClr val="111827"/>
                </a:solidFill>
                <a:latin typeface="Helvetica Neue"/>
                <a:ea typeface="Helvetica Neue"/>
                <a:cs typeface="Helvetica Neue"/>
              </a:defRPr>
            </a:pPr>
            <a:r>
              <a:rPr sz="1650" b="0" i="0">
                <a:solidFill>
                  <a:srgbClr val="111827"/>
                </a:solidFill>
                <a:latin typeface="Helvetica Neue"/>
                <a:ea typeface="Helvetica Neue"/>
                <a:cs typeface="Helvetica Neue"/>
              </a:rPr>
              <a:t>1. Knowledge is built, then tested in action.</a:t>
            </a:r>
          </a:p>
          <a:p xmlns:a="http://schemas.openxmlformats.org/drawingml/2006/main">
            <a:pPr algn="l">
              <a:defRPr sz="1650" b="0" i="0">
                <a:solidFill>
                  <a:srgbClr val="111827"/>
                </a:solidFill>
                <a:latin typeface="Helvetica Neue"/>
                <a:ea typeface="Helvetica Neue"/>
                <a:cs typeface="Helvetica Neue"/>
              </a:defRPr>
            </a:pPr>
            <a:r>
              <a:rPr sz="1650" b="0" i="0">
                <a:solidFill>
                  <a:srgbClr val="111827"/>
                </a:solidFill>
                <a:latin typeface="Helvetica Neue"/>
                <a:ea typeface="Helvetica Neue"/>
                <a:cs typeface="Helvetica Neue"/>
              </a:rPr>
              <a:t>2. The child does not directly “find” the world; thought helps constitute what is known.</a:t>
            </a:r>
          </a:p>
        </p:txBody>
      </p:sp>
      <p:sp>
        <p:nvSpPr>
          <p:cNvPr id="17" name="">
            <a:extLst xmlns:a="http://schemas.openxmlformats.org/drawingml/2006/main">
              <a:ext uri="{FF2B5EF4-FFF2-40B4-BE49-F238E27FC236}">
                <a16:creationId xmlns:a16="http://schemas.microsoft.com/office/drawing/2014/main" id="{DED87B48-654D-4D5A-A49F-90ECCBA7CEBF}"/>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1DBA9C-870D-4AE3-A3B5-9A9821B9F578}"/>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 65. Slide wording is paraphrased.</a:t>
            </a:r>
          </a:p>
        </p:txBody>
      </p:sp>
      <p:sp>
        <p:nvSpPr>
          <p:cNvPr id="19" name="">
            <a:extLst xmlns:a="http://schemas.openxmlformats.org/drawingml/2006/main">
              <a:ext uri="{FF2B5EF4-FFF2-40B4-BE49-F238E27FC236}">
                <a16:creationId xmlns:a16="http://schemas.microsoft.com/office/drawing/2014/main" id="{09B60F8D-C2BF-4882-87B5-B61316656F6C}"/>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04</a:t>
            </a:r>
          </a:p>
        </p:txBody>
      </p:sp>
    </p:spTree>
    <p:extLst>
      <p:ext uri="{BB962C8B-B14F-4D97-AF65-F5344CB8AC3E}">
        <p14:creationId xmlns:p14="http://schemas.microsoft.com/office/powerpoint/2010/main" val="6788120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0624F62-697C-4AE8-91C8-59FF076FA8C2}"/>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2D125547-7116-44D6-9C20-DB15697FA50A}"/>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04"/>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Piaget’s growth story: action becomes increasingly organized thought</a:t>
            </a:r>
          </a:p>
        </p:txBody>
      </p:sp>
      <p:sp>
        <p:nvSpPr>
          <p:cNvPr id="3" name="">
            <a:extLst xmlns:a="http://schemas.openxmlformats.org/drawingml/2006/main">
              <a:ext uri="{FF2B5EF4-FFF2-40B4-BE49-F238E27FC236}">
                <a16:creationId xmlns:a16="http://schemas.microsoft.com/office/drawing/2014/main" id="{10AD8681-C343-4FCD-8CA3-E4DB3B1BDB33}"/>
              </a:ext>
            </a:extLst>
          </p:cNvPr>
          <p:cNvSpPr>
            <a:spLocks xmlns:a="http://schemas.openxmlformats.org/drawingml/2006/main" noGrp="1"/>
          </p:cNvSpPr>
          <p:nvPr/>
        </p:nvSpPr>
        <p:spPr>
          <a:xfrm xmlns:a="http://schemas.openxmlformats.org/drawingml/2006/main">
            <a:off x="590550" y="1962150"/>
            <a:ext cx="2400300" cy="2171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DB1724-3B13-4AC7-85FB-5A15D73CD6CE}"/>
              </a:ext>
            </a:extLst>
          </p:cNvPr>
          <p:cNvSpPr>
            <a:spLocks xmlns:a="http://schemas.openxmlformats.org/drawingml/2006/main" noGrp="1"/>
          </p:cNvSpPr>
          <p:nvPr/>
        </p:nvSpPr>
        <p:spPr>
          <a:xfrm xmlns:a="http://schemas.openxmlformats.org/drawingml/2006/main">
            <a:off x="857250" y="2190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2563EB"/>
                </a:solidFill>
                <a:latin typeface="Helvetica Neue"/>
                <a:ea typeface="Helvetica Neue"/>
                <a:cs typeface="Helvetica Neue"/>
              </a:defRPr>
            </a:pPr>
            <a:r>
              <a:rPr sz="1725" b="1" i="0">
                <a:solidFill>
                  <a:srgbClr val="2563EB"/>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A05245CA-C177-4B56-B4AD-ACEAD4940C90}"/>
              </a:ext>
            </a:extLst>
          </p:cNvPr>
          <p:cNvSpPr>
            <a:spLocks xmlns:a="http://schemas.openxmlformats.org/drawingml/2006/main" noGrp="1"/>
          </p:cNvSpPr>
          <p:nvPr/>
        </p:nvSpPr>
        <p:spPr>
          <a:xfrm xmlns:a="http://schemas.openxmlformats.org/drawingml/2006/main">
            <a:off x="857250" y="26860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Action</a:t>
            </a:r>
          </a:p>
        </p:txBody>
      </p:sp>
      <p:sp>
        <p:nvSpPr>
          <p:cNvPr id="6" name="">
            <a:extLst xmlns:a="http://schemas.openxmlformats.org/drawingml/2006/main">
              <a:ext uri="{FF2B5EF4-FFF2-40B4-BE49-F238E27FC236}">
                <a16:creationId xmlns:a16="http://schemas.microsoft.com/office/drawing/2014/main" id="{066A23AF-C137-417C-AE31-B6627C177A3E}"/>
              </a:ext>
            </a:extLst>
          </p:cNvPr>
          <p:cNvSpPr>
            <a:spLocks xmlns:a="http://schemas.openxmlformats.org/drawingml/2006/main" noGrp="1"/>
          </p:cNvSpPr>
          <p:nvPr/>
        </p:nvSpPr>
        <p:spPr>
          <a:xfrm xmlns:a="http://schemas.openxmlformats.org/drawingml/2006/main">
            <a:off x="857250"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The child acts on objects and events.</a:t>
            </a:r>
          </a:p>
        </p:txBody>
      </p:sp>
      <p:sp>
        <p:nvSpPr>
          <p:cNvPr id="7" name="">
            <a:extLst xmlns:a="http://schemas.openxmlformats.org/drawingml/2006/main">
              <a:ext uri="{FF2B5EF4-FFF2-40B4-BE49-F238E27FC236}">
                <a16:creationId xmlns:a16="http://schemas.microsoft.com/office/drawing/2014/main" id="{144ADD21-9849-49CD-8649-A33722D83747}"/>
              </a:ext>
            </a:extLst>
          </p:cNvPr>
          <p:cNvSpPr>
            <a:spLocks xmlns:a="http://schemas.openxmlformats.org/drawingml/2006/main" noGrp="1"/>
          </p:cNvSpPr>
          <p:nvPr/>
        </p:nvSpPr>
        <p:spPr>
          <a:xfrm xmlns:a="http://schemas.openxmlformats.org/drawingml/2006/main">
            <a:off x="2971800" y="2724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i="0">
                <a:solidFill>
                  <a:srgbClr val="2563EB"/>
                </a:solidFill>
                <a:latin typeface="Helvetica Neue"/>
                <a:ea typeface="Helvetica Neue"/>
                <a:cs typeface="Helvetica Neue"/>
              </a:defRPr>
            </a:pPr>
            <a:r>
              <a:rPr sz="2550" b="1" i="0">
                <a:solidFill>
                  <a:srgbClr val="2563EB"/>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447A476-230B-4DF4-99DB-53BA39536973}"/>
              </a:ext>
            </a:extLst>
          </p:cNvPr>
          <p:cNvSpPr>
            <a:spLocks xmlns:a="http://schemas.openxmlformats.org/drawingml/2006/main" noGrp="1"/>
          </p:cNvSpPr>
          <p:nvPr/>
        </p:nvSpPr>
        <p:spPr>
          <a:xfrm xmlns:a="http://schemas.openxmlformats.org/drawingml/2006/main">
            <a:off x="3267075" y="1962150"/>
            <a:ext cx="2400300" cy="217170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4C0DFB9-4E06-4031-9FC5-C2BECF5B2F5A}"/>
              </a:ext>
            </a:extLst>
          </p:cNvPr>
          <p:cNvSpPr>
            <a:spLocks xmlns:a="http://schemas.openxmlformats.org/drawingml/2006/main" noGrp="1"/>
          </p:cNvSpPr>
          <p:nvPr/>
        </p:nvSpPr>
        <p:spPr>
          <a:xfrm xmlns:a="http://schemas.openxmlformats.org/drawingml/2006/main">
            <a:off x="3533775" y="2190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2563EB"/>
                </a:solidFill>
                <a:latin typeface="Helvetica Neue"/>
                <a:ea typeface="Helvetica Neue"/>
                <a:cs typeface="Helvetica Neue"/>
              </a:defRPr>
            </a:pPr>
            <a:r>
              <a:rPr sz="1725" b="1" i="0">
                <a:solidFill>
                  <a:srgbClr val="2563EB"/>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CFED4280-A808-4A2C-8E5F-AB79A8CC5872}"/>
              </a:ext>
            </a:extLst>
          </p:cNvPr>
          <p:cNvSpPr>
            <a:spLocks xmlns:a="http://schemas.openxmlformats.org/drawingml/2006/main" noGrp="1"/>
          </p:cNvSpPr>
          <p:nvPr/>
        </p:nvSpPr>
        <p:spPr>
          <a:xfrm xmlns:a="http://schemas.openxmlformats.org/drawingml/2006/main">
            <a:off x="3533775" y="26860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Internalization</a:t>
            </a:r>
          </a:p>
        </p:txBody>
      </p:sp>
      <p:sp>
        <p:nvSpPr>
          <p:cNvPr id="11" name="">
            <a:extLst xmlns:a="http://schemas.openxmlformats.org/drawingml/2006/main">
              <a:ext uri="{FF2B5EF4-FFF2-40B4-BE49-F238E27FC236}">
                <a16:creationId xmlns:a16="http://schemas.microsoft.com/office/drawing/2014/main" id="{1571D6F8-6F50-4524-9CE5-4D5BFB59E459}"/>
              </a:ext>
            </a:extLst>
          </p:cNvPr>
          <p:cNvSpPr>
            <a:spLocks xmlns:a="http://schemas.openxmlformats.org/drawingml/2006/main" noGrp="1"/>
          </p:cNvSpPr>
          <p:nvPr/>
        </p:nvSpPr>
        <p:spPr>
          <a:xfrm xmlns:a="http://schemas.openxmlformats.org/drawingml/2006/main">
            <a:off x="3533775"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Action can be carried out in thought.</a:t>
            </a:r>
          </a:p>
        </p:txBody>
      </p:sp>
      <p:sp>
        <p:nvSpPr>
          <p:cNvPr id="12" name="">
            <a:extLst xmlns:a="http://schemas.openxmlformats.org/drawingml/2006/main">
              <a:ext uri="{FF2B5EF4-FFF2-40B4-BE49-F238E27FC236}">
                <a16:creationId xmlns:a16="http://schemas.microsoft.com/office/drawing/2014/main" id="{7BA557CD-B4CF-4127-B42D-A3A414B7BDE2}"/>
              </a:ext>
            </a:extLst>
          </p:cNvPr>
          <p:cNvSpPr>
            <a:spLocks xmlns:a="http://schemas.openxmlformats.org/drawingml/2006/main" noGrp="1"/>
          </p:cNvSpPr>
          <p:nvPr/>
        </p:nvSpPr>
        <p:spPr>
          <a:xfrm xmlns:a="http://schemas.openxmlformats.org/drawingml/2006/main">
            <a:off x="5648325" y="2724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i="0">
                <a:solidFill>
                  <a:srgbClr val="2563EB"/>
                </a:solidFill>
                <a:latin typeface="Helvetica Neue"/>
                <a:ea typeface="Helvetica Neue"/>
                <a:cs typeface="Helvetica Neue"/>
              </a:defRPr>
            </a:pPr>
            <a:r>
              <a:rPr sz="2550" b="1" i="0">
                <a:solidFill>
                  <a:srgbClr val="2563E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07CF19FA-C491-4D9F-A9D3-B3E3C5694F46}"/>
              </a:ext>
            </a:extLst>
          </p:cNvPr>
          <p:cNvSpPr>
            <a:spLocks xmlns:a="http://schemas.openxmlformats.org/drawingml/2006/main" noGrp="1"/>
          </p:cNvSpPr>
          <p:nvPr/>
        </p:nvSpPr>
        <p:spPr>
          <a:xfrm xmlns:a="http://schemas.openxmlformats.org/drawingml/2006/main">
            <a:off x="5943600" y="1962150"/>
            <a:ext cx="2400300" cy="217170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800E28-377E-4024-943D-FE7A4395D0A4}"/>
              </a:ext>
            </a:extLst>
          </p:cNvPr>
          <p:cNvSpPr>
            <a:spLocks xmlns:a="http://schemas.openxmlformats.org/drawingml/2006/main" noGrp="1"/>
          </p:cNvSpPr>
          <p:nvPr/>
        </p:nvSpPr>
        <p:spPr>
          <a:xfrm xmlns:a="http://schemas.openxmlformats.org/drawingml/2006/main">
            <a:off x="6210300" y="2190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2563EB"/>
                </a:solidFill>
                <a:latin typeface="Helvetica Neue"/>
                <a:ea typeface="Helvetica Neue"/>
                <a:cs typeface="Helvetica Neue"/>
              </a:defRPr>
            </a:pPr>
            <a:r>
              <a:rPr sz="1725" b="1" i="0">
                <a:solidFill>
                  <a:srgbClr val="2563EB"/>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62213870-B4CD-4682-AD07-4CBE309C8AB2}"/>
              </a:ext>
            </a:extLst>
          </p:cNvPr>
          <p:cNvSpPr>
            <a:spLocks xmlns:a="http://schemas.openxmlformats.org/drawingml/2006/main" noGrp="1"/>
          </p:cNvSpPr>
          <p:nvPr/>
        </p:nvSpPr>
        <p:spPr>
          <a:xfrm xmlns:a="http://schemas.openxmlformats.org/drawingml/2006/main">
            <a:off x="6210300" y="26860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Decentration</a:t>
            </a:r>
          </a:p>
        </p:txBody>
      </p:sp>
      <p:sp>
        <p:nvSpPr>
          <p:cNvPr id="16" name="">
            <a:extLst xmlns:a="http://schemas.openxmlformats.org/drawingml/2006/main">
              <a:ext uri="{FF2B5EF4-FFF2-40B4-BE49-F238E27FC236}">
                <a16:creationId xmlns:a16="http://schemas.microsoft.com/office/drawing/2014/main" id="{3B1E5502-3A2B-4378-8C26-591FEFBB0F8D}"/>
              </a:ext>
            </a:extLst>
          </p:cNvPr>
          <p:cNvSpPr>
            <a:spLocks xmlns:a="http://schemas.openxmlformats.org/drawingml/2006/main" noGrp="1"/>
          </p:cNvSpPr>
          <p:nvPr/>
        </p:nvSpPr>
        <p:spPr>
          <a:xfrm xmlns:a="http://schemas.openxmlformats.org/drawingml/2006/main">
            <a:off x="6210300"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114"/>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Thought is less tied to the immediate viewpoint.</a:t>
            </a:r>
          </a:p>
        </p:txBody>
      </p:sp>
      <p:sp>
        <p:nvSpPr>
          <p:cNvPr id="17" name="">
            <a:extLst xmlns:a="http://schemas.openxmlformats.org/drawingml/2006/main">
              <a:ext uri="{FF2B5EF4-FFF2-40B4-BE49-F238E27FC236}">
                <a16:creationId xmlns:a16="http://schemas.microsoft.com/office/drawing/2014/main" id="{BEE86C1C-30DB-40EB-8E5C-8C2514C7D7D7}"/>
              </a:ext>
            </a:extLst>
          </p:cNvPr>
          <p:cNvSpPr>
            <a:spLocks xmlns:a="http://schemas.openxmlformats.org/drawingml/2006/main" noGrp="1"/>
          </p:cNvSpPr>
          <p:nvPr/>
        </p:nvSpPr>
        <p:spPr>
          <a:xfrm xmlns:a="http://schemas.openxmlformats.org/drawingml/2006/main">
            <a:off x="8324850" y="2724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i="0">
                <a:solidFill>
                  <a:srgbClr val="2563EB"/>
                </a:solidFill>
                <a:latin typeface="Helvetica Neue"/>
                <a:ea typeface="Helvetica Neue"/>
                <a:cs typeface="Helvetica Neue"/>
              </a:defRPr>
            </a:pPr>
            <a:r>
              <a:rPr sz="2550" b="1" i="0">
                <a:solidFill>
                  <a:srgbClr val="2563EB"/>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99C433B7-D7AD-4B38-8711-CD0024B52C59}"/>
              </a:ext>
            </a:extLst>
          </p:cNvPr>
          <p:cNvSpPr>
            <a:spLocks xmlns:a="http://schemas.openxmlformats.org/drawingml/2006/main" noGrp="1"/>
          </p:cNvSpPr>
          <p:nvPr/>
        </p:nvSpPr>
        <p:spPr>
          <a:xfrm xmlns:a="http://schemas.openxmlformats.org/drawingml/2006/main">
            <a:off x="8620125" y="1962150"/>
            <a:ext cx="2400300" cy="2171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9253966-31B1-47AF-830A-D8B924BF8F1E}"/>
              </a:ext>
            </a:extLst>
          </p:cNvPr>
          <p:cNvSpPr>
            <a:spLocks xmlns:a="http://schemas.openxmlformats.org/drawingml/2006/main" noGrp="1"/>
          </p:cNvSpPr>
          <p:nvPr/>
        </p:nvSpPr>
        <p:spPr>
          <a:xfrm xmlns:a="http://schemas.openxmlformats.org/drawingml/2006/main">
            <a:off x="8886825" y="21907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2563EB"/>
                </a:solidFill>
                <a:latin typeface="Helvetica Neue"/>
                <a:ea typeface="Helvetica Neue"/>
                <a:cs typeface="Helvetica Neue"/>
              </a:defRPr>
            </a:pPr>
            <a:r>
              <a:rPr sz="1725" b="1" i="0">
                <a:solidFill>
                  <a:srgbClr val="2563EB"/>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17EC1AE9-3E6D-4E02-93EB-94586B646399}"/>
              </a:ext>
            </a:extLst>
          </p:cNvPr>
          <p:cNvSpPr>
            <a:spLocks xmlns:a="http://schemas.openxmlformats.org/drawingml/2006/main" noGrp="1"/>
          </p:cNvSpPr>
          <p:nvPr/>
        </p:nvSpPr>
        <p:spPr>
          <a:xfrm xmlns:a="http://schemas.openxmlformats.org/drawingml/2006/main">
            <a:off x="8886825" y="26860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966"/>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Formal operations</a:t>
            </a:r>
          </a:p>
        </p:txBody>
      </p:sp>
      <p:sp>
        <p:nvSpPr>
          <p:cNvPr id="21" name="">
            <a:extLst xmlns:a="http://schemas.openxmlformats.org/drawingml/2006/main">
              <a:ext uri="{FF2B5EF4-FFF2-40B4-BE49-F238E27FC236}">
                <a16:creationId xmlns:a16="http://schemas.microsoft.com/office/drawing/2014/main" id="{5E2191AD-6347-468E-B95E-B81E13C8F731}"/>
              </a:ext>
            </a:extLst>
          </p:cNvPr>
          <p:cNvSpPr>
            <a:spLocks xmlns:a="http://schemas.openxmlformats.org/drawingml/2006/main" noGrp="1"/>
          </p:cNvSpPr>
          <p:nvPr/>
        </p:nvSpPr>
        <p:spPr>
          <a:xfrm xmlns:a="http://schemas.openxmlformats.org/drawingml/2006/main">
            <a:off x="8886825" y="32956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Thought itself can become an object of thought.</a:t>
            </a:r>
          </a:p>
        </p:txBody>
      </p:sp>
      <p:sp>
        <p:nvSpPr>
          <p:cNvPr id="22" name="">
            <a:extLst xmlns:a="http://schemas.openxmlformats.org/drawingml/2006/main">
              <a:ext uri="{FF2B5EF4-FFF2-40B4-BE49-F238E27FC236}">
                <a16:creationId xmlns:a16="http://schemas.microsoft.com/office/drawing/2014/main" id="{C58B93FD-AA36-4707-BD03-F88572568838}"/>
              </a:ext>
            </a:extLst>
          </p:cNvPr>
          <p:cNvSpPr>
            <a:spLocks xmlns:a="http://schemas.openxmlformats.org/drawingml/2006/main" noGrp="1"/>
          </p:cNvSpPr>
          <p:nvPr/>
        </p:nvSpPr>
        <p:spPr>
          <a:xfrm xmlns:a="http://schemas.openxmlformats.org/drawingml/2006/main">
            <a:off x="590550" y="4762500"/>
            <a:ext cx="11010900" cy="876300"/>
          </a:xfrm>
          <a:prstGeom xmlns:a="http://schemas.openxmlformats.org/drawingml/2006/main" prst="rect">
            <a:avLst/>
          </a:prstGeom>
          <a:solidFill xmlns:a="http://schemas.openxmlformats.org/drawingml/2006/main">
            <a:srgbClr val="FEF3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35D9CF5-BCB4-46CA-A04B-474492C3C7AE}"/>
              </a:ext>
            </a:extLst>
          </p:cNvPr>
          <p:cNvSpPr>
            <a:spLocks xmlns:a="http://schemas.openxmlformats.org/drawingml/2006/main" noGrp="1"/>
          </p:cNvSpPr>
          <p:nvPr/>
        </p:nvSpPr>
        <p:spPr>
          <a:xfrm xmlns:a="http://schemas.openxmlformats.org/drawingml/2006/main">
            <a:off x="876300" y="50292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A16207"/>
                </a:solidFill>
                <a:latin typeface="Helvetica Neue"/>
                <a:ea typeface="Helvetica Neue"/>
                <a:cs typeface="Helvetica Neue"/>
              </a:defRPr>
            </a:pPr>
            <a:r>
              <a:rPr sz="1800" b="1" i="0">
                <a:solidFill>
                  <a:srgbClr val="A16207"/>
                </a:solidFill>
                <a:latin typeface="Helvetica Neue"/>
                <a:ea typeface="Helvetica Neue"/>
                <a:cs typeface="Helvetica Neue"/>
              </a:rPr>
              <a:t>Disequilibration</a:t>
            </a:r>
          </a:p>
        </p:txBody>
      </p:sp>
      <p:sp>
        <p:nvSpPr>
          <p:cNvPr id="24" name="">
            <a:extLst xmlns:a="http://schemas.openxmlformats.org/drawingml/2006/main">
              <a:ext uri="{FF2B5EF4-FFF2-40B4-BE49-F238E27FC236}">
                <a16:creationId xmlns:a16="http://schemas.microsoft.com/office/drawing/2014/main" id="{72FB4740-0740-4963-9DCA-E52B935F1FFB}"/>
              </a:ext>
            </a:extLst>
          </p:cNvPr>
          <p:cNvSpPr>
            <a:spLocks xmlns:a="http://schemas.openxmlformats.org/drawingml/2006/main" noGrp="1"/>
          </p:cNvSpPr>
          <p:nvPr/>
        </p:nvSpPr>
        <p:spPr>
          <a:xfrm xmlns:a="http://schemas.openxmlformats.org/drawingml/2006/main">
            <a:off x="3181350" y="4972050"/>
            <a:ext cx="769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Cognitive growth comes from the tension between fitting an experience into an existing structure (assimilation) and changing the structure to fit the experience (accommodation).</a:t>
            </a:r>
          </a:p>
        </p:txBody>
      </p:sp>
      <p:sp>
        <p:nvSpPr>
          <p:cNvPr id="25" name="">
            <a:extLst xmlns:a="http://schemas.openxmlformats.org/drawingml/2006/main">
              <a:ext uri="{FF2B5EF4-FFF2-40B4-BE49-F238E27FC236}">
                <a16:creationId xmlns:a16="http://schemas.microsoft.com/office/drawing/2014/main" id="{BB6F9D94-7595-421B-AE62-AFD2DEF37320}"/>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F264098-55BF-4ECE-930D-FA0BFDB1F6AB}"/>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65–66. Slide wording is paraphrased.</a:t>
            </a:r>
          </a:p>
        </p:txBody>
      </p:sp>
      <p:sp>
        <p:nvSpPr>
          <p:cNvPr id="27" name="">
            <a:extLst xmlns:a="http://schemas.openxmlformats.org/drawingml/2006/main">
              <a:ext uri="{FF2B5EF4-FFF2-40B4-BE49-F238E27FC236}">
                <a16:creationId xmlns:a16="http://schemas.microsoft.com/office/drawing/2014/main" id="{5B8E092E-D29C-404E-805C-0A83C2551B80}"/>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05</a:t>
            </a:r>
          </a:p>
        </p:txBody>
      </p:sp>
    </p:spTree>
    <p:extLst>
      <p:ext uri="{BB962C8B-B14F-4D97-AF65-F5344CB8AC3E}">
        <p14:creationId xmlns:p14="http://schemas.microsoft.com/office/powerpoint/2010/main" val="12110009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026B98-CF56-4077-926C-04A755BC8D7A}"/>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010B6A4C-A724-4971-9CAB-DB6CC5193BE0}"/>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7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Piaget maps a stable direction of growth better than its causes</a:t>
            </a:r>
          </a:p>
        </p:txBody>
      </p:sp>
      <p:sp>
        <p:nvSpPr>
          <p:cNvPr id="3" name="">
            <a:extLst xmlns:a="http://schemas.openxmlformats.org/drawingml/2006/main">
              <a:ext uri="{FF2B5EF4-FFF2-40B4-BE49-F238E27FC236}">
                <a16:creationId xmlns:a16="http://schemas.microsoft.com/office/drawing/2014/main" id="{22BEF728-5A92-444F-A4BD-70458D033131}"/>
              </a:ext>
            </a:extLst>
          </p:cNvPr>
          <p:cNvSpPr>
            <a:spLocks xmlns:a="http://schemas.openxmlformats.org/drawingml/2006/main" noGrp="1"/>
          </p:cNvSpPr>
          <p:nvPr/>
        </p:nvSpPr>
        <p:spPr>
          <a:xfrm xmlns:a="http://schemas.openxmlformats.org/drawingml/2006/main">
            <a:off x="590550" y="1809750"/>
            <a:ext cx="5143500" cy="295275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9D3748-8AE3-4ABC-ADA6-CB89E59F82EA}"/>
              </a:ext>
            </a:extLst>
          </p:cNvPr>
          <p:cNvSpPr>
            <a:spLocks xmlns:a="http://schemas.openxmlformats.org/drawingml/2006/main" noGrp="1"/>
          </p:cNvSpPr>
          <p:nvPr/>
        </p:nvSpPr>
        <p:spPr>
          <a:xfrm xmlns:a="http://schemas.openxmlformats.org/drawingml/2006/main">
            <a:off x="990600" y="2190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ABUNDANTLY CLEAR</a:t>
            </a:r>
          </a:p>
        </p:txBody>
      </p:sp>
      <p:sp>
        <p:nvSpPr>
          <p:cNvPr id="5" name="">
            <a:extLst xmlns:a="http://schemas.openxmlformats.org/drawingml/2006/main">
              <a:ext uri="{FF2B5EF4-FFF2-40B4-BE49-F238E27FC236}">
                <a16:creationId xmlns:a16="http://schemas.microsoft.com/office/drawing/2014/main" id="{69C59BFB-5A88-43A0-BF25-0FA7CE66FD85}"/>
              </a:ext>
            </a:extLst>
          </p:cNvPr>
          <p:cNvSpPr>
            <a:spLocks xmlns:a="http://schemas.openxmlformats.org/drawingml/2006/main" noGrp="1"/>
          </p:cNvSpPr>
          <p:nvPr/>
        </p:nvSpPr>
        <p:spPr>
          <a:xfrm xmlns:a="http://schemas.openxmlformats.org/drawingml/2006/main">
            <a:off x="990600" y="2647950"/>
            <a:ext cx="3638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111827"/>
                </a:solidFill>
                <a:latin typeface="Helvetica Neue"/>
                <a:ea typeface="Helvetica Neue"/>
                <a:cs typeface="Helvetica Neue"/>
              </a:defRPr>
            </a:pPr>
            <a:r>
              <a:rPr sz="2550" b="1" i="0">
                <a:solidFill>
                  <a:srgbClr val="111827"/>
                </a:solidFill>
                <a:latin typeface="Helvetica Neue"/>
                <a:ea typeface="Helvetica Neue"/>
                <a:cs typeface="Helvetica Neue"/>
              </a:rPr>
              <a:t>Development follows an invariant course.</a:t>
            </a:r>
          </a:p>
        </p:txBody>
      </p:sp>
      <p:sp>
        <p:nvSpPr>
          <p:cNvPr id="6" name="">
            <a:extLst xmlns:a="http://schemas.openxmlformats.org/drawingml/2006/main">
              <a:ext uri="{FF2B5EF4-FFF2-40B4-BE49-F238E27FC236}">
                <a16:creationId xmlns:a16="http://schemas.microsoft.com/office/drawing/2014/main" id="{05FF8974-47C9-4298-A067-00EDFC919F76}"/>
              </a:ext>
            </a:extLst>
          </p:cNvPr>
          <p:cNvSpPr>
            <a:spLocks xmlns:a="http://schemas.openxmlformats.org/drawingml/2006/main" noGrp="1"/>
          </p:cNvSpPr>
          <p:nvPr/>
        </p:nvSpPr>
        <p:spPr>
          <a:xfrm xmlns:a="http://schemas.openxmlformats.org/drawingml/2006/main">
            <a:off x="990600" y="3848100"/>
            <a:ext cx="3638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475569"/>
                </a:solidFill>
                <a:latin typeface="Helvetica Neue"/>
                <a:ea typeface="Helvetica Neue"/>
                <a:cs typeface="Helvetica Neue"/>
              </a:defRPr>
            </a:pPr>
            <a:r>
              <a:rPr sz="1500" b="0" i="0">
                <a:solidFill>
                  <a:srgbClr val="475569"/>
                </a:solidFill>
                <a:latin typeface="Helvetica Neue"/>
                <a:ea typeface="Helvetica Neue"/>
                <a:cs typeface="Helvetica Neue"/>
              </a:rPr>
              <a:t>Piaget is strongest on the direction and systematicity of growth.</a:t>
            </a:r>
          </a:p>
        </p:txBody>
      </p:sp>
      <p:sp>
        <p:nvSpPr>
          <p:cNvPr id="7" name="">
            <a:extLst xmlns:a="http://schemas.openxmlformats.org/drawingml/2006/main">
              <a:ext uri="{FF2B5EF4-FFF2-40B4-BE49-F238E27FC236}">
                <a16:creationId xmlns:a16="http://schemas.microsoft.com/office/drawing/2014/main" id="{3DD9B238-C857-42FC-AD43-CF49DF8B8C2C}"/>
              </a:ext>
            </a:extLst>
          </p:cNvPr>
          <p:cNvSpPr>
            <a:spLocks xmlns:a="http://schemas.openxmlformats.org/drawingml/2006/main" noGrp="1"/>
          </p:cNvSpPr>
          <p:nvPr/>
        </p:nvSpPr>
        <p:spPr>
          <a:xfrm xmlns:a="http://schemas.openxmlformats.org/drawingml/2006/main">
            <a:off x="6457950" y="1809750"/>
            <a:ext cx="5143500" cy="2952750"/>
          </a:xfrm>
          <a:prstGeom xmlns:a="http://schemas.openxmlformats.org/drawingml/2006/main" prst="rect">
            <a:avLst/>
          </a:prstGeom>
          <a:solidFill xmlns:a="http://schemas.openxmlformats.org/drawingml/2006/main">
            <a:srgbClr val="FEF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3354CD-D981-4BC4-8624-B25E181D336D}"/>
              </a:ext>
            </a:extLst>
          </p:cNvPr>
          <p:cNvSpPr>
            <a:spLocks xmlns:a="http://schemas.openxmlformats.org/drawingml/2006/main" noGrp="1"/>
          </p:cNvSpPr>
          <p:nvPr/>
        </p:nvSpPr>
        <p:spPr>
          <a:xfrm xmlns:a="http://schemas.openxmlformats.org/drawingml/2006/main">
            <a:off x="6858000" y="2190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A16207"/>
                </a:solidFill>
                <a:latin typeface="Helvetica Neue"/>
                <a:ea typeface="Helvetica Neue"/>
                <a:cs typeface="Helvetica Neue"/>
              </a:defRPr>
            </a:pPr>
            <a:r>
              <a:rPr sz="1125" b="1" i="0">
                <a:solidFill>
                  <a:srgbClr val="A16207"/>
                </a:solidFill>
                <a:latin typeface="Helvetica Neue"/>
                <a:ea typeface="Helvetica Neue"/>
                <a:cs typeface="Helvetica Neue"/>
              </a:rPr>
              <a:t>LESS CLEAR OR NEGLECTED</a:t>
            </a:r>
          </a:p>
        </p:txBody>
      </p:sp>
      <p:sp>
        <p:nvSpPr>
          <p:cNvPr id="9" name="">
            <a:extLst xmlns:a="http://schemas.openxmlformats.org/drawingml/2006/main">
              <a:ext uri="{FF2B5EF4-FFF2-40B4-BE49-F238E27FC236}">
                <a16:creationId xmlns:a16="http://schemas.microsoft.com/office/drawing/2014/main" id="{EAE0BA30-2CDE-435F-AF6F-7836A0166E3B}"/>
              </a:ext>
            </a:extLst>
          </p:cNvPr>
          <p:cNvSpPr>
            <a:spLocks xmlns:a="http://schemas.openxmlformats.org/drawingml/2006/main" noGrp="1"/>
          </p:cNvSpPr>
          <p:nvPr/>
        </p:nvSpPr>
        <p:spPr>
          <a:xfrm xmlns:a="http://schemas.openxmlformats.org/drawingml/2006/main">
            <a:off x="6858000" y="2647950"/>
            <a:ext cx="3905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2250" b="1" i="0">
                <a:solidFill>
                  <a:srgbClr val="111827"/>
                </a:solidFill>
                <a:latin typeface="Helvetica Neue"/>
                <a:ea typeface="Helvetica Neue"/>
                <a:cs typeface="Helvetica Neue"/>
              </a:defRPr>
            </a:pPr>
            <a:r>
              <a:rPr sz="2250" b="1" i="0">
                <a:solidFill>
                  <a:srgbClr val="111827"/>
                </a:solidFill>
                <a:latin typeface="Helvetica Neue"/>
                <a:ea typeface="Helvetica Neue"/>
                <a:cs typeface="Helvetica Neue"/>
              </a:rPr>
              <a:t>What moves development forward — and how other people and culture matter.</a:t>
            </a:r>
          </a:p>
        </p:txBody>
      </p:sp>
      <p:sp>
        <p:nvSpPr>
          <p:cNvPr id="10" name="">
            <a:extLst xmlns:a="http://schemas.openxmlformats.org/drawingml/2006/main">
              <a:ext uri="{FF2B5EF4-FFF2-40B4-BE49-F238E27FC236}">
                <a16:creationId xmlns:a16="http://schemas.microsoft.com/office/drawing/2014/main" id="{DAD1EE8A-B1D5-4406-80B6-E7B00EC53E84}"/>
              </a:ext>
            </a:extLst>
          </p:cNvPr>
          <p:cNvSpPr>
            <a:spLocks xmlns:a="http://schemas.openxmlformats.org/drawingml/2006/main" noGrp="1"/>
          </p:cNvSpPr>
          <p:nvPr/>
        </p:nvSpPr>
        <p:spPr>
          <a:xfrm xmlns:a="http://schemas.openxmlformats.org/drawingml/2006/main">
            <a:off x="6858000" y="384810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66"/>
          </a:bodyPr>
          <a:lstStyle xmlns:a="http://schemas.openxmlformats.org/drawingml/2006/main"/>
          <a:p xmlns:a="http://schemas.openxmlformats.org/drawingml/2006/main">
            <a:pPr algn="l">
              <a:defRPr sz="1425" b="0" i="0">
                <a:solidFill>
                  <a:srgbClr val="475569"/>
                </a:solidFill>
                <a:latin typeface="Helvetica Neue"/>
                <a:ea typeface="Helvetica Neue"/>
                <a:cs typeface="Helvetica Neue"/>
              </a:defRPr>
            </a:pPr>
            <a:r>
              <a:rPr sz="1425" b="0" i="0">
                <a:solidFill>
                  <a:srgbClr val="475569"/>
                </a:solidFill>
                <a:latin typeface="Helvetica Neue"/>
                <a:ea typeface="Helvetica Neue"/>
                <a:cs typeface="Helvetica Neue"/>
              </a:rPr>
              <a:t>Bruner names intersubjectivity, instruction, negotiation, and cultural interpretation as the missing territory.</a:t>
            </a:r>
          </a:p>
        </p:txBody>
      </p:sp>
      <p:sp>
        <p:nvSpPr>
          <p:cNvPr id="11" name="">
            <a:extLst xmlns:a="http://schemas.openxmlformats.org/drawingml/2006/main">
              <a:ext uri="{FF2B5EF4-FFF2-40B4-BE49-F238E27FC236}">
                <a16:creationId xmlns:a16="http://schemas.microsoft.com/office/drawing/2014/main" id="{B1624181-E7E1-4241-B205-9C63A0998C88}"/>
              </a:ext>
            </a:extLst>
          </p:cNvPr>
          <p:cNvSpPr>
            <a:spLocks xmlns:a="http://schemas.openxmlformats.org/drawingml/2006/main" noGrp="1"/>
          </p:cNvSpPr>
          <p:nvPr/>
        </p:nvSpPr>
        <p:spPr>
          <a:xfrm xmlns:a="http://schemas.openxmlformats.org/drawingml/2006/main">
            <a:off x="590550" y="53721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Bridge: If development cannot be understood only inside one individual mind, where should we look next?</a:t>
            </a:r>
          </a:p>
        </p:txBody>
      </p:sp>
      <p:sp>
        <p:nvSpPr>
          <p:cNvPr id="12" name="">
            <a:extLst xmlns:a="http://schemas.openxmlformats.org/drawingml/2006/main">
              <a:ext uri="{FF2B5EF4-FFF2-40B4-BE49-F238E27FC236}">
                <a16:creationId xmlns:a16="http://schemas.microsoft.com/office/drawing/2014/main" id="{50654A7B-9B46-44A9-A997-3A3EC67B571D}"/>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2CD82D3-2E51-4CA7-B47D-5A32095F82BC}"/>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66–67. Slide wording is paraphrased.</a:t>
            </a:r>
          </a:p>
        </p:txBody>
      </p:sp>
      <p:sp>
        <p:nvSpPr>
          <p:cNvPr id="14" name="">
            <a:extLst xmlns:a="http://schemas.openxmlformats.org/drawingml/2006/main">
              <a:ext uri="{FF2B5EF4-FFF2-40B4-BE49-F238E27FC236}">
                <a16:creationId xmlns:a16="http://schemas.microsoft.com/office/drawing/2014/main" id="{0A59805C-9156-4114-992C-5F70DE131D86}"/>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06</a:t>
            </a:r>
          </a:p>
        </p:txBody>
      </p:sp>
    </p:spTree>
    <p:extLst>
      <p:ext uri="{BB962C8B-B14F-4D97-AF65-F5344CB8AC3E}">
        <p14:creationId xmlns:p14="http://schemas.microsoft.com/office/powerpoint/2010/main" val="7060479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F11ED2-7952-4F54-A088-3D5C6F400EEA}"/>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15634CC9-0243-43DE-8686-AD9B407DD436}"/>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Vygotsky starts with meaning, not a mental calculus</a:t>
            </a:r>
          </a:p>
        </p:txBody>
      </p:sp>
      <p:sp>
        <p:nvSpPr>
          <p:cNvPr id="3" name="">
            <a:extLst xmlns:a="http://schemas.openxmlformats.org/drawingml/2006/main">
              <a:ext uri="{FF2B5EF4-FFF2-40B4-BE49-F238E27FC236}">
                <a16:creationId xmlns:a16="http://schemas.microsoft.com/office/drawing/2014/main" id="{67403133-AA13-47BC-9496-8E9ECCA334E8}"/>
              </a:ext>
            </a:extLst>
          </p:cNvPr>
          <p:cNvSpPr>
            <a:spLocks xmlns:a="http://schemas.openxmlformats.org/drawingml/2006/main" noGrp="1"/>
          </p:cNvSpPr>
          <p:nvPr/>
        </p:nvSpPr>
        <p:spPr>
          <a:xfrm xmlns:a="http://schemas.openxmlformats.org/drawingml/2006/main">
            <a:off x="590550" y="1733550"/>
            <a:ext cx="3371850" cy="291465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23EC02-FDF6-43AB-9687-D133228C4872}"/>
              </a:ext>
            </a:extLst>
          </p:cNvPr>
          <p:cNvSpPr>
            <a:spLocks xmlns:a="http://schemas.openxmlformats.org/drawingml/2006/main" noGrp="1"/>
          </p:cNvSpPr>
          <p:nvPr/>
        </p:nvSpPr>
        <p:spPr>
          <a:xfrm xmlns:a="http://schemas.openxmlformats.org/drawingml/2006/main">
            <a:off x="933450" y="2095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MIND</a:t>
            </a:r>
          </a:p>
        </p:txBody>
      </p:sp>
      <p:sp>
        <p:nvSpPr>
          <p:cNvPr id="5" name="">
            <a:extLst xmlns:a="http://schemas.openxmlformats.org/drawingml/2006/main">
              <a:ext uri="{FF2B5EF4-FFF2-40B4-BE49-F238E27FC236}">
                <a16:creationId xmlns:a16="http://schemas.microsoft.com/office/drawing/2014/main" id="{6DC252FD-69C0-4AD0-B822-9BDF0FB3E14A}"/>
              </a:ext>
            </a:extLst>
          </p:cNvPr>
          <p:cNvSpPr>
            <a:spLocks xmlns:a="http://schemas.openxmlformats.org/drawingml/2006/main" noGrp="1"/>
          </p:cNvSpPr>
          <p:nvPr/>
        </p:nvSpPr>
        <p:spPr>
          <a:xfrm xmlns:a="http://schemas.openxmlformats.org/drawingml/2006/main">
            <a:off x="933450" y="2533650"/>
            <a:ext cx="2305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14"/>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A process for giving experience meaning.</a:t>
            </a:r>
          </a:p>
        </p:txBody>
      </p:sp>
      <p:sp>
        <p:nvSpPr>
          <p:cNvPr id="6" name="">
            <a:extLst xmlns:a="http://schemas.openxmlformats.org/drawingml/2006/main">
              <a:ext uri="{FF2B5EF4-FFF2-40B4-BE49-F238E27FC236}">
                <a16:creationId xmlns:a16="http://schemas.microsoft.com/office/drawing/2014/main" id="{35C3D0EF-82D0-4674-97AE-C3D5D57D6F0B}"/>
              </a:ext>
            </a:extLst>
          </p:cNvPr>
          <p:cNvSpPr>
            <a:spLocks xmlns:a="http://schemas.openxmlformats.org/drawingml/2006/main" noGrp="1"/>
          </p:cNvSpPr>
          <p:nvPr/>
        </p:nvSpPr>
        <p:spPr>
          <a:xfrm xmlns:a="http://schemas.openxmlformats.org/drawingml/2006/main">
            <a:off x="933450" y="3829050"/>
            <a:ext cx="230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06"/>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Meaning needs language — and the cultural context in which language is used.</a:t>
            </a:r>
          </a:p>
        </p:txBody>
      </p:sp>
      <p:sp>
        <p:nvSpPr>
          <p:cNvPr id="7" name="">
            <a:extLst xmlns:a="http://schemas.openxmlformats.org/drawingml/2006/main">
              <a:ext uri="{FF2B5EF4-FFF2-40B4-BE49-F238E27FC236}">
                <a16:creationId xmlns:a16="http://schemas.microsoft.com/office/drawing/2014/main" id="{1353CA81-0FF5-4150-9778-963CEAAEB92D}"/>
              </a:ext>
            </a:extLst>
          </p:cNvPr>
          <p:cNvSpPr>
            <a:spLocks xmlns:a="http://schemas.openxmlformats.org/drawingml/2006/main" noGrp="1"/>
          </p:cNvSpPr>
          <p:nvPr/>
        </p:nvSpPr>
        <p:spPr>
          <a:xfrm xmlns:a="http://schemas.openxmlformats.org/drawingml/2006/main">
            <a:off x="4143375" y="2838450"/>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956"/>
          </a:bodyPr>
          <a:lstStyle xmlns:a="http://schemas.openxmlformats.org/drawingml/2006/main"/>
          <a:p xmlns:a="http://schemas.openxmlformats.org/drawingml/2006/main">
            <a:pPr algn="ctr">
              <a:defRPr sz="3450" b="1" i="0">
                <a:solidFill>
                  <a:srgbClr val="0F766E"/>
                </a:solidFill>
                <a:latin typeface="Helvetica Neue"/>
                <a:ea typeface="Helvetica Neue"/>
                <a:cs typeface="Helvetica Neue"/>
              </a:defRPr>
            </a:pPr>
            <a:r>
              <a:rPr sz="3450" b="1" i="0">
                <a:solidFill>
                  <a:srgbClr val="0F766E"/>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6D1CADE9-1262-4BC2-A0C6-7F93DCCEAFC3}"/>
              </a:ext>
            </a:extLst>
          </p:cNvPr>
          <p:cNvSpPr>
            <a:spLocks xmlns:a="http://schemas.openxmlformats.org/drawingml/2006/main" noGrp="1"/>
          </p:cNvSpPr>
          <p:nvPr/>
        </p:nvSpPr>
        <p:spPr>
          <a:xfrm xmlns:a="http://schemas.openxmlformats.org/drawingml/2006/main">
            <a:off x="5086350" y="1733550"/>
            <a:ext cx="3276600" cy="29146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4430CB-E90D-4EDB-9405-8CB7D29075A1}"/>
              </a:ext>
            </a:extLst>
          </p:cNvPr>
          <p:cNvSpPr>
            <a:spLocks xmlns:a="http://schemas.openxmlformats.org/drawingml/2006/main" noGrp="1"/>
          </p:cNvSpPr>
          <p:nvPr/>
        </p:nvSpPr>
        <p:spPr>
          <a:xfrm xmlns:a="http://schemas.openxmlformats.org/drawingml/2006/main">
            <a:off x="5429250" y="20955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DEVELOPMENT</a:t>
            </a:r>
          </a:p>
        </p:txBody>
      </p:sp>
      <p:sp>
        <p:nvSpPr>
          <p:cNvPr id="10" name="">
            <a:extLst xmlns:a="http://schemas.openxmlformats.org/drawingml/2006/main">
              <a:ext uri="{FF2B5EF4-FFF2-40B4-BE49-F238E27FC236}">
                <a16:creationId xmlns:a16="http://schemas.microsoft.com/office/drawing/2014/main" id="{BEC22C76-CD63-4A3C-81BA-12F9124BEBB7}"/>
              </a:ext>
            </a:extLst>
          </p:cNvPr>
          <p:cNvSpPr>
            <a:spLocks xmlns:a="http://schemas.openxmlformats.org/drawingml/2006/main" noGrp="1"/>
          </p:cNvSpPr>
          <p:nvPr/>
        </p:nvSpPr>
        <p:spPr>
          <a:xfrm xmlns:a="http://schemas.openxmlformats.org/drawingml/2006/main">
            <a:off x="5429250" y="2533650"/>
            <a:ext cx="233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14"/>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Mastery of higher-order symbolic systems.</a:t>
            </a:r>
          </a:p>
        </p:txBody>
      </p:sp>
      <p:sp>
        <p:nvSpPr>
          <p:cNvPr id="11" name="">
            <a:extLst xmlns:a="http://schemas.openxmlformats.org/drawingml/2006/main">
              <a:ext uri="{FF2B5EF4-FFF2-40B4-BE49-F238E27FC236}">
                <a16:creationId xmlns:a16="http://schemas.microsoft.com/office/drawing/2014/main" id="{3D4872E4-E374-4774-9EC4-972F29F5A52F}"/>
              </a:ext>
            </a:extLst>
          </p:cNvPr>
          <p:cNvSpPr>
            <a:spLocks xmlns:a="http://schemas.openxmlformats.org/drawingml/2006/main" noGrp="1"/>
          </p:cNvSpPr>
          <p:nvPr/>
        </p:nvSpPr>
        <p:spPr>
          <a:xfrm xmlns:a="http://schemas.openxmlformats.org/drawingml/2006/main">
            <a:off x="5429250" y="382905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506"/>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A new system can reorganize earlier ideas — like algebra reorganizing arithmetic.</a:t>
            </a:r>
          </a:p>
        </p:txBody>
      </p:sp>
      <p:sp>
        <p:nvSpPr>
          <p:cNvPr id="12" name="">
            <a:extLst xmlns:a="http://schemas.openxmlformats.org/drawingml/2006/main">
              <a:ext uri="{FF2B5EF4-FFF2-40B4-BE49-F238E27FC236}">
                <a16:creationId xmlns:a16="http://schemas.microsoft.com/office/drawing/2014/main" id="{BD1CC63F-C821-40B8-8B16-9D8FBCAE2A3C}"/>
              </a:ext>
            </a:extLst>
          </p:cNvPr>
          <p:cNvSpPr>
            <a:spLocks xmlns:a="http://schemas.openxmlformats.org/drawingml/2006/main" noGrp="1"/>
          </p:cNvSpPr>
          <p:nvPr/>
        </p:nvSpPr>
        <p:spPr>
          <a:xfrm xmlns:a="http://schemas.openxmlformats.org/drawingml/2006/main">
            <a:off x="9144000" y="2838450"/>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956"/>
          </a:bodyPr>
          <a:lstStyle xmlns:a="http://schemas.openxmlformats.org/drawingml/2006/main"/>
          <a:p xmlns:a="http://schemas.openxmlformats.org/drawingml/2006/main">
            <a:pPr algn="ctr">
              <a:defRPr sz="3450" b="1" i="0">
                <a:solidFill>
                  <a:srgbClr val="0F766E"/>
                </a:solidFill>
                <a:latin typeface="Helvetica Neue"/>
                <a:ea typeface="Helvetica Neue"/>
                <a:cs typeface="Helvetica Neue"/>
              </a:defRPr>
            </a:pPr>
            <a:r>
              <a:rPr sz="3450" b="1" i="0">
                <a:solidFill>
                  <a:srgbClr val="0F766E"/>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9E9E2D81-DB89-4236-BCB8-705223E11F47}"/>
              </a:ext>
            </a:extLst>
          </p:cNvPr>
          <p:cNvSpPr>
            <a:spLocks xmlns:a="http://schemas.openxmlformats.org/drawingml/2006/main" noGrp="1"/>
          </p:cNvSpPr>
          <p:nvPr/>
        </p:nvSpPr>
        <p:spPr>
          <a:xfrm xmlns:a="http://schemas.openxmlformats.org/drawingml/2006/main">
            <a:off x="10096500" y="1733550"/>
            <a:ext cx="1504950" cy="291465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3F02CC7-B1F3-4F65-B3CB-5D2B65D8C2CC}"/>
              </a:ext>
            </a:extLst>
          </p:cNvPr>
          <p:cNvSpPr>
            <a:spLocks xmlns:a="http://schemas.openxmlformats.org/drawingml/2006/main" noGrp="1"/>
          </p:cNvSpPr>
          <p:nvPr/>
        </p:nvSpPr>
        <p:spPr>
          <a:xfrm xmlns:a="http://schemas.openxmlformats.org/drawingml/2006/main">
            <a:off x="10325100" y="2095500"/>
            <a:ext cx="102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SOURCE</a:t>
            </a:r>
          </a:p>
        </p:txBody>
      </p:sp>
      <p:sp>
        <p:nvSpPr>
          <p:cNvPr id="15" name="">
            <a:extLst xmlns:a="http://schemas.openxmlformats.org/drawingml/2006/main">
              <a:ext uri="{FF2B5EF4-FFF2-40B4-BE49-F238E27FC236}">
                <a16:creationId xmlns:a16="http://schemas.microsoft.com/office/drawing/2014/main" id="{10330010-BC86-4F75-B3BD-6BBBEC9F2260}"/>
              </a:ext>
            </a:extLst>
          </p:cNvPr>
          <p:cNvSpPr>
            <a:spLocks xmlns:a="http://schemas.openxmlformats.org/drawingml/2006/main" noGrp="1"/>
          </p:cNvSpPr>
          <p:nvPr/>
        </p:nvSpPr>
        <p:spPr>
          <a:xfrm xmlns:a="http://schemas.openxmlformats.org/drawingml/2006/main">
            <a:off x="10210800" y="2686050"/>
            <a:ext cx="1238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1827"/>
                </a:solidFill>
                <a:latin typeface="Helvetica Neue"/>
                <a:ea typeface="Helvetica Neue"/>
                <a:cs typeface="Helvetica Neue"/>
              </a:defRPr>
            </a:pPr>
            <a:r>
              <a:rPr sz="1500" b="1" i="0">
                <a:solidFill>
                  <a:srgbClr val="111827"/>
                </a:solidFill>
                <a:latin typeface="Helvetica Neue"/>
                <a:ea typeface="Helvetica Neue"/>
                <a:cs typeface="Helvetica Neue"/>
              </a:rPr>
              <a:t>Culture +</a:t>
            </a:r>
          </a:p>
          <a:p xmlns:a="http://schemas.openxmlformats.org/drawingml/2006/main">
            <a:pPr algn="ctr">
              <a:defRPr sz="1500" b="1" i="0">
                <a:solidFill>
                  <a:srgbClr val="111827"/>
                </a:solidFill>
                <a:latin typeface="Helvetica Neue"/>
                <a:ea typeface="Helvetica Neue"/>
                <a:cs typeface="Helvetica Neue"/>
              </a:defRPr>
            </a:pPr>
            <a:r>
              <a:rPr sz="1500" b="1" i="0">
                <a:solidFill>
                  <a:srgbClr val="111827"/>
                </a:solidFill>
                <a:latin typeface="Helvetica Neue"/>
                <a:ea typeface="Helvetica Neue"/>
                <a:cs typeface="Helvetica Neue"/>
              </a:rPr>
              <a:t>social</a:t>
            </a:r>
          </a:p>
          <a:p xmlns:a="http://schemas.openxmlformats.org/drawingml/2006/main">
            <a:pPr algn="ctr">
              <a:defRPr sz="1500" b="1" i="0">
                <a:solidFill>
                  <a:srgbClr val="111827"/>
                </a:solidFill>
                <a:latin typeface="Helvetica Neue"/>
                <a:ea typeface="Helvetica Neue"/>
                <a:cs typeface="Helvetica Neue"/>
              </a:defRPr>
            </a:pPr>
            <a:r>
              <a:rPr sz="1500" b="1" i="0">
                <a:solidFill>
                  <a:srgbClr val="111827"/>
                </a:solidFill>
                <a:latin typeface="Helvetica Neue"/>
                <a:ea typeface="Helvetica Neue"/>
                <a:cs typeface="Helvetica Neue"/>
              </a:rPr>
              <a:t>interaction</a:t>
            </a:r>
          </a:p>
        </p:txBody>
      </p:sp>
      <p:sp>
        <p:nvSpPr>
          <p:cNvPr id="16" name="">
            <a:extLst xmlns:a="http://schemas.openxmlformats.org/drawingml/2006/main">
              <a:ext uri="{FF2B5EF4-FFF2-40B4-BE49-F238E27FC236}">
                <a16:creationId xmlns:a16="http://schemas.microsoft.com/office/drawing/2014/main" id="{2683765E-566F-4CBC-A4EA-3BEE7E51F2B4}"/>
              </a:ext>
            </a:extLst>
          </p:cNvPr>
          <p:cNvSpPr>
            <a:spLocks xmlns:a="http://schemas.openxmlformats.org/drawingml/2006/main" noGrp="1"/>
          </p:cNvSpPr>
          <p:nvPr/>
        </p:nvSpPr>
        <p:spPr>
          <a:xfrm xmlns:a="http://schemas.openxmlformats.org/drawingml/2006/main">
            <a:off x="590550" y="52863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The central problem: How do these tools get from outside to inside?</a:t>
            </a:r>
          </a:p>
        </p:txBody>
      </p:sp>
      <p:sp>
        <p:nvSpPr>
          <p:cNvPr id="17" name="">
            <a:extLst xmlns:a="http://schemas.openxmlformats.org/drawingml/2006/main">
              <a:ext uri="{FF2B5EF4-FFF2-40B4-BE49-F238E27FC236}">
                <a16:creationId xmlns:a16="http://schemas.microsoft.com/office/drawing/2014/main" id="{02CDCA70-9D05-4C25-A5E3-35876EAA41D9}"/>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B0DE46-1AF9-4311-8D04-02752D195F0A}"/>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 68. Slide wording is paraphrased.</a:t>
            </a:r>
          </a:p>
        </p:txBody>
      </p:sp>
      <p:sp>
        <p:nvSpPr>
          <p:cNvPr id="19" name="">
            <a:extLst xmlns:a="http://schemas.openxmlformats.org/drawingml/2006/main">
              <a:ext uri="{FF2B5EF4-FFF2-40B4-BE49-F238E27FC236}">
                <a16:creationId xmlns:a16="http://schemas.microsoft.com/office/drawing/2014/main" id="{A844B8FA-3ED1-45EA-A77A-4F1B10FFD49E}"/>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07</a:t>
            </a:r>
          </a:p>
        </p:txBody>
      </p:sp>
    </p:spTree>
    <p:extLst>
      <p:ext uri="{BB962C8B-B14F-4D97-AF65-F5344CB8AC3E}">
        <p14:creationId xmlns:p14="http://schemas.microsoft.com/office/powerpoint/2010/main" val="14400410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C63413F-B12A-4591-AFA7-46017EE264D7}"/>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84C3A88F-35E2-4658-9364-9C5410804D46}"/>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Social interaction is how culture enters thought</a:t>
            </a:r>
          </a:p>
        </p:txBody>
      </p:sp>
      <p:sp>
        <p:nvSpPr>
          <p:cNvPr id="3" name="">
            <a:extLst xmlns:a="http://schemas.openxmlformats.org/drawingml/2006/main">
              <a:ext uri="{FF2B5EF4-FFF2-40B4-BE49-F238E27FC236}">
                <a16:creationId xmlns:a16="http://schemas.microsoft.com/office/drawing/2014/main" id="{CA234B78-E355-4FD7-82B4-0492DF84D9A6}"/>
              </a:ext>
            </a:extLst>
          </p:cNvPr>
          <p:cNvSpPr>
            <a:spLocks xmlns:a="http://schemas.openxmlformats.org/drawingml/2006/main" noGrp="1"/>
          </p:cNvSpPr>
          <p:nvPr/>
        </p:nvSpPr>
        <p:spPr>
          <a:xfrm xmlns:a="http://schemas.openxmlformats.org/drawingml/2006/main">
            <a:off x="590550" y="1952625"/>
            <a:ext cx="2305050" cy="242887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294831-4024-4ACA-8B39-DEF54172B487}"/>
              </a:ext>
            </a:extLst>
          </p:cNvPr>
          <p:cNvSpPr>
            <a:spLocks xmlns:a="http://schemas.openxmlformats.org/drawingml/2006/main" noGrp="1"/>
          </p:cNvSpPr>
          <p:nvPr/>
        </p:nvSpPr>
        <p:spPr>
          <a:xfrm xmlns:a="http://schemas.openxmlformats.org/drawingml/2006/main">
            <a:off x="857250" y="21717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0F766E"/>
                </a:solidFill>
                <a:latin typeface="Helvetica Neue"/>
                <a:ea typeface="Helvetica Neue"/>
                <a:cs typeface="Helvetica Neue"/>
              </a:defRPr>
            </a:pPr>
            <a:r>
              <a:rPr sz="1425" b="1" i="0">
                <a:solidFill>
                  <a:srgbClr val="0F766E"/>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10CB9F1D-0D21-4F64-9DDA-106845621294}"/>
              </a:ext>
            </a:extLst>
          </p:cNvPr>
          <p:cNvSpPr>
            <a:spLocks xmlns:a="http://schemas.openxmlformats.org/drawingml/2006/main" noGrp="1"/>
          </p:cNvSpPr>
          <p:nvPr/>
        </p:nvSpPr>
        <p:spPr>
          <a:xfrm xmlns:a="http://schemas.openxmlformats.org/drawingml/2006/main">
            <a:off x="85725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Social interaction</a:t>
            </a:r>
          </a:p>
        </p:txBody>
      </p:sp>
      <p:sp>
        <p:nvSpPr>
          <p:cNvPr id="6" name="">
            <a:extLst xmlns:a="http://schemas.openxmlformats.org/drawingml/2006/main">
              <a:ext uri="{FF2B5EF4-FFF2-40B4-BE49-F238E27FC236}">
                <a16:creationId xmlns:a16="http://schemas.microsoft.com/office/drawing/2014/main" id="{A4F23CD2-D0C9-4F81-9F1C-9E170CE32418}"/>
              </a:ext>
            </a:extLst>
          </p:cNvPr>
          <p:cNvSpPr>
            <a:spLocks xmlns:a="http://schemas.openxmlformats.org/drawingml/2006/main" noGrp="1"/>
          </p:cNvSpPr>
          <p:nvPr/>
        </p:nvSpPr>
        <p:spPr>
          <a:xfrm xmlns:a="http://schemas.openxmlformats.org/drawingml/2006/main">
            <a:off x="857250" y="344805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People coordinate around a task.</a:t>
            </a:r>
          </a:p>
        </p:txBody>
      </p:sp>
      <p:sp>
        <p:nvSpPr>
          <p:cNvPr id="7" name="">
            <a:extLst xmlns:a="http://schemas.openxmlformats.org/drawingml/2006/main">
              <a:ext uri="{FF2B5EF4-FFF2-40B4-BE49-F238E27FC236}">
                <a16:creationId xmlns:a16="http://schemas.microsoft.com/office/drawing/2014/main" id="{662AF22D-A482-4E45-80D4-0D906FB8CE0B}"/>
              </a:ext>
            </a:extLst>
          </p:cNvPr>
          <p:cNvSpPr>
            <a:spLocks xmlns:a="http://schemas.openxmlformats.org/drawingml/2006/main" noGrp="1"/>
          </p:cNvSpPr>
          <p:nvPr/>
        </p:nvSpPr>
        <p:spPr>
          <a:xfrm xmlns:a="http://schemas.openxmlformats.org/drawingml/2006/main">
            <a:off x="2867025" y="28575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i="0">
                <a:solidFill>
                  <a:srgbClr val="0F766E"/>
                </a:solidFill>
                <a:latin typeface="Helvetica Neue"/>
                <a:ea typeface="Helvetica Neue"/>
                <a:cs typeface="Helvetica Neue"/>
              </a:defRPr>
            </a:pPr>
            <a:r>
              <a:rPr sz="2400" b="1" i="0">
                <a:solidFill>
                  <a:srgbClr val="0F766E"/>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6413232-3C1A-4D50-BE93-B9683FD2B386}"/>
              </a:ext>
            </a:extLst>
          </p:cNvPr>
          <p:cNvSpPr>
            <a:spLocks xmlns:a="http://schemas.openxmlformats.org/drawingml/2006/main" noGrp="1"/>
          </p:cNvSpPr>
          <p:nvPr/>
        </p:nvSpPr>
        <p:spPr>
          <a:xfrm xmlns:a="http://schemas.openxmlformats.org/drawingml/2006/main">
            <a:off x="3267075" y="1952625"/>
            <a:ext cx="2305050" cy="242887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B6B8D7-0FB6-43A6-8025-B85E1CE0B0D4}"/>
              </a:ext>
            </a:extLst>
          </p:cNvPr>
          <p:cNvSpPr>
            <a:spLocks xmlns:a="http://schemas.openxmlformats.org/drawingml/2006/main" noGrp="1"/>
          </p:cNvSpPr>
          <p:nvPr/>
        </p:nvSpPr>
        <p:spPr>
          <a:xfrm xmlns:a="http://schemas.openxmlformats.org/drawingml/2006/main">
            <a:off x="3533775" y="21717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0F766E"/>
                </a:solidFill>
                <a:latin typeface="Helvetica Neue"/>
                <a:ea typeface="Helvetica Neue"/>
                <a:cs typeface="Helvetica Neue"/>
              </a:defRPr>
            </a:pPr>
            <a:r>
              <a:rPr sz="1425" b="1" i="0">
                <a:solidFill>
                  <a:srgbClr val="0F766E"/>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1032D2DB-FC3A-422A-B94D-1DBC1416F7A2}"/>
              </a:ext>
            </a:extLst>
          </p:cNvPr>
          <p:cNvSpPr>
            <a:spLocks xmlns:a="http://schemas.openxmlformats.org/drawingml/2006/main" noGrp="1"/>
          </p:cNvSpPr>
          <p:nvPr/>
        </p:nvSpPr>
        <p:spPr>
          <a:xfrm xmlns:a="http://schemas.openxmlformats.org/drawingml/2006/main">
            <a:off x="353377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Speech</a:t>
            </a:r>
          </a:p>
        </p:txBody>
      </p:sp>
      <p:sp>
        <p:nvSpPr>
          <p:cNvPr id="11" name="">
            <a:extLst xmlns:a="http://schemas.openxmlformats.org/drawingml/2006/main">
              <a:ext uri="{FF2B5EF4-FFF2-40B4-BE49-F238E27FC236}">
                <a16:creationId xmlns:a16="http://schemas.microsoft.com/office/drawing/2014/main" id="{BF36EC1D-232A-46AC-9912-46356CD63597}"/>
              </a:ext>
            </a:extLst>
          </p:cNvPr>
          <p:cNvSpPr>
            <a:spLocks xmlns:a="http://schemas.openxmlformats.org/drawingml/2006/main" noGrp="1"/>
          </p:cNvSpPr>
          <p:nvPr/>
        </p:nvSpPr>
        <p:spPr>
          <a:xfrm xmlns:a="http://schemas.openxmlformats.org/drawingml/2006/main">
            <a:off x="3533775" y="344805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Language carries shared meanings and forms.</a:t>
            </a:r>
          </a:p>
        </p:txBody>
      </p:sp>
      <p:sp>
        <p:nvSpPr>
          <p:cNvPr id="12" name="">
            <a:extLst xmlns:a="http://schemas.openxmlformats.org/drawingml/2006/main">
              <a:ext uri="{FF2B5EF4-FFF2-40B4-BE49-F238E27FC236}">
                <a16:creationId xmlns:a16="http://schemas.microsoft.com/office/drawing/2014/main" id="{F9AF5FFD-FED2-481A-A727-BDBBA0B9A33E}"/>
              </a:ext>
            </a:extLst>
          </p:cNvPr>
          <p:cNvSpPr>
            <a:spLocks xmlns:a="http://schemas.openxmlformats.org/drawingml/2006/main" noGrp="1"/>
          </p:cNvSpPr>
          <p:nvPr/>
        </p:nvSpPr>
        <p:spPr>
          <a:xfrm xmlns:a="http://schemas.openxmlformats.org/drawingml/2006/main">
            <a:off x="5543550" y="28575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i="0">
                <a:solidFill>
                  <a:srgbClr val="0F766E"/>
                </a:solidFill>
                <a:latin typeface="Helvetica Neue"/>
                <a:ea typeface="Helvetica Neue"/>
                <a:cs typeface="Helvetica Neue"/>
              </a:defRPr>
            </a:pPr>
            <a:r>
              <a:rPr sz="2400" b="1" i="0">
                <a:solidFill>
                  <a:srgbClr val="0F766E"/>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BB6D459A-E3C4-4A85-AA55-7572AAB9D8A1}"/>
              </a:ext>
            </a:extLst>
          </p:cNvPr>
          <p:cNvSpPr>
            <a:spLocks xmlns:a="http://schemas.openxmlformats.org/drawingml/2006/main" noGrp="1"/>
          </p:cNvSpPr>
          <p:nvPr/>
        </p:nvSpPr>
        <p:spPr>
          <a:xfrm xmlns:a="http://schemas.openxmlformats.org/drawingml/2006/main">
            <a:off x="5943600" y="1952625"/>
            <a:ext cx="2305050" cy="2428875"/>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9D8473-A087-4A58-B4A7-763782592F8A}"/>
              </a:ext>
            </a:extLst>
          </p:cNvPr>
          <p:cNvSpPr>
            <a:spLocks xmlns:a="http://schemas.openxmlformats.org/drawingml/2006/main" noGrp="1"/>
          </p:cNvSpPr>
          <p:nvPr/>
        </p:nvSpPr>
        <p:spPr>
          <a:xfrm xmlns:a="http://schemas.openxmlformats.org/drawingml/2006/main">
            <a:off x="6210300" y="21717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0F766E"/>
                </a:solidFill>
                <a:latin typeface="Helvetica Neue"/>
                <a:ea typeface="Helvetica Neue"/>
                <a:cs typeface="Helvetica Neue"/>
              </a:defRPr>
            </a:pPr>
            <a:r>
              <a:rPr sz="1425" b="1" i="0">
                <a:solidFill>
                  <a:srgbClr val="0F766E"/>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B61929F5-3E2B-4257-A8D9-997D6DFF32D1}"/>
              </a:ext>
            </a:extLst>
          </p:cNvPr>
          <p:cNvSpPr>
            <a:spLocks xmlns:a="http://schemas.openxmlformats.org/drawingml/2006/main" noGrp="1"/>
          </p:cNvSpPr>
          <p:nvPr/>
        </p:nvSpPr>
        <p:spPr>
          <a:xfrm xmlns:a="http://schemas.openxmlformats.org/drawingml/2006/main">
            <a:off x="62103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Internalization</a:t>
            </a:r>
          </a:p>
        </p:txBody>
      </p:sp>
      <p:sp>
        <p:nvSpPr>
          <p:cNvPr id="16" name="">
            <a:extLst xmlns:a="http://schemas.openxmlformats.org/drawingml/2006/main">
              <a:ext uri="{FF2B5EF4-FFF2-40B4-BE49-F238E27FC236}">
                <a16:creationId xmlns:a16="http://schemas.microsoft.com/office/drawing/2014/main" id="{CEC6A4A9-A17D-4CAF-8F43-DE630ED9155B}"/>
              </a:ext>
            </a:extLst>
          </p:cNvPr>
          <p:cNvSpPr>
            <a:spLocks xmlns:a="http://schemas.openxmlformats.org/drawingml/2006/main" noGrp="1"/>
          </p:cNvSpPr>
          <p:nvPr/>
        </p:nvSpPr>
        <p:spPr>
          <a:xfrm xmlns:a="http://schemas.openxmlformats.org/drawingml/2006/main">
            <a:off x="6210300" y="344805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These cultural resources enter the stream of thought.</a:t>
            </a:r>
          </a:p>
        </p:txBody>
      </p:sp>
      <p:sp>
        <p:nvSpPr>
          <p:cNvPr id="17" name="">
            <a:extLst xmlns:a="http://schemas.openxmlformats.org/drawingml/2006/main">
              <a:ext uri="{FF2B5EF4-FFF2-40B4-BE49-F238E27FC236}">
                <a16:creationId xmlns:a16="http://schemas.microsoft.com/office/drawing/2014/main" id="{46B4BF9C-E461-4B7F-B376-B650E9157BD3}"/>
              </a:ext>
            </a:extLst>
          </p:cNvPr>
          <p:cNvSpPr>
            <a:spLocks xmlns:a="http://schemas.openxmlformats.org/drawingml/2006/main" noGrp="1"/>
          </p:cNvSpPr>
          <p:nvPr/>
        </p:nvSpPr>
        <p:spPr>
          <a:xfrm xmlns:a="http://schemas.openxmlformats.org/drawingml/2006/main">
            <a:off x="8220075" y="28575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i="0">
                <a:solidFill>
                  <a:srgbClr val="0F766E"/>
                </a:solidFill>
                <a:latin typeface="Helvetica Neue"/>
                <a:ea typeface="Helvetica Neue"/>
                <a:cs typeface="Helvetica Neue"/>
              </a:defRPr>
            </a:pPr>
            <a:r>
              <a:rPr sz="2400" b="1" i="0">
                <a:solidFill>
                  <a:srgbClr val="0F766E"/>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67621139-E33F-486C-BC31-C1F9BD146A35}"/>
              </a:ext>
            </a:extLst>
          </p:cNvPr>
          <p:cNvSpPr>
            <a:spLocks xmlns:a="http://schemas.openxmlformats.org/drawingml/2006/main" noGrp="1"/>
          </p:cNvSpPr>
          <p:nvPr/>
        </p:nvSpPr>
        <p:spPr>
          <a:xfrm xmlns:a="http://schemas.openxmlformats.org/drawingml/2006/main">
            <a:off x="8620125" y="1952625"/>
            <a:ext cx="2305050" cy="242887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3D4BEEF-DE88-448A-8E70-37560A3C756B}"/>
              </a:ext>
            </a:extLst>
          </p:cNvPr>
          <p:cNvSpPr>
            <a:spLocks xmlns:a="http://schemas.openxmlformats.org/drawingml/2006/main" noGrp="1"/>
          </p:cNvSpPr>
          <p:nvPr/>
        </p:nvSpPr>
        <p:spPr>
          <a:xfrm xmlns:a="http://schemas.openxmlformats.org/drawingml/2006/main">
            <a:off x="8886825" y="217170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0F766E"/>
                </a:solidFill>
                <a:latin typeface="Helvetica Neue"/>
                <a:ea typeface="Helvetica Neue"/>
                <a:cs typeface="Helvetica Neue"/>
              </a:defRPr>
            </a:pPr>
            <a:r>
              <a:rPr sz="1425" b="1" i="0">
                <a:solidFill>
                  <a:srgbClr val="0F766E"/>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289BB1C4-6704-4DF4-981D-5AFF91F7022F}"/>
              </a:ext>
            </a:extLst>
          </p:cNvPr>
          <p:cNvSpPr>
            <a:spLocks xmlns:a="http://schemas.openxmlformats.org/drawingml/2006/main" noGrp="1"/>
          </p:cNvSpPr>
          <p:nvPr/>
        </p:nvSpPr>
        <p:spPr>
          <a:xfrm xmlns:a="http://schemas.openxmlformats.org/drawingml/2006/main">
            <a:off x="888682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67"/>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Generative mind</a:t>
            </a:r>
          </a:p>
        </p:txBody>
      </p:sp>
      <p:sp>
        <p:nvSpPr>
          <p:cNvPr id="21" name="">
            <a:extLst xmlns:a="http://schemas.openxmlformats.org/drawingml/2006/main">
              <a:ext uri="{FF2B5EF4-FFF2-40B4-BE49-F238E27FC236}">
                <a16:creationId xmlns:a16="http://schemas.microsoft.com/office/drawing/2014/main" id="{0F05821F-4299-46E0-A734-DCC967867FAC}"/>
              </a:ext>
            </a:extLst>
          </p:cNvPr>
          <p:cNvSpPr>
            <a:spLocks xmlns:a="http://schemas.openxmlformats.org/drawingml/2006/main" noGrp="1"/>
          </p:cNvSpPr>
          <p:nvPr/>
        </p:nvSpPr>
        <p:spPr>
          <a:xfrm xmlns:a="http://schemas.openxmlformats.org/drawingml/2006/main">
            <a:off x="8886825" y="3448050"/>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defRPr sz="1350" b="0" i="0">
                <a:solidFill>
                  <a:srgbClr val="475569"/>
                </a:solidFill>
                <a:latin typeface="Helvetica Neue"/>
                <a:ea typeface="Helvetica Neue"/>
                <a:cs typeface="Helvetica Neue"/>
              </a:defRPr>
            </a:pPr>
            <a:r>
              <a:rPr sz="1350" b="0" i="0">
                <a:solidFill>
                  <a:srgbClr val="475569"/>
                </a:solidFill>
                <a:latin typeface="Helvetica Neue"/>
                <a:ea typeface="Helvetica Neue"/>
                <a:cs typeface="Helvetica Neue"/>
              </a:rPr>
              <a:t>The person can go beyond simply repeating culture.</a:t>
            </a:r>
          </a:p>
        </p:txBody>
      </p:sp>
      <p:sp>
        <p:nvSpPr>
          <p:cNvPr id="22" name="">
            <a:extLst xmlns:a="http://schemas.openxmlformats.org/drawingml/2006/main">
              <a:ext uri="{FF2B5EF4-FFF2-40B4-BE49-F238E27FC236}">
                <a16:creationId xmlns:a16="http://schemas.microsoft.com/office/drawing/2014/main" id="{4C1F3DFE-25C6-4BB8-858A-8132F7244B6C}"/>
              </a:ext>
            </a:extLst>
          </p:cNvPr>
          <p:cNvSpPr>
            <a:spLocks xmlns:a="http://schemas.openxmlformats.org/drawingml/2006/main" noGrp="1"/>
          </p:cNvSpPr>
          <p:nvPr/>
        </p:nvSpPr>
        <p:spPr>
          <a:xfrm xmlns:a="http://schemas.openxmlformats.org/drawingml/2006/main">
            <a:off x="590550" y="4953000"/>
            <a:ext cx="110109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9F75962A-0A24-4024-BD4B-CCB27DEC8546}"/>
              </a:ext>
            </a:extLst>
          </p:cNvPr>
          <p:cNvSpPr>
            <a:spLocks xmlns:a="http://schemas.openxmlformats.org/drawingml/2006/main" noGrp="1"/>
          </p:cNvSpPr>
          <p:nvPr/>
        </p:nvSpPr>
        <p:spPr>
          <a:xfrm xmlns:a="http://schemas.openxmlformats.org/drawingml/2006/main">
            <a:off x="876300" y="514350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259"/>
          </a:bodyPr>
          <a:lstStyle xmlns:a="http://schemas.openxmlformats.org/drawingml/2006/main"/>
          <a:p xmlns:a="http://schemas.openxmlformats.org/drawingml/2006/main">
            <a:pPr algn="l">
              <a:defRPr sz="1575" b="0" i="1">
                <a:solidFill>
                  <a:srgbClr val="111827"/>
                </a:solidFill>
                <a:latin typeface="Helvetica Neue"/>
                <a:ea typeface="Helvetica Neue"/>
                <a:cs typeface="Helvetica Neue"/>
              </a:defRPr>
            </a:pPr>
            <a:r>
              <a:rPr sz="1575" b="0" i="1">
                <a:solidFill>
                  <a:srgbClr val="111827"/>
                </a:solidFill>
                <a:latin typeface="Helvetica Neue"/>
                <a:ea typeface="Helvetica Neue"/>
                <a:cs typeface="Helvetica Neue"/>
              </a:rPr>
              <a:t>Internalization is not merely copying. It is the movement of culturally shaped meanings from shared activity into individual thought.</a:t>
            </a:r>
          </a:p>
        </p:txBody>
      </p:sp>
      <p:sp>
        <p:nvSpPr>
          <p:cNvPr id="24" name="">
            <a:extLst xmlns:a="http://schemas.openxmlformats.org/drawingml/2006/main">
              <a:ext uri="{FF2B5EF4-FFF2-40B4-BE49-F238E27FC236}">
                <a16:creationId xmlns:a16="http://schemas.microsoft.com/office/drawing/2014/main" id="{7C4F9BD4-1A57-4DFC-B309-893868E59E10}"/>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C931463-034C-4639-A012-A61A375A9469}"/>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 68. Slide wording is paraphrased.</a:t>
            </a:r>
          </a:p>
        </p:txBody>
      </p:sp>
      <p:sp>
        <p:nvSpPr>
          <p:cNvPr id="26" name="">
            <a:extLst xmlns:a="http://schemas.openxmlformats.org/drawingml/2006/main">
              <a:ext uri="{FF2B5EF4-FFF2-40B4-BE49-F238E27FC236}">
                <a16:creationId xmlns:a16="http://schemas.microsoft.com/office/drawing/2014/main" id="{F556997B-ACD2-443D-89B9-F13E91C806A9}"/>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08</a:t>
            </a:r>
          </a:p>
        </p:txBody>
      </p:sp>
    </p:spTree>
    <p:extLst>
      <p:ext uri="{BB962C8B-B14F-4D97-AF65-F5344CB8AC3E}">
        <p14:creationId xmlns:p14="http://schemas.microsoft.com/office/powerpoint/2010/main" val="1982657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96838A1-BCF4-4870-8F93-DE33B19DBE41}"/>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A4FDC5B8-476E-425F-A716-2298E724B842}"/>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The ZPD shows what guided help makes possible</a:t>
            </a:r>
          </a:p>
        </p:txBody>
      </p:sp>
      <p:sp>
        <p:nvSpPr>
          <p:cNvPr id="3" name="">
            <a:extLst xmlns:a="http://schemas.openxmlformats.org/drawingml/2006/main">
              <a:ext uri="{FF2B5EF4-FFF2-40B4-BE49-F238E27FC236}">
                <a16:creationId xmlns:a16="http://schemas.microsoft.com/office/drawing/2014/main" id="{520F2EB4-0036-4F83-A057-495349A4F029}"/>
              </a:ext>
            </a:extLst>
          </p:cNvPr>
          <p:cNvSpPr>
            <a:spLocks xmlns:a="http://schemas.openxmlformats.org/drawingml/2006/main" noGrp="1"/>
          </p:cNvSpPr>
          <p:nvPr/>
        </p:nvSpPr>
        <p:spPr>
          <a:xfrm xmlns:a="http://schemas.openxmlformats.org/drawingml/2006/main">
            <a:off x="590550" y="13525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948"/>
          </a:bodyPr>
          <a:lstStyle xmlns:a="http://schemas.openxmlformats.org/drawingml/2006/main"/>
          <a:p xmlns:a="http://schemas.openxmlformats.org/drawingml/2006/main">
            <a:pPr algn="l">
              <a:defRPr sz="1650" b="0" i="0">
                <a:solidFill>
                  <a:srgbClr val="475569"/>
                </a:solidFill>
                <a:latin typeface="Helvetica Neue"/>
                <a:ea typeface="Helvetica Neue"/>
                <a:cs typeface="Helvetica Neue"/>
              </a:defRPr>
            </a:pPr>
            <a:r>
              <a:rPr sz="1650" b="0" i="0">
                <a:solidFill>
                  <a:srgbClr val="475569"/>
                </a:solidFill>
                <a:latin typeface="Helvetica Neue"/>
                <a:ea typeface="Helvetica Neue"/>
                <a:cs typeface="Helvetica Neue"/>
              </a:rPr>
              <a:t>Zone of proximal development = the gap between independent performance and performance with support from a knowledgeable other.</a:t>
            </a:r>
          </a:p>
        </p:txBody>
      </p:sp>
      <p:sp>
        <p:nvSpPr>
          <p:cNvPr id="4" name="">
            <a:extLst xmlns:a="http://schemas.openxmlformats.org/drawingml/2006/main">
              <a:ext uri="{FF2B5EF4-FFF2-40B4-BE49-F238E27FC236}">
                <a16:creationId xmlns:a16="http://schemas.microsoft.com/office/drawing/2014/main" id="{4ECAFBD4-FEC8-4451-8BBA-E6AE96B73BAD}"/>
              </a:ext>
            </a:extLst>
          </p:cNvPr>
          <p:cNvSpPr>
            <a:spLocks xmlns:a="http://schemas.openxmlformats.org/drawingml/2006/main" noGrp="1"/>
          </p:cNvSpPr>
          <p:nvPr/>
        </p:nvSpPr>
        <p:spPr>
          <a:xfrm xmlns:a="http://schemas.openxmlformats.org/drawingml/2006/main">
            <a:off x="590550" y="2238375"/>
            <a:ext cx="2971800" cy="2324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9BCBD8-879F-4E66-ACE9-8B6FC977B749}"/>
              </a:ext>
            </a:extLst>
          </p:cNvPr>
          <p:cNvSpPr>
            <a:spLocks xmlns:a="http://schemas.openxmlformats.org/drawingml/2006/main" noGrp="1"/>
          </p:cNvSpPr>
          <p:nvPr/>
        </p:nvSpPr>
        <p:spPr>
          <a:xfrm xmlns:a="http://schemas.openxmlformats.org/drawingml/2006/main">
            <a:off x="971550" y="2571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ALONE</a:t>
            </a:r>
          </a:p>
        </p:txBody>
      </p:sp>
      <p:sp>
        <p:nvSpPr>
          <p:cNvPr id="6" name="">
            <a:extLst xmlns:a="http://schemas.openxmlformats.org/drawingml/2006/main">
              <a:ext uri="{FF2B5EF4-FFF2-40B4-BE49-F238E27FC236}">
                <a16:creationId xmlns:a16="http://schemas.microsoft.com/office/drawing/2014/main" id="{47FAF62E-3070-47B1-854F-035B27A9CD7C}"/>
              </a:ext>
            </a:extLst>
          </p:cNvPr>
          <p:cNvSpPr>
            <a:spLocks xmlns:a="http://schemas.openxmlformats.org/drawingml/2006/main" noGrp="1"/>
          </p:cNvSpPr>
          <p:nvPr/>
        </p:nvSpPr>
        <p:spPr>
          <a:xfrm xmlns:a="http://schemas.openxmlformats.org/drawingml/2006/main">
            <a:off x="990600" y="3124200"/>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02"/>
          </a:bodyPr>
          <a:lstStyle xmlns:a="http://schemas.openxmlformats.org/drawingml/2006/main"/>
          <a:p xmlns:a="http://schemas.openxmlformats.org/drawingml/2006/main">
            <a:pPr algn="ctr">
              <a:defRPr sz="2100" b="1" i="0">
                <a:solidFill>
                  <a:srgbClr val="111827"/>
                </a:solidFill>
                <a:latin typeface="Helvetica Neue"/>
                <a:ea typeface="Helvetica Neue"/>
                <a:cs typeface="Helvetica Neue"/>
              </a:defRPr>
            </a:pPr>
            <a:r>
              <a:rPr sz="2100" b="1" i="0">
                <a:solidFill>
                  <a:srgbClr val="111827"/>
                </a:solidFill>
                <a:latin typeface="Helvetica Neue"/>
                <a:ea typeface="Helvetica Neue"/>
                <a:cs typeface="Helvetica Neue"/>
              </a:rPr>
              <a:t>What the learner can already do independently</a:t>
            </a:r>
          </a:p>
        </p:txBody>
      </p:sp>
      <p:sp>
        <p:nvSpPr>
          <p:cNvPr id="7" name="">
            <a:extLst xmlns:a="http://schemas.openxmlformats.org/drawingml/2006/main">
              <a:ext uri="{FF2B5EF4-FFF2-40B4-BE49-F238E27FC236}">
                <a16:creationId xmlns:a16="http://schemas.microsoft.com/office/drawing/2014/main" id="{30F9DD4C-A276-4E68-A6EE-5B90EAF4523C}"/>
              </a:ext>
            </a:extLst>
          </p:cNvPr>
          <p:cNvSpPr>
            <a:spLocks xmlns:a="http://schemas.openxmlformats.org/drawingml/2006/main" noGrp="1"/>
          </p:cNvSpPr>
          <p:nvPr/>
        </p:nvSpPr>
        <p:spPr>
          <a:xfrm xmlns:a="http://schemas.openxmlformats.org/drawingml/2006/main">
            <a:off x="3733800" y="3143250"/>
            <a:ext cx="64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3450" b="1" i="0">
                <a:solidFill>
                  <a:srgbClr val="0F766E"/>
                </a:solidFill>
                <a:latin typeface="Helvetica Neue"/>
                <a:ea typeface="Helvetica Neue"/>
                <a:cs typeface="Helvetica Neue"/>
              </a:defRPr>
            </a:pPr>
            <a:r>
              <a:rPr sz="3450" b="1" i="0">
                <a:solidFill>
                  <a:srgbClr val="0F766E"/>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F7D3415-A019-415C-A172-87D8E5EB920A}"/>
              </a:ext>
            </a:extLst>
          </p:cNvPr>
          <p:cNvSpPr>
            <a:spLocks xmlns:a="http://schemas.openxmlformats.org/drawingml/2006/main" noGrp="1"/>
          </p:cNvSpPr>
          <p:nvPr/>
        </p:nvSpPr>
        <p:spPr>
          <a:xfrm xmlns:a="http://schemas.openxmlformats.org/drawingml/2006/main">
            <a:off x="4619625" y="2047875"/>
            <a:ext cx="2971800" cy="270510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DAC5D7-0626-40EA-9209-3B4920B16F01}"/>
              </a:ext>
            </a:extLst>
          </p:cNvPr>
          <p:cNvSpPr>
            <a:spLocks xmlns:a="http://schemas.openxmlformats.org/drawingml/2006/main" noGrp="1"/>
          </p:cNvSpPr>
          <p:nvPr/>
        </p:nvSpPr>
        <p:spPr>
          <a:xfrm xmlns:a="http://schemas.openxmlformats.org/drawingml/2006/main">
            <a:off x="5000625" y="2400300"/>
            <a:ext cx="220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ZPD</a:t>
            </a:r>
          </a:p>
        </p:txBody>
      </p:sp>
      <p:sp>
        <p:nvSpPr>
          <p:cNvPr id="10" name="">
            <a:extLst xmlns:a="http://schemas.openxmlformats.org/drawingml/2006/main">
              <a:ext uri="{FF2B5EF4-FFF2-40B4-BE49-F238E27FC236}">
                <a16:creationId xmlns:a16="http://schemas.microsoft.com/office/drawing/2014/main" id="{A2B02CCE-596A-49FC-800D-678E7FD8B33E}"/>
              </a:ext>
            </a:extLst>
          </p:cNvPr>
          <p:cNvSpPr>
            <a:spLocks xmlns:a="http://schemas.openxmlformats.org/drawingml/2006/main" noGrp="1"/>
          </p:cNvSpPr>
          <p:nvPr/>
        </p:nvSpPr>
        <p:spPr>
          <a:xfrm xmlns:a="http://schemas.openxmlformats.org/drawingml/2006/main">
            <a:off x="5000625" y="2952750"/>
            <a:ext cx="2209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02"/>
          </a:bodyPr>
          <a:lstStyle xmlns:a="http://schemas.openxmlformats.org/drawingml/2006/main"/>
          <a:p xmlns:a="http://schemas.openxmlformats.org/drawingml/2006/main">
            <a:pPr algn="ctr">
              <a:defRPr sz="2100" b="1" i="0">
                <a:solidFill>
                  <a:srgbClr val="111827"/>
                </a:solidFill>
                <a:latin typeface="Helvetica Neue"/>
                <a:ea typeface="Helvetica Neue"/>
                <a:cs typeface="Helvetica Neue"/>
              </a:defRPr>
            </a:pPr>
            <a:r>
              <a:rPr sz="2100" b="1" i="0">
                <a:solidFill>
                  <a:srgbClr val="111827"/>
                </a:solidFill>
                <a:latin typeface="Helvetica Neue"/>
                <a:ea typeface="Helvetica Neue"/>
                <a:cs typeface="Helvetica Neue"/>
              </a:rPr>
              <a:t>What becomes possible with well-matched help</a:t>
            </a:r>
          </a:p>
        </p:txBody>
      </p:sp>
      <p:sp>
        <p:nvSpPr>
          <p:cNvPr id="11" name="">
            <a:extLst xmlns:a="http://schemas.openxmlformats.org/drawingml/2006/main">
              <a:ext uri="{FF2B5EF4-FFF2-40B4-BE49-F238E27FC236}">
                <a16:creationId xmlns:a16="http://schemas.microsoft.com/office/drawing/2014/main" id="{E971386D-6EA1-48BA-A371-B033CF418F29}"/>
              </a:ext>
            </a:extLst>
          </p:cNvPr>
          <p:cNvSpPr>
            <a:spLocks xmlns:a="http://schemas.openxmlformats.org/drawingml/2006/main" noGrp="1"/>
          </p:cNvSpPr>
          <p:nvPr/>
        </p:nvSpPr>
        <p:spPr>
          <a:xfrm xmlns:a="http://schemas.openxmlformats.org/drawingml/2006/main">
            <a:off x="4933950" y="4048125"/>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1200" b="0" i="0">
                <a:solidFill>
                  <a:srgbClr val="475569"/>
                </a:solidFill>
                <a:latin typeface="Helvetica Neue"/>
                <a:ea typeface="Helvetica Neue"/>
                <a:cs typeface="Helvetica Neue"/>
              </a:defRPr>
            </a:pPr>
            <a:r>
              <a:rPr sz="1200" b="0" i="0">
                <a:solidFill>
                  <a:srgbClr val="475569"/>
                </a:solidFill>
                <a:latin typeface="Helvetica Neue"/>
                <a:ea typeface="Helvetica Neue"/>
                <a:cs typeface="Helvetica Neue"/>
              </a:rPr>
              <a:t>Hints • sequencing • foregrounding features • negotiation</a:t>
            </a:r>
          </a:p>
        </p:txBody>
      </p:sp>
      <p:sp>
        <p:nvSpPr>
          <p:cNvPr id="12" name="">
            <a:extLst xmlns:a="http://schemas.openxmlformats.org/drawingml/2006/main">
              <a:ext uri="{FF2B5EF4-FFF2-40B4-BE49-F238E27FC236}">
                <a16:creationId xmlns:a16="http://schemas.microsoft.com/office/drawing/2014/main" id="{C19A4161-C4E9-462E-93AF-0FFB24C8D2C4}"/>
              </a:ext>
            </a:extLst>
          </p:cNvPr>
          <p:cNvSpPr>
            <a:spLocks xmlns:a="http://schemas.openxmlformats.org/drawingml/2006/main" noGrp="1"/>
          </p:cNvSpPr>
          <p:nvPr/>
        </p:nvSpPr>
        <p:spPr>
          <a:xfrm xmlns:a="http://schemas.openxmlformats.org/drawingml/2006/main">
            <a:off x="8362950" y="3143250"/>
            <a:ext cx="64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3450" b="1" i="0">
                <a:solidFill>
                  <a:srgbClr val="0F766E"/>
                </a:solidFill>
                <a:latin typeface="Helvetica Neue"/>
                <a:ea typeface="Helvetica Neue"/>
                <a:cs typeface="Helvetica Neue"/>
              </a:defRPr>
            </a:pPr>
            <a:r>
              <a:rPr sz="3450" b="1" i="0">
                <a:solidFill>
                  <a:srgbClr val="0F766E"/>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18DCDF23-5C3B-4886-BA52-28F3B7B84C39}"/>
              </a:ext>
            </a:extLst>
          </p:cNvPr>
          <p:cNvSpPr>
            <a:spLocks xmlns:a="http://schemas.openxmlformats.org/drawingml/2006/main" noGrp="1"/>
          </p:cNvSpPr>
          <p:nvPr/>
        </p:nvSpPr>
        <p:spPr>
          <a:xfrm xmlns:a="http://schemas.openxmlformats.org/drawingml/2006/main">
            <a:off x="9201150" y="2238375"/>
            <a:ext cx="2400300" cy="2324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5A26FD-D78C-430C-BFD7-E9B7DD258E6C}"/>
              </a:ext>
            </a:extLst>
          </p:cNvPr>
          <p:cNvSpPr>
            <a:spLocks xmlns:a="http://schemas.openxmlformats.org/drawingml/2006/main" noGrp="1"/>
          </p:cNvSpPr>
          <p:nvPr/>
        </p:nvSpPr>
        <p:spPr>
          <a:xfrm xmlns:a="http://schemas.openxmlformats.org/drawingml/2006/main">
            <a:off x="9467850" y="25717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WITH OTHERS</a:t>
            </a:r>
          </a:p>
        </p:txBody>
      </p:sp>
      <p:sp>
        <p:nvSpPr>
          <p:cNvPr id="15" name="">
            <a:extLst xmlns:a="http://schemas.openxmlformats.org/drawingml/2006/main">
              <a:ext uri="{FF2B5EF4-FFF2-40B4-BE49-F238E27FC236}">
                <a16:creationId xmlns:a16="http://schemas.microsoft.com/office/drawing/2014/main" id="{6F96425C-F4FE-4FED-963F-3C646F5236B1}"/>
              </a:ext>
            </a:extLst>
          </p:cNvPr>
          <p:cNvSpPr>
            <a:spLocks xmlns:a="http://schemas.openxmlformats.org/drawingml/2006/main" noGrp="1"/>
          </p:cNvSpPr>
          <p:nvPr/>
        </p:nvSpPr>
        <p:spPr>
          <a:xfrm xmlns:a="http://schemas.openxmlformats.org/drawingml/2006/main">
            <a:off x="9467850" y="3124200"/>
            <a:ext cx="1866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35"/>
          </a:bodyPr>
          <a:lstStyle xmlns:a="http://schemas.openxmlformats.org/drawingml/2006/main"/>
          <a:p xmlns:a="http://schemas.openxmlformats.org/drawingml/2006/main">
            <a:pPr algn="ctr">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A tutor senses what help is needed</a:t>
            </a:r>
          </a:p>
        </p:txBody>
      </p:sp>
      <p:sp>
        <p:nvSpPr>
          <p:cNvPr id="16" name="">
            <a:extLst xmlns:a="http://schemas.openxmlformats.org/drawingml/2006/main">
              <a:ext uri="{FF2B5EF4-FFF2-40B4-BE49-F238E27FC236}">
                <a16:creationId xmlns:a16="http://schemas.microsoft.com/office/drawing/2014/main" id="{833C99C7-2D25-4437-80CB-F93B7825613E}"/>
              </a:ext>
            </a:extLst>
          </p:cNvPr>
          <p:cNvSpPr>
            <a:spLocks xmlns:a="http://schemas.openxmlformats.org/drawingml/2006/main" noGrp="1"/>
          </p:cNvSpPr>
          <p:nvPr/>
        </p:nvSpPr>
        <p:spPr>
          <a:xfrm xmlns:a="http://schemas.openxmlformats.org/drawingml/2006/main">
            <a:off x="590550" y="52863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Teaching becomes a systematic cultural practice.</a:t>
            </a:r>
          </a:p>
        </p:txBody>
      </p:sp>
      <p:sp>
        <p:nvSpPr>
          <p:cNvPr id="17" name="">
            <a:extLst xmlns:a="http://schemas.openxmlformats.org/drawingml/2006/main">
              <a:ext uri="{FF2B5EF4-FFF2-40B4-BE49-F238E27FC236}">
                <a16:creationId xmlns:a16="http://schemas.microsoft.com/office/drawing/2014/main" id="{33FE7452-E1DE-4BD0-B2F0-F9146A0FBC5C}"/>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9549907-CF7D-4304-8750-A5D3722A5066}"/>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68–69. Slide wording is paraphrased.</a:t>
            </a:r>
          </a:p>
        </p:txBody>
      </p:sp>
      <p:sp>
        <p:nvSpPr>
          <p:cNvPr id="19" name="">
            <a:extLst xmlns:a="http://schemas.openxmlformats.org/drawingml/2006/main">
              <a:ext uri="{FF2B5EF4-FFF2-40B4-BE49-F238E27FC236}">
                <a16:creationId xmlns:a16="http://schemas.microsoft.com/office/drawing/2014/main" id="{4C71C016-5ACF-4C0C-B34E-7109D1DFCDF1}"/>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09</a:t>
            </a:r>
          </a:p>
        </p:txBody>
      </p:sp>
    </p:spTree>
    <p:extLst>
      <p:ext uri="{BB962C8B-B14F-4D97-AF65-F5344CB8AC3E}">
        <p14:creationId xmlns:p14="http://schemas.microsoft.com/office/powerpoint/2010/main" val="6291046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A44FF0-3BC8-4155-8A87-9327A8F8552E}"/>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5FA19AAC-4904-44A6-8A67-A987DE3B4646}"/>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955"/>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Piaget is closer to traditional cognitive science; Vygotsky to situated cognition</a:t>
            </a:r>
          </a:p>
        </p:txBody>
      </p:sp>
      <p:sp>
        <p:nvSpPr>
          <p:cNvPr id="3" name="">
            <a:extLst xmlns:a="http://schemas.openxmlformats.org/drawingml/2006/main">
              <a:ext uri="{FF2B5EF4-FFF2-40B4-BE49-F238E27FC236}">
                <a16:creationId xmlns:a16="http://schemas.microsoft.com/office/drawing/2014/main" id="{B4A72E5A-DDC9-4C94-8EEA-14E4638FACFF}"/>
              </a:ext>
            </a:extLst>
          </p:cNvPr>
          <p:cNvSpPr>
            <a:spLocks xmlns:a="http://schemas.openxmlformats.org/drawingml/2006/main" noGrp="1"/>
          </p:cNvSpPr>
          <p:nvPr/>
        </p:nvSpPr>
        <p:spPr>
          <a:xfrm xmlns:a="http://schemas.openxmlformats.org/drawingml/2006/main">
            <a:off x="590550" y="1828800"/>
            <a:ext cx="5143500" cy="3067050"/>
          </a:xfrm>
          <a:prstGeom xmlns:a="http://schemas.openxmlformats.org/drawingml/2006/main" prst="rect">
            <a:avLst/>
          </a:prstGeom>
          <a:solidFill xmlns:a="http://schemas.openxmlformats.org/drawingml/2006/main">
            <a:srgbClr val="EAF2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3D60F1-1AF9-4F70-A7A8-E4DF9FA7A737}"/>
              </a:ext>
            </a:extLst>
          </p:cNvPr>
          <p:cNvSpPr>
            <a:spLocks xmlns:a="http://schemas.openxmlformats.org/drawingml/2006/main" noGrp="1"/>
          </p:cNvSpPr>
          <p:nvPr/>
        </p:nvSpPr>
        <p:spPr>
          <a:xfrm xmlns:a="http://schemas.openxmlformats.org/drawingml/2006/main">
            <a:off x="971550" y="2209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2563EB"/>
                </a:solidFill>
                <a:latin typeface="Helvetica Neue"/>
                <a:ea typeface="Helvetica Neue"/>
                <a:cs typeface="Helvetica Neue"/>
              </a:defRPr>
            </a:pPr>
            <a:r>
              <a:rPr sz="1125" b="1" i="0">
                <a:solidFill>
                  <a:srgbClr val="2563EB"/>
                </a:solidFill>
                <a:latin typeface="Helvetica Neue"/>
                <a:ea typeface="Helvetica Neue"/>
                <a:cs typeface="Helvetica Neue"/>
              </a:rPr>
              <a:t>PIAGET</a:t>
            </a:r>
          </a:p>
        </p:txBody>
      </p:sp>
      <p:sp>
        <p:nvSpPr>
          <p:cNvPr id="5" name="">
            <a:extLst xmlns:a="http://schemas.openxmlformats.org/drawingml/2006/main">
              <a:ext uri="{FF2B5EF4-FFF2-40B4-BE49-F238E27FC236}">
                <a16:creationId xmlns:a16="http://schemas.microsoft.com/office/drawing/2014/main" id="{74FFA446-2BA1-4405-BEF6-F3A73E13F879}"/>
              </a:ext>
            </a:extLst>
          </p:cNvPr>
          <p:cNvSpPr>
            <a:spLocks xmlns:a="http://schemas.openxmlformats.org/drawingml/2006/main" noGrp="1"/>
          </p:cNvSpPr>
          <p:nvPr/>
        </p:nvSpPr>
        <p:spPr>
          <a:xfrm xmlns:a="http://schemas.openxmlformats.org/drawingml/2006/main">
            <a:off x="971550" y="26479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6"/>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Traditional cognitive science</a:t>
            </a:r>
          </a:p>
        </p:txBody>
      </p:sp>
      <p:sp>
        <p:nvSpPr>
          <p:cNvPr id="6" name="">
            <a:extLst xmlns:a="http://schemas.openxmlformats.org/drawingml/2006/main">
              <a:ext uri="{FF2B5EF4-FFF2-40B4-BE49-F238E27FC236}">
                <a16:creationId xmlns:a16="http://schemas.microsoft.com/office/drawing/2014/main" id="{B3ABD91E-BE97-48F7-BA72-3EA869431821}"/>
              </a:ext>
            </a:extLst>
          </p:cNvPr>
          <p:cNvSpPr>
            <a:spLocks xmlns:a="http://schemas.openxmlformats.org/drawingml/2006/main" noGrp="1"/>
          </p:cNvSpPr>
          <p:nvPr/>
        </p:nvSpPr>
        <p:spPr>
          <a:xfrm xmlns:a="http://schemas.openxmlformats.org/drawingml/2006/main">
            <a:off x="990600" y="3371850"/>
            <a:ext cx="3810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General, logic-like structures</a:t>
            </a:r>
          </a:p>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Individual operations</a:t>
            </a:r>
          </a:p>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Explanation, verification, and invariant development</a:t>
            </a:r>
          </a:p>
        </p:txBody>
      </p:sp>
      <p:sp>
        <p:nvSpPr>
          <p:cNvPr id="7" name="">
            <a:extLst xmlns:a="http://schemas.openxmlformats.org/drawingml/2006/main">
              <a:ext uri="{FF2B5EF4-FFF2-40B4-BE49-F238E27FC236}">
                <a16:creationId xmlns:a16="http://schemas.microsoft.com/office/drawing/2014/main" id="{D6A6EFCA-6525-44DA-9422-F629F8B59764}"/>
              </a:ext>
            </a:extLst>
          </p:cNvPr>
          <p:cNvSpPr>
            <a:spLocks xmlns:a="http://schemas.openxmlformats.org/drawingml/2006/main" noGrp="1"/>
          </p:cNvSpPr>
          <p:nvPr/>
        </p:nvSpPr>
        <p:spPr>
          <a:xfrm xmlns:a="http://schemas.openxmlformats.org/drawingml/2006/main">
            <a:off x="6457950" y="1828800"/>
            <a:ext cx="5143500" cy="306705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3E6E20-50CC-42BB-9390-D40A8DDB64B1}"/>
              </a:ext>
            </a:extLst>
          </p:cNvPr>
          <p:cNvSpPr>
            <a:spLocks xmlns:a="http://schemas.openxmlformats.org/drawingml/2006/main" noGrp="1"/>
          </p:cNvSpPr>
          <p:nvPr/>
        </p:nvSpPr>
        <p:spPr>
          <a:xfrm xmlns:a="http://schemas.openxmlformats.org/drawingml/2006/main">
            <a:off x="6838950" y="2209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VYGOTSKY</a:t>
            </a:r>
          </a:p>
        </p:txBody>
      </p:sp>
      <p:sp>
        <p:nvSpPr>
          <p:cNvPr id="9" name="">
            <a:extLst xmlns:a="http://schemas.openxmlformats.org/drawingml/2006/main">
              <a:ext uri="{FF2B5EF4-FFF2-40B4-BE49-F238E27FC236}">
                <a16:creationId xmlns:a16="http://schemas.microsoft.com/office/drawing/2014/main" id="{0BEB168F-070A-4655-8791-FBBD4A200C35}"/>
              </a:ext>
            </a:extLst>
          </p:cNvPr>
          <p:cNvSpPr>
            <a:spLocks xmlns:a="http://schemas.openxmlformats.org/drawingml/2006/main" noGrp="1"/>
          </p:cNvSpPr>
          <p:nvPr/>
        </p:nvSpPr>
        <p:spPr>
          <a:xfrm xmlns:a="http://schemas.openxmlformats.org/drawingml/2006/main">
            <a:off x="6838950" y="26479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Situated cognitive science</a:t>
            </a:r>
          </a:p>
        </p:txBody>
      </p:sp>
      <p:sp>
        <p:nvSpPr>
          <p:cNvPr id="10" name="">
            <a:extLst xmlns:a="http://schemas.openxmlformats.org/drawingml/2006/main">
              <a:ext uri="{FF2B5EF4-FFF2-40B4-BE49-F238E27FC236}">
                <a16:creationId xmlns:a16="http://schemas.microsoft.com/office/drawing/2014/main" id="{240AF38B-9AC8-49F6-A0EA-320B98ECD5C9}"/>
              </a:ext>
            </a:extLst>
          </p:cNvPr>
          <p:cNvSpPr>
            <a:spLocks xmlns:a="http://schemas.openxmlformats.org/drawingml/2006/main" noGrp="1"/>
          </p:cNvSpPr>
          <p:nvPr/>
        </p:nvSpPr>
        <p:spPr>
          <a:xfrm xmlns:a="http://schemas.openxmlformats.org/drawingml/2006/main">
            <a:off x="6858000" y="3371850"/>
            <a:ext cx="3810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Meaning in language and culture</a:t>
            </a:r>
          </a:p>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Social interaction and context</a:t>
            </a:r>
          </a:p>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 Interpretation and situated understanding</a:t>
            </a:r>
          </a:p>
        </p:txBody>
      </p:sp>
      <p:sp>
        <p:nvSpPr>
          <p:cNvPr id="11" name="">
            <a:extLst xmlns:a="http://schemas.openxmlformats.org/drawingml/2006/main">
              <a:ext uri="{FF2B5EF4-FFF2-40B4-BE49-F238E27FC236}">
                <a16:creationId xmlns:a16="http://schemas.microsoft.com/office/drawing/2014/main" id="{949C3E11-3FED-4752-A750-C6037E63B00B}"/>
              </a:ext>
            </a:extLst>
          </p:cNvPr>
          <p:cNvSpPr>
            <a:spLocks xmlns:a="http://schemas.openxmlformats.org/drawingml/2006/main" noGrp="1"/>
          </p:cNvSpPr>
          <p:nvPr/>
        </p:nvSpPr>
        <p:spPr>
          <a:xfrm xmlns:a="http://schemas.openxmlformats.org/drawingml/2006/main">
            <a:off x="590550" y="536257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1">
                <a:solidFill>
                  <a:srgbClr val="475569"/>
                </a:solidFill>
                <a:latin typeface="Helvetica Neue"/>
                <a:ea typeface="Helvetica Neue"/>
                <a:cs typeface="Helvetica Neue"/>
              </a:defRPr>
            </a:pPr>
            <a:r>
              <a:rPr sz="1500" b="0" i="1">
                <a:solidFill>
                  <a:srgbClr val="475569"/>
                </a:solidFill>
                <a:latin typeface="Helvetica Neue"/>
                <a:ea typeface="Helvetica Neue"/>
                <a:cs typeface="Helvetica Neue"/>
              </a:rPr>
              <a:t>This is a rough mapping, not a claim that either thinker fits only one box.</a:t>
            </a:r>
          </a:p>
        </p:txBody>
      </p:sp>
      <p:sp>
        <p:nvSpPr>
          <p:cNvPr id="12" name="">
            <a:extLst xmlns:a="http://schemas.openxmlformats.org/drawingml/2006/main">
              <a:ext uri="{FF2B5EF4-FFF2-40B4-BE49-F238E27FC236}">
                <a16:creationId xmlns:a16="http://schemas.microsoft.com/office/drawing/2014/main" id="{0F13E918-970C-4BC9-8105-81AB1164A96C}"/>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900AF3-C3D6-4E4F-AF38-FEDA3B19CF22}"/>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70–72. The cognitive-science labels are interpretive applications of Bruner’s contrast.</a:t>
            </a:r>
          </a:p>
        </p:txBody>
      </p:sp>
      <p:sp>
        <p:nvSpPr>
          <p:cNvPr id="14" name="">
            <a:extLst xmlns:a="http://schemas.openxmlformats.org/drawingml/2006/main">
              <a:ext uri="{FF2B5EF4-FFF2-40B4-BE49-F238E27FC236}">
                <a16:creationId xmlns:a16="http://schemas.microsoft.com/office/drawing/2014/main" id="{A5EF37EE-C7FE-450A-88FE-93CEC07324FA}"/>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10</a:t>
            </a:r>
          </a:p>
        </p:txBody>
      </p:sp>
    </p:spTree>
    <p:extLst>
      <p:ext uri="{BB962C8B-B14F-4D97-AF65-F5344CB8AC3E}">
        <p14:creationId xmlns:p14="http://schemas.microsoft.com/office/powerpoint/2010/main" val="10561649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E32B59F-674A-486F-A7A0-396E78154BA7}"/>
              </a:ext>
            </a:extLst>
          </p:cNvPr>
          <p:cNvSpPr>
            <a:spLocks xmlns:a="http://schemas.openxmlformats.org/drawingml/2006/main" noGrp="1"/>
          </p:cNvSpPr>
          <p:nvPr/>
        </p:nvSpPr>
        <p:spPr>
          <a:xfrm xmlns:a="http://schemas.openxmlformats.org/drawingml/2006/main">
            <a:off x="590550" y="361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BE4A5F20-4372-4D5B-8DAA-D4998625E73E}"/>
              </a:ext>
            </a:extLst>
          </p:cNvPr>
          <p:cNvSpPr>
            <a:spLocks xmlns:a="http://schemas.openxmlformats.org/drawingml/2006/main" noGrp="1"/>
          </p:cNvSpPr>
          <p:nvPr/>
        </p:nvSpPr>
        <p:spPr>
          <a:xfrm xmlns:a="http://schemas.openxmlformats.org/drawingml/2006/main">
            <a:off x="590550" y="7239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Their divergence resolves two developmental puzzles</a:t>
            </a:r>
          </a:p>
        </p:txBody>
      </p:sp>
      <p:sp>
        <p:nvSpPr>
          <p:cNvPr id="3" name="">
            <a:extLst xmlns:a="http://schemas.openxmlformats.org/drawingml/2006/main">
              <a:ext uri="{FF2B5EF4-FFF2-40B4-BE49-F238E27FC236}">
                <a16:creationId xmlns:a16="http://schemas.microsoft.com/office/drawing/2014/main" id="{D6476A8A-95C2-4C84-9BA6-CF5A72A80873}"/>
              </a:ext>
            </a:extLst>
          </p:cNvPr>
          <p:cNvSpPr>
            <a:spLocks xmlns:a="http://schemas.openxmlformats.org/drawingml/2006/main" noGrp="1"/>
          </p:cNvSpPr>
          <p:nvPr/>
        </p:nvSpPr>
        <p:spPr>
          <a:xfrm xmlns:a="http://schemas.openxmlformats.org/drawingml/2006/main">
            <a:off x="590550" y="1885950"/>
            <a:ext cx="5143500" cy="26098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71A873-D803-4CED-AABB-452DCFE0CC9C}"/>
              </a:ext>
            </a:extLst>
          </p:cNvPr>
          <p:cNvSpPr>
            <a:spLocks xmlns:a="http://schemas.openxmlformats.org/drawingml/2006/main" noGrp="1"/>
          </p:cNvSpPr>
          <p:nvPr/>
        </p:nvSpPr>
        <p:spPr>
          <a:xfrm xmlns:a="http://schemas.openxmlformats.org/drawingml/2006/main">
            <a:off x="971550" y="2247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75569"/>
                </a:solidFill>
                <a:latin typeface="Helvetica Neue"/>
                <a:ea typeface="Helvetica Neue"/>
                <a:cs typeface="Helvetica Neue"/>
              </a:defRPr>
            </a:pPr>
            <a:r>
              <a:rPr sz="1125" b="1" i="0">
                <a:solidFill>
                  <a:srgbClr val="475569"/>
                </a:solidFill>
                <a:latin typeface="Helvetica Neue"/>
                <a:ea typeface="Helvetica Neue"/>
                <a:cs typeface="Helvetica Neue"/>
              </a:rPr>
              <a:t>PUZZLE 1</a:t>
            </a:r>
          </a:p>
        </p:txBody>
      </p:sp>
      <p:sp>
        <p:nvSpPr>
          <p:cNvPr id="5" name="">
            <a:extLst xmlns:a="http://schemas.openxmlformats.org/drawingml/2006/main">
              <a:ext uri="{FF2B5EF4-FFF2-40B4-BE49-F238E27FC236}">
                <a16:creationId xmlns:a16="http://schemas.microsoft.com/office/drawing/2014/main" id="{3E8F1A82-7832-440A-B104-7FD4CC615221}"/>
              </a:ext>
            </a:extLst>
          </p:cNvPr>
          <p:cNvSpPr>
            <a:spLocks xmlns:a="http://schemas.openxmlformats.org/drawingml/2006/main" noGrp="1"/>
          </p:cNvSpPr>
          <p:nvPr/>
        </p:nvSpPr>
        <p:spPr>
          <a:xfrm xmlns:a="http://schemas.openxmlformats.org/drawingml/2006/main">
            <a:off x="971550" y="2705100"/>
            <a:ext cx="3676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66"/>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Why is development often stable, resistant to instruction, and hard to transfer?</a:t>
            </a:r>
          </a:p>
        </p:txBody>
      </p:sp>
      <p:sp>
        <p:nvSpPr>
          <p:cNvPr id="6" name="">
            <a:extLst xmlns:a="http://schemas.openxmlformats.org/drawingml/2006/main">
              <a:ext uri="{FF2B5EF4-FFF2-40B4-BE49-F238E27FC236}">
                <a16:creationId xmlns:a16="http://schemas.microsoft.com/office/drawing/2014/main" id="{BF063982-3D5E-4A36-BEEA-18B04C3264A9}"/>
              </a:ext>
            </a:extLst>
          </p:cNvPr>
          <p:cNvSpPr>
            <a:spLocks xmlns:a="http://schemas.openxmlformats.org/drawingml/2006/main" noGrp="1"/>
          </p:cNvSpPr>
          <p:nvPr/>
        </p:nvSpPr>
        <p:spPr>
          <a:xfrm xmlns:a="http://schemas.openxmlformats.org/drawingml/2006/main">
            <a:off x="971550" y="39814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82"/>
          </a:bodyPr>
          <a:lstStyle xmlns:a="http://schemas.openxmlformats.org/drawingml/2006/main"/>
          <a:p xmlns:a="http://schemas.openxmlformats.org/drawingml/2006/main">
            <a:pPr algn="l">
              <a:defRPr sz="1425" b="0" i="0">
                <a:solidFill>
                  <a:srgbClr val="475569"/>
                </a:solidFill>
                <a:latin typeface="Helvetica Neue"/>
                <a:ea typeface="Helvetica Neue"/>
                <a:cs typeface="Helvetica Neue"/>
              </a:defRPr>
            </a:pPr>
            <a:r>
              <a:rPr sz="1425" b="0" i="0">
                <a:solidFill>
                  <a:srgbClr val="475569"/>
                </a:solidFill>
                <a:latin typeface="Helvetica Neue"/>
                <a:ea typeface="Helvetica Neue"/>
                <a:cs typeface="Helvetica Neue"/>
              </a:rPr>
              <a:t>Piaget directs attention to regularities and constraints.</a:t>
            </a:r>
          </a:p>
        </p:txBody>
      </p:sp>
      <p:sp>
        <p:nvSpPr>
          <p:cNvPr id="7" name="">
            <a:extLst xmlns:a="http://schemas.openxmlformats.org/drawingml/2006/main">
              <a:ext uri="{FF2B5EF4-FFF2-40B4-BE49-F238E27FC236}">
                <a16:creationId xmlns:a16="http://schemas.microsoft.com/office/drawing/2014/main" id="{FA84E1CB-5C1F-4E96-8E42-DFB03B779FD3}"/>
              </a:ext>
            </a:extLst>
          </p:cNvPr>
          <p:cNvSpPr>
            <a:spLocks xmlns:a="http://schemas.openxmlformats.org/drawingml/2006/main" noGrp="1"/>
          </p:cNvSpPr>
          <p:nvPr/>
        </p:nvSpPr>
        <p:spPr>
          <a:xfrm xmlns:a="http://schemas.openxmlformats.org/drawingml/2006/main">
            <a:off x="6457950" y="1885950"/>
            <a:ext cx="5143500" cy="2609850"/>
          </a:xfrm>
          <a:prstGeom xmlns:a="http://schemas.openxmlformats.org/drawingml/2006/main" prst="rect">
            <a:avLst/>
          </a:prstGeom>
          <a:solidFill xmlns:a="http://schemas.openxmlformats.org/drawingml/2006/main">
            <a:srgbClr val="E6F6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AFAADC-E1E5-405D-8194-E5C620F77B9E}"/>
              </a:ext>
            </a:extLst>
          </p:cNvPr>
          <p:cNvSpPr>
            <a:spLocks xmlns:a="http://schemas.openxmlformats.org/drawingml/2006/main" noGrp="1"/>
          </p:cNvSpPr>
          <p:nvPr/>
        </p:nvSpPr>
        <p:spPr>
          <a:xfrm xmlns:a="http://schemas.openxmlformats.org/drawingml/2006/main">
            <a:off x="6838950" y="2247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F766E"/>
                </a:solidFill>
                <a:latin typeface="Helvetica Neue"/>
                <a:ea typeface="Helvetica Neue"/>
                <a:cs typeface="Helvetica Neue"/>
              </a:defRPr>
            </a:pPr>
            <a:r>
              <a:rPr sz="1125" b="1" i="0">
                <a:solidFill>
                  <a:srgbClr val="0F766E"/>
                </a:solidFill>
                <a:latin typeface="Helvetica Neue"/>
                <a:ea typeface="Helvetica Neue"/>
                <a:cs typeface="Helvetica Neue"/>
              </a:rPr>
              <a:t>PUZZLE 2</a:t>
            </a:r>
          </a:p>
        </p:txBody>
      </p:sp>
      <p:sp>
        <p:nvSpPr>
          <p:cNvPr id="9" name="">
            <a:extLst xmlns:a="http://schemas.openxmlformats.org/drawingml/2006/main">
              <a:ext uri="{FF2B5EF4-FFF2-40B4-BE49-F238E27FC236}">
                <a16:creationId xmlns:a16="http://schemas.microsoft.com/office/drawing/2014/main" id="{443945E3-03D3-4B4E-A94F-47250D957C35}"/>
              </a:ext>
            </a:extLst>
          </p:cNvPr>
          <p:cNvSpPr>
            <a:spLocks xmlns:a="http://schemas.openxmlformats.org/drawingml/2006/main" noGrp="1"/>
          </p:cNvSpPr>
          <p:nvPr/>
        </p:nvSpPr>
        <p:spPr>
          <a:xfrm xmlns:a="http://schemas.openxmlformats.org/drawingml/2006/main">
            <a:off x="6838950" y="2705100"/>
            <a:ext cx="3676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21"/>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Why can development sometimes leap through collaboration and opportunity?</a:t>
            </a:r>
          </a:p>
        </p:txBody>
      </p:sp>
      <p:sp>
        <p:nvSpPr>
          <p:cNvPr id="10" name="">
            <a:extLst xmlns:a="http://schemas.openxmlformats.org/drawingml/2006/main">
              <a:ext uri="{FF2B5EF4-FFF2-40B4-BE49-F238E27FC236}">
                <a16:creationId xmlns:a16="http://schemas.microsoft.com/office/drawing/2014/main" id="{DC7729B3-4B5C-4E3A-A1AA-F37E6B3C3E73}"/>
              </a:ext>
            </a:extLst>
          </p:cNvPr>
          <p:cNvSpPr>
            <a:spLocks xmlns:a="http://schemas.openxmlformats.org/drawingml/2006/main" noGrp="1"/>
          </p:cNvSpPr>
          <p:nvPr/>
        </p:nvSpPr>
        <p:spPr>
          <a:xfrm xmlns:a="http://schemas.openxmlformats.org/drawingml/2006/main">
            <a:off x="6838950" y="3981450"/>
            <a:ext cx="3733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8292"/>
          </a:bodyPr>
          <a:lstStyle xmlns:a="http://schemas.openxmlformats.org/drawingml/2006/main"/>
          <a:p xmlns:a="http://schemas.openxmlformats.org/drawingml/2006/main">
            <a:pPr algn="l">
              <a:defRPr sz="1425" b="0" i="0">
                <a:solidFill>
                  <a:srgbClr val="475569"/>
                </a:solidFill>
                <a:latin typeface="Helvetica Neue"/>
                <a:ea typeface="Helvetica Neue"/>
                <a:cs typeface="Helvetica Neue"/>
              </a:defRPr>
            </a:pPr>
            <a:r>
              <a:rPr sz="1425" b="0" i="0">
                <a:solidFill>
                  <a:srgbClr val="475569"/>
                </a:solidFill>
                <a:latin typeface="Helvetica Neue"/>
                <a:ea typeface="Helvetica Neue"/>
                <a:cs typeface="Helvetica Neue"/>
              </a:rPr>
              <a:t>Vygotsky directs attention to scaffolding and cultural arrangements.</a:t>
            </a:r>
          </a:p>
        </p:txBody>
      </p:sp>
      <p:sp>
        <p:nvSpPr>
          <p:cNvPr id="11" name="">
            <a:extLst xmlns:a="http://schemas.openxmlformats.org/drawingml/2006/main">
              <a:ext uri="{FF2B5EF4-FFF2-40B4-BE49-F238E27FC236}">
                <a16:creationId xmlns:a16="http://schemas.microsoft.com/office/drawing/2014/main" id="{4B51B992-7B6A-46DF-922E-56FD44F72F5A}"/>
              </a:ext>
            </a:extLst>
          </p:cNvPr>
          <p:cNvSpPr>
            <a:spLocks xmlns:a="http://schemas.openxmlformats.org/drawingml/2006/main" noGrp="1"/>
          </p:cNvSpPr>
          <p:nvPr/>
        </p:nvSpPr>
        <p:spPr>
          <a:xfrm xmlns:a="http://schemas.openxmlformats.org/drawingml/2006/main">
            <a:off x="590550" y="52578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1">
                <a:solidFill>
                  <a:srgbClr val="111827"/>
                </a:solidFill>
                <a:latin typeface="Helvetica Neue"/>
                <a:ea typeface="Helvetica Neue"/>
                <a:cs typeface="Helvetica Neue"/>
              </a:defRPr>
            </a:pPr>
            <a:r>
              <a:rPr sz="1650" b="0" i="1">
                <a:solidFill>
                  <a:srgbClr val="111827"/>
                </a:solidFill>
                <a:latin typeface="Helvetica Neue"/>
                <a:ea typeface="Helvetica Neue"/>
                <a:cs typeface="Helvetica Neue"/>
              </a:rPr>
              <a:t>Bruner’s conclusion: do not force a quick reconciliation — use the tension to ask better questions.</a:t>
            </a:r>
          </a:p>
        </p:txBody>
      </p:sp>
      <p:sp>
        <p:nvSpPr>
          <p:cNvPr id="12" name="">
            <a:extLst xmlns:a="http://schemas.openxmlformats.org/drawingml/2006/main">
              <a:ext uri="{FF2B5EF4-FFF2-40B4-BE49-F238E27FC236}">
                <a16:creationId xmlns:a16="http://schemas.microsoft.com/office/drawing/2014/main" id="{74A5FAF4-1C4F-4CC2-ABE4-EE6580785615}"/>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777F6D-7FE4-4082-BF78-454BFC30E3B7}"/>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Source: Bruner (1997), pp. 70–72. Slide wording is paraphrased.</a:t>
            </a:r>
          </a:p>
        </p:txBody>
      </p:sp>
      <p:sp>
        <p:nvSpPr>
          <p:cNvPr id="14" name="">
            <a:extLst xmlns:a="http://schemas.openxmlformats.org/drawingml/2006/main">
              <a:ext uri="{FF2B5EF4-FFF2-40B4-BE49-F238E27FC236}">
                <a16:creationId xmlns:a16="http://schemas.microsoft.com/office/drawing/2014/main" id="{5A4FF825-6D8E-4473-AE22-645658DDECF4}"/>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11</a:t>
            </a:r>
          </a:p>
        </p:txBody>
      </p:sp>
    </p:spTree>
    <p:extLst>
      <p:ext uri="{BB962C8B-B14F-4D97-AF65-F5344CB8AC3E}">
        <p14:creationId xmlns:p14="http://schemas.microsoft.com/office/powerpoint/2010/main" val="10270993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EE0909-25C6-4D36-9B8B-00A59CB1F062}"/>
              </a:ext>
            </a:extLst>
          </p:cNvPr>
          <p:cNvSpPr>
            <a:spLocks xmlns:a="http://schemas.openxmlformats.org/drawingml/2006/main" noGrp="1"/>
          </p:cNvSpPr>
          <p:nvPr/>
        </p:nvSpPr>
        <p:spPr>
          <a:xfrm xmlns:a="http://schemas.openxmlformats.org/drawingml/2006/main">
            <a:off x="590550" y="4953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2563EB"/>
                </a:solidFill>
                <a:latin typeface="Helvetica Neue"/>
                <a:ea typeface="Helvetica Neue"/>
                <a:cs typeface="Helvetica Neue"/>
              </a:defRPr>
            </a:pPr>
            <a:r>
              <a:rPr sz="1050" b="1" i="0">
                <a:solidFill>
                  <a:srgbClr val="2563EB"/>
                </a:solidFill>
                <a:latin typeface="Helvetica Neue"/>
                <a:ea typeface="Helvetica Neue"/>
                <a:cs typeface="Helvetica Neue"/>
              </a:rPr>
              <a:t>COGS 100 • GROUP 8</a:t>
            </a:r>
          </a:p>
        </p:txBody>
      </p:sp>
      <p:sp>
        <p:nvSpPr>
          <p:cNvPr id="2" name="">
            <a:extLst xmlns:a="http://schemas.openxmlformats.org/drawingml/2006/main">
              <a:ext uri="{FF2B5EF4-FFF2-40B4-BE49-F238E27FC236}">
                <a16:creationId xmlns:a16="http://schemas.microsoft.com/office/drawing/2014/main" id="{8E368BFA-68E0-4163-861E-5C7DD385C3E8}"/>
              </a:ext>
            </a:extLst>
          </p:cNvPr>
          <p:cNvSpPr>
            <a:spLocks xmlns:a="http://schemas.openxmlformats.org/drawingml/2006/main" noGrp="1"/>
          </p:cNvSpPr>
          <p:nvPr/>
        </p:nvSpPr>
        <p:spPr>
          <a:xfrm xmlns:a="http://schemas.openxmlformats.org/drawingml/2006/main">
            <a:off x="590550" y="1200150"/>
            <a:ext cx="8572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i="0">
                <a:solidFill>
                  <a:srgbClr val="111827"/>
                </a:solidFill>
                <a:latin typeface="Helvetica Neue"/>
                <a:ea typeface="Helvetica Neue"/>
                <a:cs typeface="Helvetica Neue"/>
              </a:defRPr>
            </a:pPr>
            <a:r>
              <a:rPr sz="3750" b="1" i="0">
                <a:solidFill>
                  <a:srgbClr val="111827"/>
                </a:solidFill>
                <a:latin typeface="Helvetica Neue"/>
                <a:ea typeface="Helvetica Neue"/>
                <a:cs typeface="Helvetica Neue"/>
              </a:rPr>
              <a:t>A growing mind is not explained</a:t>
            </a:r>
          </a:p>
          <a:p xmlns:a="http://schemas.openxmlformats.org/drawingml/2006/main">
            <a:pPr algn="l">
              <a:defRPr sz="3750" b="1" i="0">
                <a:solidFill>
                  <a:srgbClr val="111827"/>
                </a:solidFill>
                <a:latin typeface="Helvetica Neue"/>
                <a:ea typeface="Helvetica Neue"/>
                <a:cs typeface="Helvetica Neue"/>
              </a:defRPr>
            </a:pPr>
            <a:r>
              <a:rPr sz="3750" b="1" i="0">
                <a:solidFill>
                  <a:srgbClr val="111827"/>
                </a:solidFill>
                <a:latin typeface="Helvetica Neue"/>
                <a:ea typeface="Helvetica Neue"/>
                <a:cs typeface="Helvetica Neue"/>
              </a:rPr>
              <a:t>by logic alone — or culture alone.</a:t>
            </a:r>
          </a:p>
        </p:txBody>
      </p:sp>
      <p:sp>
        <p:nvSpPr>
          <p:cNvPr id="3" name="">
            <a:extLst xmlns:a="http://schemas.openxmlformats.org/drawingml/2006/main">
              <a:ext uri="{FF2B5EF4-FFF2-40B4-BE49-F238E27FC236}">
                <a16:creationId xmlns:a16="http://schemas.microsoft.com/office/drawing/2014/main" id="{9DB8ED56-806C-404B-8BB3-107294A4D99F}"/>
              </a:ext>
            </a:extLst>
          </p:cNvPr>
          <p:cNvSpPr>
            <a:spLocks xmlns:a="http://schemas.openxmlformats.org/drawingml/2006/main" noGrp="1"/>
          </p:cNvSpPr>
          <p:nvPr/>
        </p:nvSpPr>
        <p:spPr>
          <a:xfrm xmlns:a="http://schemas.openxmlformats.org/drawingml/2006/main">
            <a:off x="590550" y="3257550"/>
            <a:ext cx="11010900" cy="190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F9A4B6-1B77-4972-93A4-027F0ECD8D8D}"/>
              </a:ext>
            </a:extLst>
          </p:cNvPr>
          <p:cNvSpPr>
            <a:spLocks xmlns:a="http://schemas.openxmlformats.org/drawingml/2006/main" noGrp="1"/>
          </p:cNvSpPr>
          <p:nvPr/>
        </p:nvSpPr>
        <p:spPr>
          <a:xfrm xmlns:a="http://schemas.openxmlformats.org/drawingml/2006/main">
            <a:off x="590550" y="3695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2563EB"/>
                </a:solidFill>
                <a:latin typeface="Helvetica Neue"/>
                <a:ea typeface="Helvetica Neue"/>
                <a:cs typeface="Helvetica Neue"/>
              </a:defRPr>
            </a:pPr>
            <a:r>
              <a:rPr sz="1575" b="1" i="0">
                <a:solidFill>
                  <a:srgbClr val="2563EB"/>
                </a:solidFill>
                <a:latin typeface="Helvetica Neue"/>
                <a:ea typeface="Helvetica Neue"/>
                <a:cs typeface="Helvetica Neue"/>
              </a:rPr>
              <a:t>Piaget</a:t>
            </a:r>
          </a:p>
        </p:txBody>
      </p:sp>
      <p:sp>
        <p:nvSpPr>
          <p:cNvPr id="5" name="">
            <a:extLst xmlns:a="http://schemas.openxmlformats.org/drawingml/2006/main">
              <a:ext uri="{FF2B5EF4-FFF2-40B4-BE49-F238E27FC236}">
                <a16:creationId xmlns:a16="http://schemas.microsoft.com/office/drawing/2014/main" id="{A36BCC04-AA47-493F-912D-8A0552201694}"/>
              </a:ext>
            </a:extLst>
          </p:cNvPr>
          <p:cNvSpPr>
            <a:spLocks xmlns:a="http://schemas.openxmlformats.org/drawingml/2006/main" noGrp="1"/>
          </p:cNvSpPr>
          <p:nvPr/>
        </p:nvSpPr>
        <p:spPr>
          <a:xfrm xmlns:a="http://schemas.openxmlformats.org/drawingml/2006/main">
            <a:off x="2305050" y="3695700"/>
            <a:ext cx="701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827"/>
                </a:solidFill>
                <a:latin typeface="Helvetica Neue"/>
                <a:ea typeface="Helvetica Neue"/>
                <a:cs typeface="Helvetica Neue"/>
              </a:defRPr>
            </a:pPr>
            <a:r>
              <a:rPr sz="1650" b="0" i="0">
                <a:solidFill>
                  <a:srgbClr val="111827"/>
                </a:solidFill>
                <a:latin typeface="Helvetica Neue"/>
                <a:ea typeface="Helvetica Neue"/>
                <a:cs typeface="Helvetica Neue"/>
              </a:rPr>
              <a:t>The mind builds increasingly systematic logical accounts.</a:t>
            </a:r>
          </a:p>
        </p:txBody>
      </p:sp>
      <p:sp>
        <p:nvSpPr>
          <p:cNvPr id="6" name="">
            <a:extLst xmlns:a="http://schemas.openxmlformats.org/drawingml/2006/main">
              <a:ext uri="{FF2B5EF4-FFF2-40B4-BE49-F238E27FC236}">
                <a16:creationId xmlns:a16="http://schemas.microsoft.com/office/drawing/2014/main" id="{66335887-ED03-4F3A-B260-70D837ECD8F7}"/>
              </a:ext>
            </a:extLst>
          </p:cNvPr>
          <p:cNvSpPr>
            <a:spLocks xmlns:a="http://schemas.openxmlformats.org/drawingml/2006/main" noGrp="1"/>
          </p:cNvSpPr>
          <p:nvPr/>
        </p:nvSpPr>
        <p:spPr>
          <a:xfrm xmlns:a="http://schemas.openxmlformats.org/drawingml/2006/main">
            <a:off x="590550" y="42481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0F766E"/>
                </a:solidFill>
                <a:latin typeface="Helvetica Neue"/>
                <a:ea typeface="Helvetica Neue"/>
                <a:cs typeface="Helvetica Neue"/>
              </a:defRPr>
            </a:pPr>
            <a:r>
              <a:rPr sz="1575" b="1" i="0">
                <a:solidFill>
                  <a:srgbClr val="0F766E"/>
                </a:solidFill>
                <a:latin typeface="Helvetica Neue"/>
                <a:ea typeface="Helvetica Neue"/>
                <a:cs typeface="Helvetica Neue"/>
              </a:rPr>
              <a:t>Vygotsky</a:t>
            </a:r>
          </a:p>
        </p:txBody>
      </p:sp>
      <p:sp>
        <p:nvSpPr>
          <p:cNvPr id="7" name="">
            <a:extLst xmlns:a="http://schemas.openxmlformats.org/drawingml/2006/main">
              <a:ext uri="{FF2B5EF4-FFF2-40B4-BE49-F238E27FC236}">
                <a16:creationId xmlns:a16="http://schemas.microsoft.com/office/drawing/2014/main" id="{6BA8D71A-1899-4CF1-9F2F-1022EA16BBF0}"/>
              </a:ext>
            </a:extLst>
          </p:cNvPr>
          <p:cNvSpPr>
            <a:spLocks xmlns:a="http://schemas.openxmlformats.org/drawingml/2006/main" noGrp="1"/>
          </p:cNvSpPr>
          <p:nvPr/>
        </p:nvSpPr>
        <p:spPr>
          <a:xfrm xmlns:a="http://schemas.openxmlformats.org/drawingml/2006/main">
            <a:off x="2305050" y="4248150"/>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827"/>
                </a:solidFill>
                <a:latin typeface="Helvetica Neue"/>
                <a:ea typeface="Helvetica Neue"/>
                <a:cs typeface="Helvetica Neue"/>
              </a:defRPr>
            </a:pPr>
            <a:r>
              <a:rPr sz="1650" b="0" i="0">
                <a:solidFill>
                  <a:srgbClr val="111827"/>
                </a:solidFill>
                <a:latin typeface="Helvetica Neue"/>
                <a:ea typeface="Helvetica Neue"/>
                <a:cs typeface="Helvetica Neue"/>
              </a:rPr>
              <a:t>The mind turns social, cultural meanings into resources for thought.</a:t>
            </a:r>
          </a:p>
        </p:txBody>
      </p:sp>
      <p:sp>
        <p:nvSpPr>
          <p:cNvPr id="8" name="">
            <a:extLst xmlns:a="http://schemas.openxmlformats.org/drawingml/2006/main">
              <a:ext uri="{FF2B5EF4-FFF2-40B4-BE49-F238E27FC236}">
                <a16:creationId xmlns:a16="http://schemas.microsoft.com/office/drawing/2014/main" id="{3F9B8D42-C4E4-4819-A3A0-65E9EAC583F7}"/>
              </a:ext>
            </a:extLst>
          </p:cNvPr>
          <p:cNvSpPr>
            <a:spLocks xmlns:a="http://schemas.openxmlformats.org/drawingml/2006/main" noGrp="1"/>
          </p:cNvSpPr>
          <p:nvPr/>
        </p:nvSpPr>
        <p:spPr>
          <a:xfrm xmlns:a="http://schemas.openxmlformats.org/drawingml/2006/main">
            <a:off x="590550" y="48006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A16207"/>
                </a:solidFill>
                <a:latin typeface="Helvetica Neue"/>
                <a:ea typeface="Helvetica Neue"/>
                <a:cs typeface="Helvetica Neue"/>
              </a:defRPr>
            </a:pPr>
            <a:r>
              <a:rPr sz="1575" b="1" i="0">
                <a:solidFill>
                  <a:srgbClr val="A16207"/>
                </a:solidFill>
                <a:latin typeface="Helvetica Neue"/>
                <a:ea typeface="Helvetica Neue"/>
                <a:cs typeface="Helvetica Neue"/>
              </a:rPr>
              <a:t>Bruner</a:t>
            </a:r>
          </a:p>
        </p:txBody>
      </p:sp>
      <p:sp>
        <p:nvSpPr>
          <p:cNvPr id="9" name="">
            <a:extLst xmlns:a="http://schemas.openxmlformats.org/drawingml/2006/main">
              <a:ext uri="{FF2B5EF4-FFF2-40B4-BE49-F238E27FC236}">
                <a16:creationId xmlns:a16="http://schemas.microsoft.com/office/drawing/2014/main" id="{4A767A14-0175-439D-9E88-8D6F724B5841}"/>
              </a:ext>
            </a:extLst>
          </p:cNvPr>
          <p:cNvSpPr>
            <a:spLocks xmlns:a="http://schemas.openxmlformats.org/drawingml/2006/main" noGrp="1"/>
          </p:cNvSpPr>
          <p:nvPr/>
        </p:nvSpPr>
        <p:spPr>
          <a:xfrm xmlns:a="http://schemas.openxmlformats.org/drawingml/2006/main">
            <a:off x="2305050" y="48006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827"/>
                </a:solidFill>
                <a:latin typeface="Helvetica Neue"/>
                <a:ea typeface="Helvetica Neue"/>
                <a:cs typeface="Helvetica Neue"/>
              </a:defRPr>
            </a:pPr>
            <a:r>
              <a:rPr sz="1650" b="0" i="0">
                <a:solidFill>
                  <a:srgbClr val="111827"/>
                </a:solidFill>
                <a:latin typeface="Helvetica Neue"/>
                <a:ea typeface="Helvetica Neue"/>
                <a:cs typeface="Helvetica Neue"/>
              </a:rPr>
              <a:t>The contrast is worth preserving because it deepens the questions we can ask about development.</a:t>
            </a:r>
          </a:p>
        </p:txBody>
      </p:sp>
      <p:sp>
        <p:nvSpPr>
          <p:cNvPr id="10" name="">
            <a:extLst xmlns:a="http://schemas.openxmlformats.org/drawingml/2006/main">
              <a:ext uri="{FF2B5EF4-FFF2-40B4-BE49-F238E27FC236}">
                <a16:creationId xmlns:a16="http://schemas.microsoft.com/office/drawing/2014/main" id="{53CF2142-5B1F-4F49-9452-788D868F4D12}"/>
              </a:ext>
            </a:extLst>
          </p:cNvPr>
          <p:cNvSpPr>
            <a:spLocks xmlns:a="http://schemas.openxmlformats.org/drawingml/2006/main" noGrp="1"/>
          </p:cNvSpPr>
          <p:nvPr/>
        </p:nvSpPr>
        <p:spPr>
          <a:xfrm xmlns:a="http://schemas.openxmlformats.org/drawingml/2006/main">
            <a:off x="590550" y="57150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2563EB"/>
                </a:solidFill>
                <a:latin typeface="Helvetica Neue"/>
                <a:ea typeface="Helvetica Neue"/>
                <a:cs typeface="Helvetica Neue"/>
              </a:defRPr>
            </a:pPr>
            <a:r>
              <a:rPr sz="1350" b="1" i="0">
                <a:solidFill>
                  <a:srgbClr val="2563EB"/>
                </a:solidFill>
                <a:latin typeface="Helvetica Neue"/>
                <a:ea typeface="Helvetica Neue"/>
                <a:cs typeface="Helvetica Neue"/>
              </a:rPr>
              <a:t>Quiz link: tinyurl.com/cogs100-group8-quiz</a:t>
            </a:r>
          </a:p>
        </p:txBody>
      </p:sp>
      <p:sp>
        <p:nvSpPr>
          <p:cNvPr id="11" name="">
            <a:extLst xmlns:a="http://schemas.openxmlformats.org/drawingml/2006/main">
              <a:ext uri="{FF2B5EF4-FFF2-40B4-BE49-F238E27FC236}">
                <a16:creationId xmlns:a16="http://schemas.microsoft.com/office/drawing/2014/main" id="{B943801D-4982-4901-9158-8F12F535401C}"/>
              </a:ext>
            </a:extLst>
          </p:cNvPr>
          <p:cNvSpPr>
            <a:spLocks xmlns:a="http://schemas.openxmlformats.org/drawingml/2006/main" noGrp="1"/>
          </p:cNvSpPr>
          <p:nvPr/>
        </p:nvSpPr>
        <p:spPr>
          <a:xfrm xmlns:a="http://schemas.openxmlformats.org/drawingml/2006/main">
            <a:off x="590550" y="6210300"/>
            <a:ext cx="110109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E617FA-B9ED-4461-B119-BB0AFD55E7CD}"/>
              </a:ext>
            </a:extLst>
          </p:cNvPr>
          <p:cNvSpPr>
            <a:spLocks xmlns:a="http://schemas.openxmlformats.org/drawingml/2006/main" noGrp="1"/>
          </p:cNvSpPr>
          <p:nvPr/>
        </p:nvSpPr>
        <p:spPr>
          <a:xfrm xmlns:a="http://schemas.openxmlformats.org/drawingml/2006/main">
            <a:off x="590550" y="6457950"/>
            <a:ext cx="847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Assigned reading: Bruner (1997), “Celebrating Divergence: Piaget and Vygotsky.”</a:t>
            </a:r>
          </a:p>
        </p:txBody>
      </p:sp>
      <p:sp>
        <p:nvSpPr>
          <p:cNvPr id="13" name="">
            <a:extLst xmlns:a="http://schemas.openxmlformats.org/drawingml/2006/main">
              <a:ext uri="{FF2B5EF4-FFF2-40B4-BE49-F238E27FC236}">
                <a16:creationId xmlns:a16="http://schemas.microsoft.com/office/drawing/2014/main" id="{045E813D-9AB4-4163-BE4E-80C8F800351C}"/>
              </a:ext>
            </a:extLst>
          </p:cNvPr>
          <p:cNvSpPr>
            <a:spLocks xmlns:a="http://schemas.openxmlformats.org/drawingml/2006/main" noGrp="1"/>
          </p:cNvSpPr>
          <p:nvPr/>
        </p:nvSpPr>
        <p:spPr>
          <a:xfrm xmlns:a="http://schemas.openxmlformats.org/drawingml/2006/main">
            <a:off x="11049000" y="64579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475569"/>
                </a:solidFill>
                <a:latin typeface="Helvetica Neue"/>
                <a:ea typeface="Helvetica Neue"/>
                <a:cs typeface="Helvetica Neue"/>
              </a:defRPr>
            </a:pPr>
            <a:r>
              <a:rPr sz="900" b="0" i="0">
                <a:solidFill>
                  <a:srgbClr val="475569"/>
                </a:solidFill>
                <a:latin typeface="Helvetica Neue"/>
                <a:ea typeface="Helvetica Neue"/>
                <a:cs typeface="Helvetica Neue"/>
              </a:rPr>
              <a:t>12</a:t>
            </a:r>
          </a:p>
        </p:txBody>
      </p:sp>
    </p:spTree>
    <p:extLst>
      <p:ext uri="{BB962C8B-B14F-4D97-AF65-F5344CB8AC3E}">
        <p14:creationId xmlns:p14="http://schemas.microsoft.com/office/powerpoint/2010/main" val="1989498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2026-07-23T00:24:59.3090000Z</dcterms:created>
  <dcterms:modified xsi:type="dcterms:W3CDTF">2026-07-23T00:24:59.3090000Z</dcterms:modified>
</coreProperties>
</file>