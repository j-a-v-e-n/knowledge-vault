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Three Surprises from the Leaderboard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00200"/>
                <a:gridCol w="1600200"/>
              </a:tblGrid>
              <a:tr h="8382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RHT Avg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MHT Avg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LLaMA-2 70B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D8A4E"/>
                          </a:solidFill>
                          <a:latin typeface="Helvetica"/>
                        </a:rPr>
                        <a:t>72.33% 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8.04%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LLaMA-2 70B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4C54"/>
                          </a:solidFill>
                          <a:latin typeface="Helvetica"/>
                        </a:rPr>
                        <a:t>11.26%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13.05%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Text-Davinci-003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54.46%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19.75%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Falcon 40B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59.09%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D8A4E"/>
                          </a:solidFill>
                          <a:latin typeface="Helvetica"/>
                        </a:rPr>
                        <a:t>30.36%  ⭐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GPT-3.5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44.48%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19.96%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371600"/>
            <a:ext cx="420624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RHT = Reasoning Hallucination Test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3 tasks: FCT / NOTA / FQT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Tests robustness vs misleading prompts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MHT = Memory Hallucination Test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4 tasks: PubMed retrieval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Tests honest "Unknown" on fake PMIDs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Surprise 1 — Instruction-Tuning Paradox 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62179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Helvetica"/>
              </a:rPr>
              <a:t>LLaMA-2 70B Base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5400" b="1" i="0">
                <a:solidFill>
                  <a:srgbClr val="2D8A4E"/>
                </a:solidFill>
                <a:latin typeface="Helvetica"/>
              </a:rPr>
              <a:t>RHT  72.33%  ⭐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2200" b="1" i="0">
                <a:solidFill>
                  <a:srgbClr val="CC4C54"/>
                </a:solidFill>
                <a:latin typeface="Helvetica"/>
              </a:rPr>
              <a:t>↓  + Instruction Tuning + RLHF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2600" b="1" i="0">
                <a:solidFill>
                  <a:srgbClr val="000000"/>
                </a:solidFill>
                <a:latin typeface="Helvetica"/>
              </a:rPr>
              <a:t>LLaMA-2 70B Chat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5400" b="1" i="0">
                <a:solidFill>
                  <a:srgbClr val="CC4C54"/>
                </a:solidFill>
                <a:latin typeface="Helvetica"/>
              </a:rPr>
              <a:t>RHT  11.26%  ❌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2200" b="1" i="0">
                <a:solidFill>
                  <a:srgbClr val="1A3A6B"/>
                </a:solidFill>
                <a:latin typeface="Helvetica"/>
              </a:rPr>
              <a:t>── Same architecture, 61-point drop 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188720"/>
            <a:ext cx="475488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Base vs Chat — what's the difference?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Base model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= Stops after pre-training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→ Knowledgeable but can't chat / follow instructions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Chat model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= Base + SFT + RLHF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• SFT = Supervised Fine-Tuning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   (teaches conversation format)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• RLHF = Reinforcement Learning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   from Human Feedback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   (tunes for human preference)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→ ChatGPT, Claude, Gemini are Chat models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1" i="0">
                <a:solidFill>
                  <a:srgbClr val="D9A73C"/>
                </a:solidFill>
                <a:latin typeface="Helvetica"/>
              </a:rPr>
              <a:t>⚡ Same architecture + same pre-training</a:t>
            </a:r>
          </a:p>
          <a:p>
            <a:pPr algn="l"/>
            <a:r>
              <a:rPr sz="2000" b="1" i="0">
                <a:solidFill>
                  <a:srgbClr val="D9A73C"/>
                </a:solidFill>
                <a:latin typeface="Helvetica"/>
              </a:rPr>
              <a:t>   — differs only in the final 2 training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📄 Paper §6.1: "detrimental effect on model's ability to control hallucination after instruction tuning and RLHF."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Surprise 2 — Reasoning ≠ Memory 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Reasoning and Memory are independent skills.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9456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108960"/>
                <a:gridCol w="310896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/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RHT (Reasoning)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MHT (Memory)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Helvetica"/>
                        </a:rPr>
                        <a:t>LLaMA-2 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2D8A4E"/>
                          </a:solidFill>
                          <a:latin typeface="Helvetica"/>
                        </a:rPr>
                        <a:t>72.33%  ⭐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(strong 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0000"/>
                          </a:solidFill>
                          <a:latin typeface="Helvetica"/>
                        </a:rPr>
                        <a:t>8.04%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(weak memory)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Helvetica"/>
                        </a:rPr>
                        <a:t>Falcon 40B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0000"/>
                          </a:solidFill>
                          <a:latin typeface="Helvetica"/>
                        </a:rPr>
                        <a:t>59.09%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(mid 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2D8A4E"/>
                          </a:solidFill>
                          <a:latin typeface="Helvetica"/>
                        </a:rPr>
                        <a:t>30.36%  ⭐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(strong memory)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1A3A6B"/>
                </a:solidFill>
                <a:latin typeface="Helvetica"/>
              </a:rPr>
              <a:t>💡 Modular design: one model for reasoning, another for 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— Side note: open-source beats closed-source on RHT, but mostly because closed models are RLHF'd (Surprise 1 again).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Surprise 3 — FCT: Where Every Model Fails 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FCE8E9"/>
          </a:solidFill>
          <a:ln w="19050">
            <a:solidFill>
              <a:srgbClr val="CC4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CC4C54"/>
                </a:solidFill>
                <a:latin typeface="Helvetica"/>
              </a:rPr>
              <a:t>🚨  No model passes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8580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False Confidence Test (FCT) accuracy: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400" b="1" i="0">
                <a:solidFill>
                  <a:srgbClr val="2D8A4E"/>
                </a:solidFill>
                <a:latin typeface="Helvetica"/>
              </a:rPr>
              <a:t>LLaMA-2 70B Base       42.21%   (best)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GPT-3.5 Turbo          34.15%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Falcon 40B Base        18.66%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Text-Davinci-003       16.76%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LLaMA-2 70B Chat       13.34%</a:t>
            </a:r>
          </a:p>
          <a:p>
            <a:pPr algn="l"/>
            <a:r>
              <a:rPr sz="2400" b="1" i="0">
                <a:solidFill>
                  <a:srgbClr val="CC4C54"/>
                </a:solidFill>
                <a:latin typeface="Helvetica"/>
              </a:rPr>
              <a:t>Falcon 40B Instruct     1.11%   (worst)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43891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💡 LLM amplifies the user's</a:t>
            </a:r>
          </a:p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    wrong assumption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1800" b="1" i="1">
                <a:solidFill>
                  <a:srgbClr val="D9A73C"/>
                </a:solidFill>
                <a:latin typeface="Helvetica"/>
              </a:rPr>
              <a:t>(confirmation bias amplifier)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— Recall Yixian's Lyme example earlier — that was FCT in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Can we deploy this in hospitals?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C4C54"/>
                </a:solidFill>
                <a:latin typeface="Helvetica"/>
              </a:rP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Autonomous diagnosis /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Best model only 72.33% RHT, FCT under 50%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914400"/>
          </a:xfrm>
          <a:prstGeom prst="rect">
            <a:avLst/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C4C54"/>
                </a:solidFill>
                <a:latin typeface="Helvetica"/>
              </a:rP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RLHF chat models for medical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Instruction-Tuning Paradox (Chat: 11.26%)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solidFill>
            <a:srgbClr val="E5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2D8A4E"/>
                </a:solidFill>
                <a:latin typeface="Helvetica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Literature search assist (with verification)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033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Falcon 40B 30.36% MHT — limited but useful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1064240" cy="914400"/>
          </a:xfrm>
          <a:prstGeom prst="rect">
            <a:avLst/>
          </a:prstGeom>
          <a:solidFill>
            <a:srgbClr val="E5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2D8A4E"/>
                </a:solidFill>
                <a:latin typeface="Helvetica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5196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Physician second-opinion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6344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Doctor must be in the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1A3A6B"/>
                </a:solidFill>
                <a:latin typeface="Helvetica"/>
              </a:rPr>
              <a:t>🩺  Augmentation, not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Limitations &amp; Open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📄 Paper acknowledges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1. MCQ ≠ free-form clinical Q&amp;A</a:t>
            </a:r>
          </a:p>
          <a:p>
            <a:pPr algn="l"/>
            <a:r>
              <a:rPr sz="8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2. Only 7 tasks (no planning / multimodal)</a:t>
            </a:r>
          </a:p>
          <a:p>
            <a:pPr algn="l"/>
            <a:r>
              <a:rPr sz="8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3. Prompt brittleness unsolved</a:t>
            </a:r>
          </a:p>
          <a:p>
            <a:pPr algn="l"/>
            <a:r>
              <a:rPr sz="8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4. GPT-4 / Claude not tested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(publication timing)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0" y="1371600"/>
            <a:ext cx="0" cy="484632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92240" y="1280160"/>
            <a:ext cx="548640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💡 My open questions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5. IT-Paradox: paper shows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 "what" not "why" — needs ablation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6. Med-PaLM 2 NOT Med-HALT-ed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  — clear research gap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7. Pointwise Score → RLHF reward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  function?  (train honest LLMs)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1A3A6B"/>
                </a:solidFill>
                <a:latin typeface="Helvetica"/>
              </a:rPr>
              <a:t>Discussion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A3A6B"/>
                </a:solidFill>
                <a:latin typeface="Helvetica"/>
              </a:rPr>
              <a:t>Q1   (Clinical)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If you were the CMO of a hospital deciding whether to deploy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an LLM for physician second-opinion in radiology, which finding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from this paper would worry you the MOST — the 16.76% FCT score,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the LLaMA-Chat collapse, or prompt brittleness?</a:t>
            </a:r>
          </a:p>
          <a:p>
            <a:pPr algn="l"/>
            <a:r>
              <a:rPr sz="2200" b="1" i="0">
                <a:solidFill>
                  <a:srgbClr val="CC4C54"/>
                </a:solidFill>
                <a:latin typeface="Helvetica"/>
              </a:rPr>
              <a:t>Why that one specifically?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3840480"/>
            <a:ext cx="1115568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402336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A3A6B"/>
                </a:solidFill>
                <a:latin typeface="Helvetica"/>
              </a:rPr>
              <a:t>Q2   (Technical)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RLHF makes the chat model WORSE at hallucination control.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If you had a research budget — would you (a) fix RLHF with a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"honesty reward," (b) skip RLHF entirely for medical models,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or (c) do 2-stage training?</a:t>
            </a:r>
          </a:p>
          <a:p>
            <a:pPr algn="l"/>
            <a:r>
              <a:rPr sz="2200" b="1" i="0">
                <a:solidFill>
                  <a:srgbClr val="CC4C54"/>
                </a:solidFill>
                <a:latin typeface="Helvetica"/>
              </a:rPr>
              <a:t>Defend your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