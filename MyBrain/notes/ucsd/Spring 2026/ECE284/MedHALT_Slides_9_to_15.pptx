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Three Surprises from the Leaderboard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6858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600200"/>
                <a:gridCol w="1600200"/>
              </a:tblGrid>
              <a:tr h="838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RHT Avg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MHT Avg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LLaMA-2 70B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2D8A4E"/>
                          </a:solidFill>
                          <a:latin typeface="Helvetica"/>
                        </a:rPr>
                        <a:t>72.33%  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8.04%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LLaMA-2 70B Chat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4C54"/>
                          </a:solidFill>
                          <a:latin typeface="Helvetica"/>
                        </a:rPr>
                        <a:t>11.26%  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13.05%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Text-Davinci-003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54.46%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19.75%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Falcon 40B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59.09%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2D8A4E"/>
                          </a:solidFill>
                          <a:latin typeface="Helvetica"/>
                        </a:rPr>
                        <a:t>30.36%  ⭐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GPT-3.5 Turbo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44.48%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200">
                          <a:solidFill>
                            <a:srgbClr val="000000"/>
                          </a:solidFill>
                          <a:latin typeface="Helvetica"/>
                        </a:rPr>
                        <a:t>19.96%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80960" y="1371600"/>
            <a:ext cx="420624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RHT = Reasoning Hallucination Test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3 tasks: FCT / NOTA / FQT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Tests robustness vs misleading prompts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MHT = Memory Hallucination Test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4 tasks: PubMed retrieval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• Tests honest "Unknown" on fake PMIDs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1 — Instruction-Tuning Paradox 🥇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188720"/>
            <a:ext cx="621792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1" i="0">
                <a:solidFill>
                  <a:srgbClr val="000000"/>
                </a:solidFill>
                <a:latin typeface="Helvetica"/>
              </a:rPr>
              <a:t>LLaMA-2 70B Base</a:t>
            </a:r>
          </a:p>
          <a:p>
            <a:pPr algn="ctr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5400" b="1" i="0">
                <a:solidFill>
                  <a:srgbClr val="2D8A4E"/>
                </a:solidFill>
                <a:latin typeface="Helvetica"/>
              </a:rPr>
              <a:t>RHT  72.33%  ⭐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200" b="1" i="0">
                <a:solidFill>
                  <a:srgbClr val="CC4C54"/>
                </a:solidFill>
                <a:latin typeface="Helvetica"/>
              </a:rPr>
              <a:t>↓  + Instruction Tuning + RLHF</a:t>
            </a:r>
          </a:p>
          <a:p>
            <a:pPr algn="ctr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600" b="1" i="0">
                <a:solidFill>
                  <a:srgbClr val="000000"/>
                </a:solidFill>
                <a:latin typeface="Helvetica"/>
              </a:rPr>
              <a:t>LLaMA-2 70B Chat</a:t>
            </a:r>
          </a:p>
          <a:p>
            <a:pPr algn="ctr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5400" b="1" i="0">
                <a:solidFill>
                  <a:srgbClr val="CC4C54"/>
                </a:solidFill>
                <a:latin typeface="Helvetica"/>
              </a:rPr>
              <a:t>RHT  11.26%  ❌</a:t>
            </a:r>
          </a:p>
          <a:p>
            <a:pPr algn="ctr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ctr"/>
            <a:r>
              <a:rPr sz="2200" b="1" i="0">
                <a:solidFill>
                  <a:srgbClr val="1A3A6B"/>
                </a:solidFill>
                <a:latin typeface="Helvetica"/>
              </a:rPr>
              <a:t>── Same architecture, 61-point drop ──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0" y="1188720"/>
            <a:ext cx="4754880" cy="5029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Base vs Chat — what's the difference?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Base model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= Stops after pre-training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→ Knowledgeable but can't chat / follow instructions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Chat model</a:t>
            </a:r>
          </a:p>
          <a:p>
            <a:pPr algn="l"/>
            <a:r>
              <a:rPr sz="2000" b="0" i="0">
                <a:solidFill>
                  <a:srgbClr val="000000"/>
                </a:solidFill>
                <a:latin typeface="Helvetica"/>
              </a:rPr>
              <a:t>  = Base + SFT + RLHF</a:t>
            </a:r>
          </a:p>
          <a:p>
            <a:pPr algn="l"/>
            <a:r>
              <a:rPr sz="1700" b="0" i="1">
                <a:solidFill>
                  <a:srgbClr val="666666"/>
                </a:solidFill>
                <a:latin typeface="Helvetica"/>
              </a:rPr>
              <a:t>    • SFT = Supervised Fine-Tuning</a:t>
            </a:r>
          </a:p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       (teaches conversation format)</a:t>
            </a:r>
          </a:p>
          <a:p>
            <a:pPr algn="l"/>
            <a:r>
              <a:rPr sz="1700" b="0" i="1">
                <a:solidFill>
                  <a:srgbClr val="666666"/>
                </a:solidFill>
                <a:latin typeface="Helvetica"/>
              </a:rPr>
              <a:t>    • RLHF = Reinforcement Learning</a:t>
            </a:r>
          </a:p>
          <a:p>
            <a:pPr algn="l"/>
            <a:r>
              <a:rPr sz="1700" b="0" i="1">
                <a:solidFill>
                  <a:srgbClr val="666666"/>
                </a:solidFill>
                <a:latin typeface="Helvetica"/>
              </a:rPr>
              <a:t>       from Human Feedback</a:t>
            </a:r>
          </a:p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       (tunes for human preference)</a:t>
            </a:r>
          </a:p>
          <a:p>
            <a:pPr algn="l"/>
            <a:r>
              <a:rPr sz="2000" b="0" i="1">
                <a:solidFill>
                  <a:srgbClr val="666666"/>
                </a:solidFill>
                <a:latin typeface="Helvetica"/>
              </a:rPr>
              <a:t>  → ChatGPT, Claude, Gemini are Chat models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000" b="1" i="0">
                <a:solidFill>
                  <a:srgbClr val="D9A73C"/>
                </a:solidFill>
                <a:latin typeface="Helvetica"/>
              </a:rPr>
              <a:t>⚡ Same architecture + same pre-training</a:t>
            </a:r>
          </a:p>
          <a:p>
            <a:pPr algn="l"/>
            <a:r>
              <a:rPr sz="2000" b="1" i="0">
                <a:solidFill>
                  <a:srgbClr val="D9A73C"/>
                </a:solidFill>
                <a:latin typeface="Helvetica"/>
              </a:rPr>
              <a:t>   — differs only in the final 2 training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21792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📄 Paper §6.1: "detrimental effect on model's ability to control hallucination after instruction tuning and RLHF."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2 — Reasoning ≠ Memory 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18872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Reasoning and Memory are independent skills.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2194560"/>
          <a:ext cx="9418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108960"/>
                <a:gridCol w="3108960"/>
              </a:tblGrid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/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RHT (Reasoning)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A3A6B"/>
                          </a:solidFill>
                          <a:latin typeface="Helvetica"/>
                        </a:rPr>
                        <a:t>MHT (Memory)</a:t>
                      </a:r>
                    </a:p>
                  </a:txBody>
                  <a:tcPr>
                    <a:solidFill>
                      <a:srgbClr val="F0F4F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Helvetica"/>
                        </a:rPr>
                        <a:t>LLaMA-2 70B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2D8A4E"/>
                          </a:solidFill>
                          <a:latin typeface="Helvetica"/>
                        </a:rPr>
                        <a:t>72.33%  ⭐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(strong reasoning)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>
                          <a:solidFill>
                            <a:srgbClr val="000000"/>
                          </a:solidFill>
                          <a:latin typeface="Helvetica"/>
                        </a:rPr>
                        <a:t>8.04%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(weak memory)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000000"/>
                          </a:solidFill>
                          <a:latin typeface="Helvetica"/>
                        </a:rPr>
                        <a:t>Falcon 40B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2800" b="1">
                          <a:solidFill>
                            <a:srgbClr val="000000"/>
                          </a:solidFill>
                          <a:latin typeface="Helvetica"/>
                        </a:rPr>
                        <a:t>59.09%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(mid reasoning)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3200" b="1">
                          <a:solidFill>
                            <a:srgbClr val="2D8A4E"/>
                          </a:solidFill>
                          <a:latin typeface="Helvetica"/>
                        </a:rPr>
                        <a:t>30.36%  ⭐</a:t>
                      </a:r>
                    </a:p>
                    <a:p>
                      <a:pPr algn="ctr"/>
                      <a:r>
                        <a:rPr sz="1800" b="0">
                          <a:solidFill>
                            <a:srgbClr val="666666"/>
                          </a:solidFill>
                          <a:latin typeface="Helvetica"/>
                        </a:rPr>
                        <a:t>(strong memory)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21208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0" i="1">
                <a:solidFill>
                  <a:srgbClr val="1A3A6B"/>
                </a:solidFill>
                <a:latin typeface="Helvetica"/>
              </a:rPr>
              <a:t>💡 Modular design: one model for reasoning, another for facts.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11556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— Side note: open-source beats closed-source on RHT, but mostly because closed models are RLHF'd (Surprise 1 again).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Surprise 3 — FCT: Where Every Model Fails 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457200" y="1188720"/>
            <a:ext cx="11247120" cy="731520"/>
          </a:xfrm>
          <a:prstGeom prst="rect">
            <a:avLst/>
          </a:prstGeom>
          <a:solidFill>
            <a:srgbClr val="FCE8E9"/>
          </a:solidFill>
          <a:ln w="19050">
            <a:solidFill>
              <a:srgbClr val="CC4C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CC4C54"/>
                </a:solidFill>
                <a:latin typeface="Helvetica"/>
              </a:rPr>
              <a:t>🚨  No model passes 50%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6858000" cy="3657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 i="0">
                <a:solidFill>
                  <a:srgbClr val="1A3A6B"/>
                </a:solidFill>
                <a:latin typeface="Helvetica"/>
              </a:rPr>
              <a:t>False Confidence Test (FCT) accuracy:</a:t>
            </a:r>
          </a:p>
          <a:p>
            <a:pPr algn="l"/>
            <a:r>
              <a:rPr sz="12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400" b="1" i="0">
                <a:solidFill>
                  <a:srgbClr val="2D8A4E"/>
                </a:solidFill>
                <a:latin typeface="Helvetica"/>
              </a:rPr>
              <a:t>LLaMA-2 70B Base       42.21%   (best)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GPT-3.5 Turbo          34.15%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Falcon 40B Base        18.66%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Text-Davinci-003       16.76%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LLaMA-2 70B Chat       13.34%</a:t>
            </a:r>
          </a:p>
          <a:p>
            <a:pPr algn="l"/>
            <a:r>
              <a:rPr sz="2400" b="1" i="0">
                <a:solidFill>
                  <a:srgbClr val="CC4C54"/>
                </a:solidFill>
                <a:latin typeface="Helvetica"/>
              </a:rPr>
              <a:t>Falcon 40B Instruct     1.11%   (worst)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560320"/>
            <a:ext cx="4389120" cy="22860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💡 LLM amplifies the user's</a:t>
            </a:r>
          </a:p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    wrong assumption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1800" b="1" i="1">
                <a:solidFill>
                  <a:srgbClr val="D9A73C"/>
                </a:solidFill>
                <a:latin typeface="Helvetica"/>
              </a:rPr>
              <a:t>(confirmation bias amplifier)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 i="1">
                <a:solidFill>
                  <a:srgbClr val="666666"/>
                </a:solidFill>
                <a:latin typeface="Helvetica"/>
              </a:rPr>
              <a:t>— Recall Yixian's Lyme example earlier — that was FCT in action.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Can we deploy this in hospitals?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48640" y="1280160"/>
            <a:ext cx="11064240" cy="914400"/>
          </a:xfrm>
          <a:prstGeom prst="rect">
            <a:avLst/>
          </a:prstGeom>
          <a:solidFill>
            <a:srgbClr val="FC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C4C54"/>
                </a:solidFill>
                <a:latin typeface="Helvetica"/>
              </a:rPr>
              <a:t>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Autonomous diagnosis / treatment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78308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Best model only 72.33% RHT, FCT under 50%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40280"/>
            <a:ext cx="11064240" cy="914400"/>
          </a:xfrm>
          <a:prstGeom prst="rect">
            <a:avLst/>
          </a:prstGeom>
          <a:solidFill>
            <a:srgbClr val="FCE8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CC4C54"/>
                </a:solidFill>
                <a:latin typeface="Helvetica"/>
              </a:rPr>
              <a:t>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33172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RLHF chat models for medical Q&amp;A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4320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Instruction-Tuning Paradox (Chat: 11.26%)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11064240" cy="914400"/>
          </a:xfrm>
          <a:prstGeom prst="rect">
            <a:avLst/>
          </a:prstGeom>
          <a:solidFill>
            <a:srgbClr val="E5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D8A4E"/>
                </a:solidFill>
                <a:latin typeface="Helvetica"/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29184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Literature search assist (with verification)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70332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Falcon 40B 30.36% MHT — limited but useful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60520"/>
            <a:ext cx="11064240" cy="914400"/>
          </a:xfrm>
          <a:prstGeom prst="rect">
            <a:avLst/>
          </a:prstGeom>
          <a:solidFill>
            <a:srgbClr val="E5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82296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400" b="1" i="0">
                <a:solidFill>
                  <a:srgbClr val="2D8A4E"/>
                </a:solidFill>
                <a:latin typeface="Helvetica"/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251960"/>
            <a:ext cx="96012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Helvetica"/>
              </a:rPr>
              <a:t>Physician second-opinion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663440"/>
            <a:ext cx="9601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Doctor must be in the 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1792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200" b="1" i="0">
                <a:solidFill>
                  <a:srgbClr val="1A3A6B"/>
                </a:solidFill>
                <a:latin typeface="Helvetica"/>
              </a:rPr>
              <a:t>🩺  Augmentation, not Automation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 i="0">
                <a:solidFill>
                  <a:srgbClr val="1A3A6B"/>
                </a:solidFill>
                <a:latin typeface="Helvetica"/>
              </a:rPr>
              <a:t>Limitations &amp; Open Questions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280160"/>
            <a:ext cx="5669280" cy="5303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📄 Paper acknowledges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1. Prompt brittleness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Same question, different wording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→ different answer.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2. Temperature doesn't help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Adjusting randomness doesn't fix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hallucination. Issue is deeper.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3. Examples in prompt don't fix it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Show the model 5 sample Q&amp;As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before asking → only 25% accuracy.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Random guess on 4 options = 25%.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17920" y="1371600"/>
            <a:ext cx="0" cy="484632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0" y="1280160"/>
            <a:ext cx="5669280" cy="5303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 i="0">
                <a:solidFill>
                  <a:srgbClr val="1A3A6B"/>
                </a:solidFill>
                <a:latin typeface="Helvetica"/>
              </a:rPr>
              <a:t>💡 My open questions</a:t>
            </a:r>
          </a:p>
          <a:p>
            <a:pPr algn="l"/>
            <a:r>
              <a:rPr sz="14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4. Why does RLHF hurt?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Paper shows Chat worse than Base —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but never explains the mechanism.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5. Frontier models untested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Paper tests Text-Davinci, GPT-3.5,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Llama-2, Falcon, MPT.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GPT-4 / Claude / Med-PaLM 2 — unknown.</a:t>
            </a:r>
          </a:p>
          <a:p>
            <a:pPr algn="l"/>
            <a:r>
              <a:rPr sz="16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1" i="0">
                <a:solidFill>
                  <a:srgbClr val="000000"/>
                </a:solidFill>
                <a:latin typeface="Helvetica"/>
              </a:rPr>
              <a:t>6. Use scoring to TRAIN, not just SCORE?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Paper uses +1 / −0.25 to grade models.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What if we used the same formula as</a:t>
            </a:r>
          </a:p>
          <a:p>
            <a:pPr algn="l"/>
            <a:r>
              <a:rPr sz="1800" b="0" i="1">
                <a:solidFill>
                  <a:srgbClr val="666666"/>
                </a:solidFill>
                <a:latin typeface="Helvetica"/>
              </a:rPr>
              <a:t>    RLHF reward — train honest LLMs?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 i="0">
                <a:solidFill>
                  <a:srgbClr val="1A3A6B"/>
                </a:solidFill>
                <a:latin typeface="Helvetica"/>
              </a:rPr>
              <a:t>Discussion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960120"/>
            <a:ext cx="11247120" cy="0"/>
          </a:xfrm>
          <a:prstGeom prst="line">
            <a:avLst/>
          </a:prstGeom>
          <a:ln w="19050">
            <a:solidFill>
              <a:srgbClr val="1A3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48640" y="1280160"/>
            <a:ext cx="1115568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A3A6B"/>
                </a:solidFill>
                <a:latin typeface="Helvetica"/>
              </a:rPr>
              <a:t>Q1   (Clinical)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If you were the CMO of a hospital deciding whether to deploy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an LLM for physician second-opinion in radiology, which finding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from this paper would worry you the MOST — the 16.76% FCT score,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the LLaMA-Chat collapse, or prompt brittleness?</a:t>
            </a:r>
          </a:p>
          <a:p>
            <a:pPr algn="l"/>
            <a:r>
              <a:rPr sz="2200" b="1" i="0">
                <a:solidFill>
                  <a:srgbClr val="CC4C54"/>
                </a:solidFill>
                <a:latin typeface="Helvetica"/>
              </a:rPr>
              <a:t>Why that one specifically?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3840480"/>
            <a:ext cx="11155680" cy="0"/>
          </a:xfrm>
          <a:prstGeom prst="line">
            <a:avLst/>
          </a:prstGeom>
          <a:ln w="19050">
            <a:solidFill>
              <a:srgbClr val="CCCC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4023360"/>
            <a:ext cx="11155680" cy="23774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 i="0">
                <a:solidFill>
                  <a:srgbClr val="1A3A6B"/>
                </a:solidFill>
                <a:latin typeface="Helvetica"/>
              </a:rPr>
              <a:t>Q2   (Technical)</a:t>
            </a:r>
          </a:p>
          <a:p>
            <a:pPr algn="l"/>
            <a:r>
              <a:rPr sz="1000" b="0" i="0">
                <a:solidFill>
                  <a:srgbClr val="000000"/>
                </a:solidFill>
                <a:latin typeface="Helvetica"/>
              </a:rPr>
              <a:t/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RLHF makes the chat model WORSE at hallucination control.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If you had a research budget — would you (a) fix RLHF with a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"honesty reward," (b) skip RLHF entirely for medical models,</a:t>
            </a:r>
          </a:p>
          <a:p>
            <a:pPr algn="l"/>
            <a:r>
              <a:rPr sz="2200" b="0" i="0">
                <a:solidFill>
                  <a:srgbClr val="000000"/>
                </a:solidFill>
                <a:latin typeface="Helvetica"/>
              </a:rPr>
              <a:t>or (c) do 2-stage training?</a:t>
            </a:r>
          </a:p>
          <a:p>
            <a:pPr algn="l"/>
            <a:r>
              <a:rPr sz="2200" b="1" i="0">
                <a:solidFill>
                  <a:srgbClr val="CC4C54"/>
                </a:solidFill>
                <a:latin typeface="Helvetica"/>
              </a:rPr>
              <a:t>Defend your choice.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